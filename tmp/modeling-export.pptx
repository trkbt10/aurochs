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officeDocument/2006/relationships/extended-properties" Target="docProps/app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/>
  <p:embeddedFontLst>
    <p:embeddedFont>
      <p:font typeface="Noto-Sans-CJK-JP-Bold"/>
      <p:regular r:embed="rId9"/>
    </p:embeddedFont>
    <p:embeddedFont>
      <p:font typeface="Noto-Sans-CJK-JP"/>
      <p:regular r:embed="rId10"/>
    </p:embeddedFont>
    <p:embeddedFont>
      <p:font typeface="Noto-Sans-CJK-JP-Oblique"/>
      <p:regular r:embed="rId11"/>
    </p:embeddedFont>
    <p:embeddedFont>
      <p:font typeface="Noto-Sans"/>
      <p:regular r:embed="rId12"/>
    </p:embeddedFont>
    <p:embeddedFont>
      <p:font typeface="Noto-Sans-Mono-CJK-JP"/>
      <p:regular r:embed="rId13"/>
    </p:embeddedFont>
    <p:embeddedFont>
      <p:font typeface="Noto-Sans-Symbols2"/>
      <p:regular r:embed="rId14"/>
    </p:embeddedFont>
  </p:embeddedFontLst>
  <p:defaultTextStyle>
    <a:defPPr>
      <a:defRPr sz="1800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txStyles>
    <p:titleStyle/>
    <p:body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476539" y="476539"/>
            <a:ext cx="124189" cy="124189"/>
          </a:xfrm>
          <a:custGeom>
            <a:avLst/>
            <a:gdLst/>
            <a:ahLst/>
            <a:cxnLst/>
            <a:pathLst>
              <a:path w="124189" h="124189" fill="norm" stroke="0" extrusionOk="0">
                <a:moveTo>
                  <a:pt x="0" y="0"/>
                </a:moveTo>
                <a:moveTo>
                  <a:pt x="76557" y="78984"/>
                </a:moveTo>
                <a:lnTo>
                  <a:pt x="76557" y="90782"/>
                </a:lnTo>
                <a:cubicBezTo>
                  <a:pt x="76557" y="91776"/>
                  <a:pt x="76188" y="92522"/>
                  <a:pt x="75326" y="93018"/>
                </a:cubicBezTo>
                <a:lnTo>
                  <a:pt x="51817" y="106679"/>
                </a:lnTo>
                <a:cubicBezTo>
                  <a:pt x="48617" y="108541"/>
                  <a:pt x="44801" y="109411"/>
                  <a:pt x="40863" y="109411"/>
                </a:cubicBezTo>
                <a:cubicBezTo>
                  <a:pt x="26094" y="109411"/>
                  <a:pt x="16739" y="97860"/>
                  <a:pt x="16739" y="85566"/>
                </a:cubicBezTo>
                <a:cubicBezTo>
                  <a:pt x="16739" y="84697"/>
                  <a:pt x="16739" y="83704"/>
                  <a:pt x="16863" y="82710"/>
                </a:cubicBezTo>
                <a:lnTo>
                  <a:pt x="41233" y="97116"/>
                </a:lnTo>
                <a:cubicBezTo>
                  <a:pt x="42709" y="97985"/>
                  <a:pt x="44187" y="97985"/>
                  <a:pt x="45664" y="97116"/>
                </a:cubicBezTo>
                <a:lnTo>
                  <a:pt x="76557" y="78984"/>
                </a:lnTo>
                <a:close/>
                <a:moveTo>
                  <a:pt x="21663" y="33034"/>
                </a:moveTo>
                <a:lnTo>
                  <a:pt x="21663" y="61226"/>
                </a:lnTo>
                <a:cubicBezTo>
                  <a:pt x="21663" y="62965"/>
                  <a:pt x="22402" y="64207"/>
                  <a:pt x="23878" y="65075"/>
                </a:cubicBezTo>
                <a:lnTo>
                  <a:pt x="54771" y="83207"/>
                </a:lnTo>
                <a:lnTo>
                  <a:pt x="44679" y="89044"/>
                </a:lnTo>
                <a:cubicBezTo>
                  <a:pt x="43818" y="89541"/>
                  <a:pt x="43079" y="89541"/>
                  <a:pt x="42218" y="89044"/>
                </a:cubicBezTo>
                <a:lnTo>
                  <a:pt x="18709" y="75384"/>
                </a:lnTo>
                <a:cubicBezTo>
                  <a:pt x="11939" y="71409"/>
                  <a:pt x="7385" y="62965"/>
                  <a:pt x="7385" y="54769"/>
                </a:cubicBezTo>
                <a:cubicBezTo>
                  <a:pt x="7385" y="45331"/>
                  <a:pt x="12923" y="36636"/>
                  <a:pt x="21663" y="33034"/>
                </a:cubicBezTo>
                <a:close/>
                <a:moveTo>
                  <a:pt x="83819" y="57872"/>
                </a:moveTo>
                <a:lnTo>
                  <a:pt x="93911" y="63833"/>
                </a:lnTo>
                <a:cubicBezTo>
                  <a:pt x="94773" y="64329"/>
                  <a:pt x="95142" y="65075"/>
                  <a:pt x="95142" y="66068"/>
                </a:cubicBezTo>
                <a:lnTo>
                  <a:pt x="95142" y="93390"/>
                </a:lnTo>
                <a:cubicBezTo>
                  <a:pt x="95142" y="106677"/>
                  <a:pt x="85049" y="116737"/>
                  <a:pt x="71387" y="116737"/>
                </a:cubicBezTo>
                <a:cubicBezTo>
                  <a:pt x="66217" y="116737"/>
                  <a:pt x="61418" y="114998"/>
                  <a:pt x="57355" y="111894"/>
                </a:cubicBezTo>
                <a:lnTo>
                  <a:pt x="81602" y="97736"/>
                </a:lnTo>
                <a:cubicBezTo>
                  <a:pt x="83079" y="96867"/>
                  <a:pt x="83817" y="95625"/>
                  <a:pt x="83817" y="93886"/>
                </a:cubicBezTo>
                <a:lnTo>
                  <a:pt x="83819" y="57872"/>
                </a:lnTo>
                <a:close/>
                <a:moveTo>
                  <a:pt x="62094" y="45205"/>
                </a:moveTo>
                <a:lnTo>
                  <a:pt x="76557" y="53401"/>
                </a:lnTo>
                <a:lnTo>
                  <a:pt x="76557" y="70787"/>
                </a:lnTo>
                <a:lnTo>
                  <a:pt x="62094" y="78983"/>
                </a:lnTo>
                <a:lnTo>
                  <a:pt x="47633" y="70787"/>
                </a:lnTo>
                <a:lnTo>
                  <a:pt x="47633" y="53401"/>
                </a:lnTo>
                <a:lnTo>
                  <a:pt x="62094" y="45205"/>
                </a:lnTo>
                <a:close/>
                <a:moveTo>
                  <a:pt x="52802" y="7451"/>
                </a:moveTo>
                <a:cubicBezTo>
                  <a:pt x="57972" y="7451"/>
                  <a:pt x="62771" y="9190"/>
                  <a:pt x="66834" y="12294"/>
                </a:cubicBezTo>
                <a:lnTo>
                  <a:pt x="42587" y="26452"/>
                </a:lnTo>
                <a:cubicBezTo>
                  <a:pt x="41110" y="27322"/>
                  <a:pt x="40372" y="28563"/>
                  <a:pt x="40372" y="30302"/>
                </a:cubicBezTo>
                <a:lnTo>
                  <a:pt x="40372" y="66318"/>
                </a:lnTo>
                <a:lnTo>
                  <a:pt x="30155" y="60357"/>
                </a:lnTo>
                <a:cubicBezTo>
                  <a:pt x="29294" y="59861"/>
                  <a:pt x="28925" y="59115"/>
                  <a:pt x="28925" y="58121"/>
                </a:cubicBezTo>
                <a:lnTo>
                  <a:pt x="28925" y="30800"/>
                </a:lnTo>
                <a:cubicBezTo>
                  <a:pt x="28925" y="17512"/>
                  <a:pt x="39141" y="7451"/>
                  <a:pt x="52802" y="7451"/>
                </a:cubicBezTo>
                <a:close/>
                <a:moveTo>
                  <a:pt x="81972" y="35145"/>
                </a:moveTo>
                <a:lnTo>
                  <a:pt x="105481" y="48806"/>
                </a:lnTo>
                <a:cubicBezTo>
                  <a:pt x="112251" y="52780"/>
                  <a:pt x="116805" y="61225"/>
                  <a:pt x="116805" y="69421"/>
                </a:cubicBezTo>
                <a:cubicBezTo>
                  <a:pt x="116805" y="78984"/>
                  <a:pt x="111143" y="87552"/>
                  <a:pt x="102405" y="91154"/>
                </a:cubicBezTo>
                <a:lnTo>
                  <a:pt x="102405" y="62839"/>
                </a:lnTo>
                <a:cubicBezTo>
                  <a:pt x="102405" y="61100"/>
                  <a:pt x="101666" y="59858"/>
                  <a:pt x="100189" y="58989"/>
                </a:cubicBezTo>
                <a:lnTo>
                  <a:pt x="69418" y="40982"/>
                </a:lnTo>
                <a:lnTo>
                  <a:pt x="79511" y="35145"/>
                </a:lnTo>
                <a:cubicBezTo>
                  <a:pt x="80372" y="34648"/>
                  <a:pt x="81111" y="34648"/>
                  <a:pt x="81972" y="35145"/>
                </a:cubicBezTo>
                <a:close/>
                <a:moveTo>
                  <a:pt x="83326" y="14778"/>
                </a:moveTo>
                <a:cubicBezTo>
                  <a:pt x="97234" y="14778"/>
                  <a:pt x="107450" y="25334"/>
                  <a:pt x="107450" y="38374"/>
                </a:cubicBezTo>
                <a:cubicBezTo>
                  <a:pt x="107450" y="39368"/>
                  <a:pt x="107327" y="40361"/>
                  <a:pt x="107204" y="41355"/>
                </a:cubicBezTo>
                <a:lnTo>
                  <a:pt x="82957" y="27197"/>
                </a:lnTo>
                <a:cubicBezTo>
                  <a:pt x="81481" y="26328"/>
                  <a:pt x="80003" y="26328"/>
                  <a:pt x="78526" y="27197"/>
                </a:cubicBezTo>
                <a:lnTo>
                  <a:pt x="47633" y="45204"/>
                </a:lnTo>
                <a:lnTo>
                  <a:pt x="47633" y="33406"/>
                </a:lnTo>
                <a:cubicBezTo>
                  <a:pt x="47633" y="32412"/>
                  <a:pt x="48003" y="31666"/>
                  <a:pt x="48864" y="31170"/>
                </a:cubicBezTo>
                <a:lnTo>
                  <a:pt x="72373" y="17510"/>
                </a:lnTo>
                <a:cubicBezTo>
                  <a:pt x="75573" y="15647"/>
                  <a:pt x="79387" y="14778"/>
                  <a:pt x="83326" y="14778"/>
                </a:cubicBezTo>
                <a:close/>
                <a:moveTo>
                  <a:pt x="52802" y="0"/>
                </a:moveTo>
                <a:cubicBezTo>
                  <a:pt x="37909" y="0"/>
                  <a:pt x="25479" y="10680"/>
                  <a:pt x="22647" y="24838"/>
                </a:cubicBezTo>
                <a:cubicBezTo>
                  <a:pt x="8862" y="28440"/>
                  <a:pt x="0" y="41479"/>
                  <a:pt x="0" y="54768"/>
                </a:cubicBezTo>
                <a:cubicBezTo>
                  <a:pt x="0" y="63461"/>
                  <a:pt x="3692" y="71906"/>
                  <a:pt x="10339" y="77991"/>
                </a:cubicBezTo>
                <a:cubicBezTo>
                  <a:pt x="9723" y="80599"/>
                  <a:pt x="9354" y="83207"/>
                  <a:pt x="9354" y="85814"/>
                </a:cubicBezTo>
                <a:cubicBezTo>
                  <a:pt x="9354" y="103573"/>
                  <a:pt x="23631" y="116862"/>
                  <a:pt x="40125" y="116862"/>
                </a:cubicBezTo>
                <a:cubicBezTo>
                  <a:pt x="43447" y="116862"/>
                  <a:pt x="46647" y="116366"/>
                  <a:pt x="49847" y="115248"/>
                </a:cubicBezTo>
                <a:cubicBezTo>
                  <a:pt x="55387" y="120712"/>
                  <a:pt x="63018" y="124189"/>
                  <a:pt x="71387" y="124189"/>
                </a:cubicBezTo>
                <a:cubicBezTo>
                  <a:pt x="86280" y="124189"/>
                  <a:pt x="98710" y="113510"/>
                  <a:pt x="101542" y="99351"/>
                </a:cubicBezTo>
                <a:cubicBezTo>
                  <a:pt x="115327" y="95749"/>
                  <a:pt x="124189" y="82710"/>
                  <a:pt x="124189" y="69422"/>
                </a:cubicBezTo>
                <a:cubicBezTo>
                  <a:pt x="124189" y="60728"/>
                  <a:pt x="120497" y="52284"/>
                  <a:pt x="113851" y="46199"/>
                </a:cubicBezTo>
                <a:cubicBezTo>
                  <a:pt x="114466" y="43590"/>
                  <a:pt x="114835" y="40982"/>
                  <a:pt x="114835" y="38375"/>
                </a:cubicBezTo>
                <a:cubicBezTo>
                  <a:pt x="114835" y="20616"/>
                  <a:pt x="100557" y="7327"/>
                  <a:pt x="84065" y="7327"/>
                </a:cubicBezTo>
                <a:cubicBezTo>
                  <a:pt x="80742" y="7327"/>
                  <a:pt x="77542" y="7823"/>
                  <a:pt x="74341" y="8942"/>
                </a:cubicBezTo>
                <a:cubicBezTo>
                  <a:pt x="68803" y="3477"/>
                  <a:pt x="61172" y="0"/>
                  <a:pt x="52802" y="0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2" name="Shape 2"/>
          <p:cNvSpPr/>
          <p:nvPr/>
        </p:nvSpPr>
        <p:spPr>
          <a:xfrm>
            <a:off x="476539" y="476539"/>
            <a:ext cx="252922" cy="99597"/>
          </a:xfrm>
          <a:custGeom>
            <a:avLst/>
            <a:gdLst/>
            <a:ahLst/>
            <a:cxnLst/>
            <a:pathLst>
              <a:path w="252922" h="99597" fill="norm" stroke="0" extrusionOk="0">
                <a:moveTo>
                  <a:pt x="0" y="0"/>
                </a:moveTo>
                <a:moveTo>
                  <a:pt x="218874" y="86206"/>
                </a:moveTo>
                <a:cubicBezTo>
                  <a:pt x="205587" y="86206"/>
                  <a:pt x="196348" y="76137"/>
                  <a:pt x="196348" y="62227"/>
                </a:cubicBezTo>
                <a:cubicBezTo>
                  <a:pt x="196348" y="48317"/>
                  <a:pt x="205587" y="38248"/>
                  <a:pt x="218666" y="38248"/>
                </a:cubicBezTo>
                <a:cubicBezTo>
                  <a:pt x="228216" y="38248"/>
                  <a:pt x="235586" y="43853"/>
                  <a:pt x="237766" y="50704"/>
                </a:cubicBezTo>
                <a:lnTo>
                  <a:pt x="252610" y="50704"/>
                </a:lnTo>
                <a:cubicBezTo>
                  <a:pt x="250016" y="35756"/>
                  <a:pt x="236002" y="24857"/>
                  <a:pt x="218459" y="24857"/>
                </a:cubicBezTo>
                <a:cubicBezTo>
                  <a:pt x="197386" y="24857"/>
                  <a:pt x="181919" y="41569"/>
                  <a:pt x="181919" y="62227"/>
                </a:cubicBezTo>
                <a:cubicBezTo>
                  <a:pt x="181919" y="82884"/>
                  <a:pt x="196971" y="99597"/>
                  <a:pt x="218562" y="99597"/>
                </a:cubicBezTo>
                <a:cubicBezTo>
                  <a:pt x="236417" y="99597"/>
                  <a:pt x="250119" y="88905"/>
                  <a:pt x="252922" y="73749"/>
                </a:cubicBezTo>
                <a:lnTo>
                  <a:pt x="238181" y="73749"/>
                </a:lnTo>
                <a:cubicBezTo>
                  <a:pt x="235690" y="80704"/>
                  <a:pt x="228424" y="86206"/>
                  <a:pt x="218874" y="86206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3" name="Shape 3"/>
          <p:cNvSpPr/>
          <p:nvPr/>
        </p:nvSpPr>
        <p:spPr>
          <a:xfrm>
            <a:off x="476539" y="476539"/>
            <a:ext cx="309084" cy="98559"/>
          </a:xfrm>
          <a:custGeom>
            <a:avLst/>
            <a:gdLst/>
            <a:ahLst/>
            <a:cxnLst/>
            <a:pathLst>
              <a:path w="309084" h="98559" fill="norm" stroke="0" extrusionOk="0">
                <a:moveTo>
                  <a:pt x="0" y="0"/>
                </a:moveTo>
                <a:moveTo>
                  <a:pt x="289361" y="45618"/>
                </a:moveTo>
                <a:cubicBezTo>
                  <a:pt x="282510" y="45618"/>
                  <a:pt x="277112" y="48628"/>
                  <a:pt x="274102" y="52781"/>
                </a:cubicBezTo>
                <a:lnTo>
                  <a:pt x="274102" y="25895"/>
                </a:lnTo>
                <a:lnTo>
                  <a:pt x="260607" y="25895"/>
                </a:lnTo>
                <a:lnTo>
                  <a:pt x="260607" y="98559"/>
                </a:lnTo>
                <a:lnTo>
                  <a:pt x="274102" y="98559"/>
                </a:lnTo>
                <a:lnTo>
                  <a:pt x="274102" y="70635"/>
                </a:lnTo>
                <a:cubicBezTo>
                  <a:pt x="274102" y="62538"/>
                  <a:pt x="278462" y="57244"/>
                  <a:pt x="285520" y="57244"/>
                </a:cubicBezTo>
                <a:cubicBezTo>
                  <a:pt x="291956" y="57244"/>
                  <a:pt x="295590" y="62227"/>
                  <a:pt x="295590" y="69182"/>
                </a:cubicBezTo>
                <a:lnTo>
                  <a:pt x="295590" y="98559"/>
                </a:lnTo>
                <a:lnTo>
                  <a:pt x="309084" y="98559"/>
                </a:lnTo>
                <a:lnTo>
                  <a:pt x="309084" y="67002"/>
                </a:lnTo>
                <a:cubicBezTo>
                  <a:pt x="309084" y="54130"/>
                  <a:pt x="301195" y="45618"/>
                  <a:pt x="289361" y="45618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4" name="Shape 4"/>
          <p:cNvSpPr/>
          <p:nvPr/>
        </p:nvSpPr>
        <p:spPr>
          <a:xfrm>
            <a:off x="476539" y="476539"/>
            <a:ext cx="365135" cy="99594"/>
          </a:xfrm>
          <a:custGeom>
            <a:avLst/>
            <a:gdLst/>
            <a:ahLst/>
            <a:cxnLst/>
            <a:pathLst>
              <a:path w="365135" h="99594" fill="norm" stroke="0" extrusionOk="0">
                <a:moveTo>
                  <a:pt x="0" y="0"/>
                </a:moveTo>
                <a:moveTo>
                  <a:pt x="364409" y="64716"/>
                </a:moveTo>
                <a:cubicBezTo>
                  <a:pt x="364409" y="52882"/>
                  <a:pt x="356312" y="45615"/>
                  <a:pt x="341364" y="45615"/>
                </a:cubicBezTo>
                <a:cubicBezTo>
                  <a:pt x="329115" y="45615"/>
                  <a:pt x="319357" y="52466"/>
                  <a:pt x="317696" y="62432"/>
                </a:cubicBezTo>
                <a:lnTo>
                  <a:pt x="331295" y="62432"/>
                </a:lnTo>
                <a:cubicBezTo>
                  <a:pt x="332333" y="59006"/>
                  <a:pt x="336070" y="56307"/>
                  <a:pt x="341260" y="56307"/>
                </a:cubicBezTo>
                <a:cubicBezTo>
                  <a:pt x="348007" y="56307"/>
                  <a:pt x="351225" y="59837"/>
                  <a:pt x="351225" y="65961"/>
                </a:cubicBezTo>
                <a:lnTo>
                  <a:pt x="351225" y="66273"/>
                </a:lnTo>
                <a:lnTo>
                  <a:pt x="338042" y="67415"/>
                </a:lnTo>
                <a:cubicBezTo>
                  <a:pt x="324236" y="68556"/>
                  <a:pt x="316555" y="74162"/>
                  <a:pt x="316555" y="84750"/>
                </a:cubicBezTo>
                <a:cubicBezTo>
                  <a:pt x="316555" y="93677"/>
                  <a:pt x="324236" y="99594"/>
                  <a:pt x="334928" y="99594"/>
                </a:cubicBezTo>
                <a:cubicBezTo>
                  <a:pt x="342091" y="99594"/>
                  <a:pt x="349046" y="96791"/>
                  <a:pt x="351952" y="92120"/>
                </a:cubicBezTo>
                <a:cubicBezTo>
                  <a:pt x="351952" y="94404"/>
                  <a:pt x="352160" y="96480"/>
                  <a:pt x="352575" y="98556"/>
                </a:cubicBezTo>
                <a:lnTo>
                  <a:pt x="365135" y="98556"/>
                </a:lnTo>
                <a:cubicBezTo>
                  <a:pt x="364617" y="95234"/>
                  <a:pt x="364409" y="91394"/>
                  <a:pt x="364409" y="86930"/>
                </a:cubicBezTo>
                <a:lnTo>
                  <a:pt x="364409" y="64716"/>
                </a:lnTo>
                <a:close/>
                <a:moveTo>
                  <a:pt x="351225" y="77069"/>
                </a:moveTo>
                <a:cubicBezTo>
                  <a:pt x="351225" y="83193"/>
                  <a:pt x="346658" y="89421"/>
                  <a:pt x="337420" y="89421"/>
                </a:cubicBezTo>
                <a:cubicBezTo>
                  <a:pt x="332437" y="89421"/>
                  <a:pt x="329738" y="87034"/>
                  <a:pt x="329738" y="83504"/>
                </a:cubicBezTo>
                <a:cubicBezTo>
                  <a:pt x="329738" y="79664"/>
                  <a:pt x="332333" y="77276"/>
                  <a:pt x="338146" y="76757"/>
                </a:cubicBezTo>
                <a:lnTo>
                  <a:pt x="351225" y="75615"/>
                </a:lnTo>
                <a:lnTo>
                  <a:pt x="351225" y="77069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5" name="Shape 5"/>
          <p:cNvSpPr/>
          <p:nvPr/>
        </p:nvSpPr>
        <p:spPr>
          <a:xfrm>
            <a:off x="476539" y="476539"/>
            <a:ext cx="406039" cy="98561"/>
          </a:xfrm>
          <a:custGeom>
            <a:avLst/>
            <a:gdLst/>
            <a:ahLst/>
            <a:cxnLst/>
            <a:pathLst>
              <a:path w="406039" h="98561" fill="norm" stroke="0" extrusionOk="0">
                <a:moveTo>
                  <a:pt x="0" y="0"/>
                </a:moveTo>
                <a:moveTo>
                  <a:pt x="392752" y="29842"/>
                </a:moveTo>
                <a:lnTo>
                  <a:pt x="379257" y="29842"/>
                </a:lnTo>
                <a:lnTo>
                  <a:pt x="379257" y="46659"/>
                </a:lnTo>
                <a:lnTo>
                  <a:pt x="368461" y="46659"/>
                </a:lnTo>
                <a:lnTo>
                  <a:pt x="368461" y="57558"/>
                </a:lnTo>
                <a:lnTo>
                  <a:pt x="379257" y="57558"/>
                </a:lnTo>
                <a:lnTo>
                  <a:pt x="379257" y="83094"/>
                </a:lnTo>
                <a:cubicBezTo>
                  <a:pt x="379257" y="92956"/>
                  <a:pt x="384343" y="98561"/>
                  <a:pt x="395243" y="98561"/>
                </a:cubicBezTo>
                <a:lnTo>
                  <a:pt x="406039" y="98561"/>
                </a:lnTo>
                <a:lnTo>
                  <a:pt x="406039" y="87350"/>
                </a:lnTo>
                <a:lnTo>
                  <a:pt x="399188" y="87350"/>
                </a:lnTo>
                <a:cubicBezTo>
                  <a:pt x="394620" y="87350"/>
                  <a:pt x="392752" y="85793"/>
                  <a:pt x="392752" y="81537"/>
                </a:cubicBezTo>
                <a:lnTo>
                  <a:pt x="392752" y="57558"/>
                </a:lnTo>
                <a:lnTo>
                  <a:pt x="406039" y="57558"/>
                </a:lnTo>
                <a:lnTo>
                  <a:pt x="406039" y="46659"/>
                </a:lnTo>
                <a:lnTo>
                  <a:pt x="392752" y="46659"/>
                </a:lnTo>
                <a:lnTo>
                  <a:pt x="392752" y="29842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6" name="Shape 6"/>
          <p:cNvSpPr/>
          <p:nvPr/>
        </p:nvSpPr>
        <p:spPr>
          <a:xfrm>
            <a:off x="476539" y="476539"/>
            <a:ext cx="482330" cy="99597"/>
          </a:xfrm>
          <a:custGeom>
            <a:avLst/>
            <a:gdLst/>
            <a:ahLst/>
            <a:cxnLst/>
            <a:pathLst>
              <a:path w="482330" h="99597" fill="norm" stroke="0" extrusionOk="0">
                <a:moveTo>
                  <a:pt x="0" y="0"/>
                </a:moveTo>
                <a:moveTo>
                  <a:pt x="473093" y="59735"/>
                </a:moveTo>
                <a:lnTo>
                  <a:pt x="449839" y="59735"/>
                </a:lnTo>
                <a:lnTo>
                  <a:pt x="449839" y="71362"/>
                </a:lnTo>
                <a:lnTo>
                  <a:pt x="469665" y="71362"/>
                </a:lnTo>
                <a:cubicBezTo>
                  <a:pt x="468318" y="81016"/>
                  <a:pt x="459287" y="86829"/>
                  <a:pt x="449216" y="86829"/>
                </a:cubicBezTo>
                <a:cubicBezTo>
                  <a:pt x="434683" y="86829"/>
                  <a:pt x="426172" y="76137"/>
                  <a:pt x="426172" y="62227"/>
                </a:cubicBezTo>
                <a:cubicBezTo>
                  <a:pt x="426172" y="48317"/>
                  <a:pt x="435722" y="38144"/>
                  <a:pt x="448801" y="38144"/>
                </a:cubicBezTo>
                <a:cubicBezTo>
                  <a:pt x="457728" y="38144"/>
                  <a:pt x="464996" y="43334"/>
                  <a:pt x="466866" y="49147"/>
                </a:cubicBezTo>
                <a:lnTo>
                  <a:pt x="481707" y="49147"/>
                </a:lnTo>
                <a:cubicBezTo>
                  <a:pt x="478903" y="34718"/>
                  <a:pt x="465619" y="24857"/>
                  <a:pt x="448594" y="24857"/>
                </a:cubicBezTo>
                <a:cubicBezTo>
                  <a:pt x="427625" y="24857"/>
                  <a:pt x="412054" y="41777"/>
                  <a:pt x="412054" y="62331"/>
                </a:cubicBezTo>
                <a:cubicBezTo>
                  <a:pt x="412054" y="82884"/>
                  <a:pt x="426379" y="99597"/>
                  <a:pt x="447763" y="99597"/>
                </a:cubicBezTo>
                <a:cubicBezTo>
                  <a:pt x="457521" y="99597"/>
                  <a:pt x="466343" y="95237"/>
                  <a:pt x="470289" y="89320"/>
                </a:cubicBezTo>
                <a:lnTo>
                  <a:pt x="470289" y="98559"/>
                </a:lnTo>
                <a:lnTo>
                  <a:pt x="482330" y="98559"/>
                </a:lnTo>
                <a:lnTo>
                  <a:pt x="482330" y="68974"/>
                </a:lnTo>
                <a:cubicBezTo>
                  <a:pt x="482330" y="63057"/>
                  <a:pt x="479008" y="59735"/>
                  <a:pt x="473093" y="59735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7" name="Shape 7"/>
          <p:cNvSpPr/>
          <p:nvPr/>
        </p:nvSpPr>
        <p:spPr>
          <a:xfrm>
            <a:off x="476539" y="476539"/>
            <a:ext cx="549806" cy="98559"/>
          </a:xfrm>
          <a:custGeom>
            <a:avLst/>
            <a:gdLst/>
            <a:ahLst/>
            <a:cxnLst/>
            <a:pathLst>
              <a:path w="549806" h="98559" fill="norm" stroke="0" extrusionOk="0">
                <a:moveTo>
                  <a:pt x="0" y="0"/>
                </a:moveTo>
                <a:moveTo>
                  <a:pt x="525205" y="25895"/>
                </a:moveTo>
                <a:lnTo>
                  <a:pt x="493025" y="25895"/>
                </a:lnTo>
                <a:lnTo>
                  <a:pt x="493025" y="98559"/>
                </a:lnTo>
                <a:lnTo>
                  <a:pt x="506726" y="98559"/>
                </a:lnTo>
                <a:lnTo>
                  <a:pt x="506726" y="71258"/>
                </a:lnTo>
                <a:lnTo>
                  <a:pt x="525306" y="71258"/>
                </a:lnTo>
                <a:cubicBezTo>
                  <a:pt x="539634" y="71258"/>
                  <a:pt x="549806" y="62850"/>
                  <a:pt x="549806" y="48732"/>
                </a:cubicBezTo>
                <a:cubicBezTo>
                  <a:pt x="549806" y="34614"/>
                  <a:pt x="539634" y="25895"/>
                  <a:pt x="525205" y="25895"/>
                </a:cubicBezTo>
                <a:close/>
                <a:moveTo>
                  <a:pt x="524270" y="59217"/>
                </a:moveTo>
                <a:lnTo>
                  <a:pt x="506726" y="59217"/>
                </a:lnTo>
                <a:lnTo>
                  <a:pt x="506726" y="38352"/>
                </a:lnTo>
                <a:lnTo>
                  <a:pt x="524270" y="38352"/>
                </a:lnTo>
                <a:cubicBezTo>
                  <a:pt x="531327" y="38352"/>
                  <a:pt x="535895" y="42400"/>
                  <a:pt x="535895" y="48732"/>
                </a:cubicBezTo>
                <a:cubicBezTo>
                  <a:pt x="535895" y="55064"/>
                  <a:pt x="531327" y="59217"/>
                  <a:pt x="524270" y="59217"/>
                </a:cubicBezTo>
                <a:close/>
              </a:path>
            </a:pathLst>
          </a:custGeom>
          <a:solidFill>
            <a:srgbClr val="000000"/>
          </a:solidFill>
        </p:spPr>
      </p:sp>
      <p:sp>
        <p:nvSpPr>
          <p:cNvPr id="8" name="Shape 8"/>
          <p:cNvSpPr/>
          <p:nvPr/>
        </p:nvSpPr>
        <p:spPr>
          <a:xfrm>
            <a:off x="476539" y="476539"/>
            <a:ext cx="616655" cy="98559"/>
          </a:xfrm>
          <a:custGeom>
            <a:avLst/>
            <a:gdLst/>
            <a:ahLst/>
            <a:cxnLst/>
            <a:pathLst>
              <a:path w="616655" h="98559" fill="norm" stroke="0" extrusionOk="0">
                <a:moveTo>
                  <a:pt x="0" y="0"/>
                </a:moveTo>
                <a:moveTo>
                  <a:pt x="553229" y="25895"/>
                </a:moveTo>
                <a:lnTo>
                  <a:pt x="553229" y="38352"/>
                </a:lnTo>
                <a:lnTo>
                  <a:pt x="578041" y="38352"/>
                </a:lnTo>
                <a:lnTo>
                  <a:pt x="578041" y="98559"/>
                </a:lnTo>
                <a:lnTo>
                  <a:pt x="591742" y="98559"/>
                </a:lnTo>
                <a:lnTo>
                  <a:pt x="591742" y="38352"/>
                </a:lnTo>
                <a:lnTo>
                  <a:pt x="616655" y="38352"/>
                </a:lnTo>
                <a:lnTo>
                  <a:pt x="616655" y="25895"/>
                </a:lnTo>
                <a:lnTo>
                  <a:pt x="553229" y="25895"/>
                </a:lnTo>
                <a:close/>
              </a:path>
            </a:pathLst>
          </a:custGeom>
          <a:solidFill>
            <a:srgbClr val="000000"/>
          </a:solidFill>
        </p:spPr>
      </p:sp>
      <p:sp>
        <p:nvSpPr>
          <p:cNvPr id="9" name="Shape 9"/>
          <p:cNvSpPr/>
          <p:nvPr/>
        </p:nvSpPr>
        <p:spPr>
          <a:xfrm>
            <a:off x="964134" y="166802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Shape 10"/>
          <p:cNvSpPr/>
          <p:nvPr/>
        </p:nvSpPr>
        <p:spPr>
          <a:xfrm>
            <a:off x="1064941" y="166802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1106336" y="200927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Shape 12"/>
          <p:cNvSpPr/>
          <p:nvPr/>
        </p:nvSpPr>
        <p:spPr>
          <a:xfrm>
            <a:off x="2691265" y="2093919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3" name="Shape 13"/>
          <p:cNvSpPr/>
          <p:nvPr/>
        </p:nvSpPr>
        <p:spPr>
          <a:xfrm>
            <a:off x="1504997" y="234352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Shape 14"/>
          <p:cNvSpPr/>
          <p:nvPr/>
        </p:nvSpPr>
        <p:spPr>
          <a:xfrm>
            <a:off x="1605803" y="234352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5" name="Shape 15"/>
          <p:cNvSpPr/>
          <p:nvPr/>
        </p:nvSpPr>
        <p:spPr>
          <a:xfrm>
            <a:off x="2960186" y="242817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6" name="Shape 16"/>
          <p:cNvSpPr/>
          <p:nvPr/>
        </p:nvSpPr>
        <p:spPr>
          <a:xfrm>
            <a:off x="1545193" y="259530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7" name="Shape 17"/>
          <p:cNvSpPr/>
          <p:nvPr/>
        </p:nvSpPr>
        <p:spPr>
          <a:xfrm>
            <a:off x="915735" y="2810660"/>
            <a:ext cx="1805348" cy="1420452"/>
          </a:xfrm>
          <a:custGeom>
            <a:avLst/>
            <a:gdLst/>
            <a:ahLst/>
            <a:cxnLst/>
            <a:pathLst>
              <a:path w="1805348" h="1420452" fill="norm" stroke="0" extrusionOk="0">
                <a:moveTo>
                  <a:pt x="18328" y="4582"/>
                </a:moveTo>
                <a:lnTo>
                  <a:pt x="1787020" y="4582"/>
                </a:lnTo>
                <a:cubicBezTo>
                  <a:pt x="1794580" y="4582"/>
                  <a:pt x="1800766" y="10768"/>
                  <a:pt x="1800766" y="18328"/>
                </a:cubicBezTo>
                <a:lnTo>
                  <a:pt x="1800766" y="1402123"/>
                </a:lnTo>
                <a:cubicBezTo>
                  <a:pt x="1800766" y="1409684"/>
                  <a:pt x="1794580" y="1415870"/>
                  <a:pt x="1787020" y="1415870"/>
                </a:cubicBezTo>
                <a:lnTo>
                  <a:pt x="18328" y="1415870"/>
                </a:lnTo>
                <a:cubicBezTo>
                  <a:pt x="10768" y="1415870"/>
                  <a:pt x="4582" y="1409684"/>
                  <a:pt x="4582" y="1402123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1787020" y="0"/>
                </a:lnTo>
                <a:cubicBezTo>
                  <a:pt x="1797101" y="0"/>
                  <a:pt x="1805348" y="8248"/>
                  <a:pt x="1805348" y="18328"/>
                </a:cubicBezTo>
                <a:lnTo>
                  <a:pt x="1805348" y="1402123"/>
                </a:lnTo>
                <a:cubicBezTo>
                  <a:pt x="1805348" y="1412204"/>
                  <a:pt x="1797101" y="1420452"/>
                  <a:pt x="1787020" y="1420452"/>
                </a:cubicBezTo>
                <a:lnTo>
                  <a:pt x="18328" y="1420452"/>
                </a:lnTo>
                <a:cubicBezTo>
                  <a:pt x="8248" y="1420452"/>
                  <a:pt x="0" y="1412204"/>
                  <a:pt x="0" y="1402123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18" name="TextBox 18"/>
          <p:cNvSpPr txBox="1"/>
          <p:nvPr/>
        </p:nvSpPr>
        <p:spPr>
          <a:xfrm>
            <a:off x="476539" y="697212"/>
            <a:ext cx="2606250" cy="324193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WebA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udio Synthesis o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f Jap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anese Cic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ada Calls: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Ac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ous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tic F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a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tur</a:t>
            </a:r>
            <a:r>
              <a:rPr sz="1800" b="1" i="0" u="none">
                <a:solidFill>
                  <a:srgbClr val="000000"/>
                </a:solidFill>
                <a:latin typeface="Noto-Sans-CJK-JP-Bold"/>
              </a:rPr>
              <a:t>es and Modeling</a:t>
            </a: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476539" y="1100090"/>
            <a:ext cx="2517599" cy="24314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ous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tic Char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eris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tics o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f Major Cic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ada Calls (Minminz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emi,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suk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ut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suk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uboushi, K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umaz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emi)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476539" y="1415265"/>
            <a:ext cx="2818641" cy="327052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Jap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emark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loud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kilohertz),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uniquely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990618" y="1673559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91424" y="1673559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147418" y="1662698"/>
            <a:ext cx="202417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 Belo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 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summariz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the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 of thr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ominent species: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628809" y="1838990"/>
            <a:ext cx="2631829" cy="91525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Minminz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emi (</a:t>
            </a:r>
            <a:r>
              <a:rPr sz="900" b="1" i="0" u="none">
                <a:solidFill>
                  <a:srgbClr val="000000"/>
                </a:solidFill>
                <a:latin typeface="Noto-Sans-CJK-JP-Bold"/>
                <a:ea typeface="Noto-Sans-CJK-JP-Bold"/>
              </a:rPr>
              <a:t>ミンミンゼミ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–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is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amous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“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Meeen…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min-min-min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song is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ermit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 and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in the mid-high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~3–6 kHz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a series of short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er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“min-min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pulses with a brief 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 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een them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a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 amplitude 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tion.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ams 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 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primarily in the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w-kHz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(some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harmonics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 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 10 kHz), and a 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 on-off 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esponding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 long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/short 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which may be due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ominent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ands (f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ormant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aks) in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~4–6 kHz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gion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analysis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Sound One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the dominant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3–6 kHz, a bit 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 in 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 than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ontinuous buzz of Abur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mak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 it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eel less 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essant than species with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ontinuous trills. 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132820" y="201480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188814" y="2003945"/>
            <a:ext cx="2063120" cy="16426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Each phr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 typic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with a sus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ained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“Meeen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(a long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 pulse)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This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in</a:t>
            </a: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717748" y="209945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531480" y="2349061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632287" y="2349061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3</a:t>
            </a: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1627671" y="2338200"/>
            <a:ext cx="1595011" cy="33139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.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Minminz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emi’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sounds slightly “nasal” or 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endParaRPr/>
          </a:p>
          <a:p>
            <a:pPr algn="l">
              <a:lnSpc>
                <a:spcPct val="30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An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ermit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 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(p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auses aft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 the “Meeen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”)</a:t>
            </a: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2986669" y="243371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4</a:t>
            </a: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1571677" y="260083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1</a:t>
            </a:r>
            <a:endParaRPr/>
          </a:p>
        </p:txBody>
      </p:sp>
      <p:pic>
        <p:nvPicPr>
          <p:cNvPr id="34" name="Picture 34"/>
          <p:cNvPicPr/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938645" y="2833570"/>
            <a:ext cx="1759527" cy="1374631"/>
          </a:xfrm>
          <a:prstGeom prst="rect">
            <a:avLst/>
          </a:prstGeom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2086866" y="61159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" name="Shape 2"/>
          <p:cNvSpPr/>
          <p:nvPr/>
        </p:nvSpPr>
        <p:spPr>
          <a:xfrm>
            <a:off x="2187672" y="61159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3"/>
          <p:cNvSpPr/>
          <p:nvPr/>
        </p:nvSpPr>
        <p:spPr>
          <a:xfrm>
            <a:off x="805228" y="103531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Shape 4"/>
          <p:cNvSpPr/>
          <p:nvPr/>
        </p:nvSpPr>
        <p:spPr>
          <a:xfrm>
            <a:off x="2859849" y="111996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5" name="Shape 5"/>
          <p:cNvSpPr/>
          <p:nvPr/>
        </p:nvSpPr>
        <p:spPr>
          <a:xfrm>
            <a:off x="1839387" y="128709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2061973" y="145422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2844139" y="170382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2099824" y="195343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Shape 9"/>
          <p:cNvSpPr/>
          <p:nvPr/>
        </p:nvSpPr>
        <p:spPr>
          <a:xfrm>
            <a:off x="722002" y="2168789"/>
            <a:ext cx="2192814" cy="799415"/>
          </a:xfrm>
          <a:custGeom>
            <a:avLst/>
            <a:gdLst/>
            <a:ahLst/>
            <a:cxnLst/>
            <a:pathLst>
              <a:path w="2192814" h="799415" fill="norm" stroke="0" extrusionOk="0">
                <a:moveTo>
                  <a:pt x="18328" y="4582"/>
                </a:moveTo>
                <a:lnTo>
                  <a:pt x="2174485" y="4582"/>
                </a:lnTo>
                <a:cubicBezTo>
                  <a:pt x="2182046" y="4582"/>
                  <a:pt x="2188232" y="10768"/>
                  <a:pt x="2188232" y="18328"/>
                </a:cubicBezTo>
                <a:lnTo>
                  <a:pt x="2188232" y="781087"/>
                </a:lnTo>
                <a:cubicBezTo>
                  <a:pt x="2188232" y="788648"/>
                  <a:pt x="2182046" y="794833"/>
                  <a:pt x="2174485" y="794833"/>
                </a:cubicBezTo>
                <a:lnTo>
                  <a:pt x="18328" y="794833"/>
                </a:lnTo>
                <a:cubicBezTo>
                  <a:pt x="10768" y="794833"/>
                  <a:pt x="4582" y="788648"/>
                  <a:pt x="4582" y="781087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2174485" y="0"/>
                </a:lnTo>
                <a:cubicBezTo>
                  <a:pt x="2184566" y="0"/>
                  <a:pt x="2192814" y="8248"/>
                  <a:pt x="2192814" y="18328"/>
                </a:cubicBezTo>
                <a:lnTo>
                  <a:pt x="2192814" y="781087"/>
                </a:lnTo>
                <a:cubicBezTo>
                  <a:pt x="2192814" y="791168"/>
                  <a:pt x="2184566" y="799415"/>
                  <a:pt x="2174485" y="799415"/>
                </a:cubicBezTo>
                <a:lnTo>
                  <a:pt x="18328" y="799415"/>
                </a:lnTo>
                <a:cubicBezTo>
                  <a:pt x="8248" y="799415"/>
                  <a:pt x="0" y="791168"/>
                  <a:pt x="0" y="781087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10" name="Shape 10"/>
          <p:cNvSpPr/>
          <p:nvPr/>
        </p:nvSpPr>
        <p:spPr>
          <a:xfrm>
            <a:off x="946759" y="327737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1951179" y="361862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Shape 12"/>
          <p:cNvSpPr/>
          <p:nvPr/>
        </p:nvSpPr>
        <p:spPr>
          <a:xfrm>
            <a:off x="1305720" y="378575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3" name="Shape 13"/>
          <p:cNvSpPr/>
          <p:nvPr/>
        </p:nvSpPr>
        <p:spPr>
          <a:xfrm>
            <a:off x="678151" y="411783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Shape 14"/>
          <p:cNvSpPr/>
          <p:nvPr/>
        </p:nvSpPr>
        <p:spPr>
          <a:xfrm>
            <a:off x="1513575" y="428496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5" name="Shape 15"/>
          <p:cNvSpPr/>
          <p:nvPr/>
        </p:nvSpPr>
        <p:spPr>
          <a:xfrm>
            <a:off x="1596661" y="4452089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6" name="TextBox 16"/>
          <p:cNvSpPr txBox="1"/>
          <p:nvPr/>
        </p:nvSpPr>
        <p:spPr>
          <a:xfrm>
            <a:off x="476539" y="441311"/>
            <a:ext cx="2818381" cy="244574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Spec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ogr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am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of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Minminz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emi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all.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Time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ogr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esses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left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right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,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equenc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(Hz)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v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ertic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axis.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Bright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b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ands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ound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4–6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kHz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indic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main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ener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.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epe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v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ertic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tria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tions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pulsed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“Meeen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… min-min-min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 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ern (loud se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gment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 sep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ed b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 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auses)</a:t>
            </a: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2113349" y="61712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1" u="none">
                <a:solidFill>
                  <a:srgbClr val="333333"/>
                </a:solidFill>
                <a:latin typeface="Noto-Sans-CJK-JP-Oblique"/>
              </a:rPr>
              <a:t>1</a:t>
            </a: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2214155" y="61712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1" u="none">
                <a:solidFill>
                  <a:srgbClr val="333333"/>
                </a:solidFill>
                <a:latin typeface="Noto-Sans-CJK-JP-Oblique"/>
              </a:rPr>
              <a:t>3</a:t>
            </a: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2270150" y="606267"/>
            <a:ext cx="16050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.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28809" y="782558"/>
            <a:ext cx="2653506" cy="124516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0000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suk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ut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suk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uboushi (</a:t>
            </a:r>
            <a:r>
              <a:rPr sz="900" b="1" i="0" u="none">
                <a:solidFill>
                  <a:srgbClr val="000000"/>
                </a:solidFill>
                <a:latin typeface="Noto-Sans-CJK-JP-Bold"/>
                <a:ea typeface="Noto-Sans-CJK-JP-Bold"/>
              </a:rPr>
              <a:t>ツクツクボウシ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– This 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-summer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 a 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e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tw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 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anscribed as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“O-shī… 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u-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u-bōshi!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gins with an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intr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oduc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endParaRPr/>
          </a:p>
          <a:p>
            <a:pPr algn="l">
              <a:lnSpc>
                <a:spcPct val="153949"/>
              </a:lnSpc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an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tionally wide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sp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 – one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analysis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signific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ant 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om about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1.7 kHz up 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 15 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during a single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dominant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is 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~6.3 kHz on 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 but the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empor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 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eeps up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 in 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 as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esses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ains 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(ar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a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ouple kHz) and the 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 portion adds 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high-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(w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ell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ultr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asonic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e)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om the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u-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u…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high-pit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ched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...bōshi!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The 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ansition 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 is so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onounc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oung people with 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ood high-fr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aring may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of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older lis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(sinc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ends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~15 kHz)</a:t>
            </a:r>
            <a:endParaRPr/>
          </a:p>
          <a:p>
            <a:pPr algn="l">
              <a:lnSpc>
                <a:spcPct val="30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time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is also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; unlik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adas,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s song has a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mid-c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all</a:t>
            </a:r>
            <a:endParaRPr/>
          </a:p>
          <a:p>
            <a:pPr algn="l"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espond diff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ently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fir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vs. 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 of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59823" y="947514"/>
            <a:ext cx="2557987" cy="16209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phr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ooshīn,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u…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”) and then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u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ō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shi”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finale, during which the 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 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ably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rises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831712" y="1040853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5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886333" y="112550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921865" y="1114641"/>
            <a:ext cx="1202080" cy="413873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The</a:t>
            </a:r>
            <a:endParaRPr/>
          </a:p>
          <a:p>
            <a:pPr algn="l">
              <a:lnSpc>
                <a:spcPct val="303949"/>
              </a:lnSpc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In 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 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ds, the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arly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 of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This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esponds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tual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865871" y="1292629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2088456" y="1459757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870622" y="170936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926616" y="1698501"/>
            <a:ext cx="130595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 The</a:t>
            </a: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659823" y="1865628"/>
            <a:ext cx="2542338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modula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(a “k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”) which is biologic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 signific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ant –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xperiment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 male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126308" y="1958967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5</a:t>
            </a: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2182302" y="1948106"/>
            <a:ext cx="86134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 Ov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all,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all is rhythmic and </a:t>
            </a: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659823" y="2032756"/>
            <a:ext cx="2046708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“mys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erious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arting 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 and ending in an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ense, high-pit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ched 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476539" y="3024619"/>
            <a:ext cx="2818165" cy="327052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Spec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ogr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am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of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uboushi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all.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equenc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ont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ent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ans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om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~1–2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kHz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(gr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een-y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ello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gions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be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ginning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)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~15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kHz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(bright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b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and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end).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up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shift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in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dominant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equenc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(fr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om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~1.7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kHz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arly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~6–15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kHz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la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er)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is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cle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arly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visible,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orr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esponding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all’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pit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ch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rising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in the sec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ond half</a:t>
            </a: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973243" y="3282914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1" u="none">
                <a:solidFill>
                  <a:srgbClr val="333333"/>
                </a:solidFill>
                <a:latin typeface="Noto-Sans-CJK-JP-Oblique"/>
              </a:rPr>
              <a:t>2</a:t>
            </a: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029237" y="3272053"/>
            <a:ext cx="2112736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. Such br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ad fr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equenc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 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v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 and changing pit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ch ar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 unique 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 this species.</a:t>
            </a: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628809" y="3448344"/>
            <a:ext cx="2648721" cy="116268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K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umaz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emi (</a:t>
            </a:r>
            <a:r>
              <a:rPr sz="900" b="1" i="0" u="none">
                <a:solidFill>
                  <a:srgbClr val="000000"/>
                </a:solidFill>
                <a:latin typeface="Noto-Sans-CJK-JP-Bold"/>
                <a:ea typeface="Noto-Sans-CJK-JP-Bold"/>
              </a:rPr>
              <a:t>クマゼミ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– The 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(oft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alled the “be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”) has an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emely loud,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pier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cing buzz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A…SHA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A…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is char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y a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ontinuous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unmodula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abo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species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ong 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in the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of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oughly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2 kHz up 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 10 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which is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tly the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wher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human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aring is mos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sensitiv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or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uboushi, the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sound has less ob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vious rhythmic 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or 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e; it’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of a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ady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shaaa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may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with short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auses. 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onfirm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is 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adly spr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 acr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oss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 (ne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arly unif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orm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 ~2–10 kHz)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without the 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 vs. high-b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artition seen in some 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adas. Ther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may be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entle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aks (one in the mid (~4–6 kHz) and ano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 in upper (~8–10 kHz)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but 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it’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a wideb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 “hiss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or pulses 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a high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tition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(do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ens of pulses per 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ond), which fuse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a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ontinuous buzzing sensa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dr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rise or dynamic 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 of Abur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 or 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emi; 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 it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alls in a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ady</a:t>
            </a: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977663" y="3624161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1388198" y="3613300"/>
            <a:ext cx="1841601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In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erms of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trum,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This is why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chorus sounds so 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erpo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ering. Unlik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</a:t>
            </a: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332204" y="379128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7</a:t>
            </a: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704635" y="4123371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7</a:t>
            </a: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1540058" y="429049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8</a:t>
            </a: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1596053" y="4279638"/>
            <a:ext cx="1628170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empor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 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a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cle: the 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One obser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 lacks the</a:t>
            </a: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1623145" y="445762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659823" y="4613892"/>
            <a:ext cx="2388978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rhythm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 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anscribed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shuw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a-shuw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a-shuw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a…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)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while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emely loud, is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ther </a:t>
            </a:r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2</a:t>
            </a:r>
            <a:endParaRPr/>
          </a:p>
        </p:txBody>
      </p:sp>
      <p:pic>
        <p:nvPicPr>
          <p:cNvPr id="46" name="Picture 46"/>
          <p:cNvPicPr/>
          <p:nvPr/>
        </p:nvPicPr>
        <p:blipFill>
          <a:blip r:embed="rId2"/>
          <a:srcRect l="0" t="0" r="0" b="0"/>
          <a:stretch>
            <a:fillRect/>
          </a:stretch>
        </p:blipFill>
        <p:spPr>
          <a:xfrm>
            <a:off x="744913" y="2191700"/>
            <a:ext cx="2146993" cy="753594"/>
          </a:xfrm>
          <a:prstGeom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890260" y="44663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" name="Shape 2"/>
          <p:cNvSpPr/>
          <p:nvPr/>
        </p:nvSpPr>
        <p:spPr>
          <a:xfrm>
            <a:off x="678151" y="61376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3"/>
          <p:cNvSpPr/>
          <p:nvPr/>
        </p:nvSpPr>
        <p:spPr>
          <a:xfrm>
            <a:off x="2265915" y="146307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Shape 4"/>
          <p:cNvSpPr/>
          <p:nvPr/>
        </p:nvSpPr>
        <p:spPr>
          <a:xfrm>
            <a:off x="2131112" y="163020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5" name="Shape 5"/>
          <p:cNvSpPr/>
          <p:nvPr/>
        </p:nvSpPr>
        <p:spPr>
          <a:xfrm>
            <a:off x="2231918" y="163020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1667944" y="187980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1768750" y="187980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1763610" y="212941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Shape 9"/>
          <p:cNvSpPr/>
          <p:nvPr/>
        </p:nvSpPr>
        <p:spPr>
          <a:xfrm>
            <a:off x="1258634" y="237901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Shape 10"/>
          <p:cNvSpPr/>
          <p:nvPr/>
        </p:nvSpPr>
        <p:spPr>
          <a:xfrm>
            <a:off x="1359440" y="237901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2609338" y="246366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Shape 12"/>
          <p:cNvSpPr/>
          <p:nvPr/>
        </p:nvSpPr>
        <p:spPr>
          <a:xfrm>
            <a:off x="1511168" y="305234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3" name="Shape 13"/>
          <p:cNvSpPr/>
          <p:nvPr/>
        </p:nvSpPr>
        <p:spPr>
          <a:xfrm>
            <a:off x="1927467" y="321947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Shape 14"/>
          <p:cNvSpPr/>
          <p:nvPr/>
        </p:nvSpPr>
        <p:spPr>
          <a:xfrm>
            <a:off x="2639117" y="338660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5" name="Shape 15"/>
          <p:cNvSpPr/>
          <p:nvPr/>
        </p:nvSpPr>
        <p:spPr>
          <a:xfrm>
            <a:off x="2917780" y="355372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6" name="Shape 16"/>
          <p:cNvSpPr/>
          <p:nvPr/>
        </p:nvSpPr>
        <p:spPr>
          <a:xfrm>
            <a:off x="2883496" y="388581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7" name="Shape 17"/>
          <p:cNvSpPr/>
          <p:nvPr/>
        </p:nvSpPr>
        <p:spPr>
          <a:xfrm>
            <a:off x="2984302" y="388581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8" name="Shape 18"/>
          <p:cNvSpPr/>
          <p:nvPr/>
        </p:nvSpPr>
        <p:spPr>
          <a:xfrm>
            <a:off x="1376288" y="430037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9" name="TextBox 19"/>
          <p:cNvSpPr txBox="1"/>
          <p:nvPr/>
        </p:nvSpPr>
        <p:spPr>
          <a:xfrm>
            <a:off x="1916744" y="45217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659823" y="441311"/>
            <a:ext cx="127312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mono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onous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and “ma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t” in 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deliv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59823" y="441311"/>
            <a:ext cx="2520168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 The short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 and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elentless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tition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ontribut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impr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ession of oppr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summer 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this 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 chorus 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704635" y="619299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476539" y="762260"/>
            <a:ext cx="2270091" cy="11942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Prior R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ese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ar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ch on Cic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ada Call Synthesis and Modeling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476539" y="953718"/>
            <a:ext cx="2817978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tudied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under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synthesiz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76539" y="1036196"/>
            <a:ext cx="2818538" cy="244574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applic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e: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physic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(bio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ous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tic)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models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signal-b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ased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synthesis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eplic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 the sound’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erns.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tudies and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echniques include: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628809" y="1375271"/>
            <a:ext cx="2658685" cy="324900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Physic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Modeling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Cic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ada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Mechanism: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Smyth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(2001)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sound-pr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mechanism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primar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mechanism)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sec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ondar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implement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dual-r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esenting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tymb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esenting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Helmholtz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-lik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abdominal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avity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series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mimicking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The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ymb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aline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d)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included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wnw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shift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obser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-buckling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(spring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tiffness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tuning,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c.)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or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f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aithful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synthesis.</a:t>
            </a:r>
            <a:endParaRPr/>
          </a:p>
          <a:p>
            <a:pPr algn="l">
              <a:lnSpc>
                <a:spcPct val="300000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Signal-Based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edur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Synthesis: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engineer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oposed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dense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cloud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efficiently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xima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obser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ominent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about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5–6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7–8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~6.5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modes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xplicitly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~5–8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kHz)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“killing”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oid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muddying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unw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opria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rhythmic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truc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tur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imposed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amplitude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North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Americ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about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5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in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0.2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(i.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~25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tition)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-clicks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~1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inspir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25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“buzz”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noise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-b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ased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x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cit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individually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ouple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dual-pe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</a:t>
            </a:r>
            <a:endParaRPr/>
          </a:p>
          <a:p>
            <a:pPr algn="l">
              <a:lnSpc>
                <a:spcPct val="30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tudy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sumur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(2022)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Jap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similarly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physic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modeling</a:t>
            </a:r>
            <a:endParaRPr/>
          </a:p>
          <a:p>
            <a:pPr algn="l"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built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Jap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2292398" y="146861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9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348393" y="1457749"/>
            <a:ext cx="852589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identified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2147422" y="163573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10</a:t>
            </a: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248228" y="163573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659823" y="1624876"/>
            <a:ext cx="152541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orking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andem</a:t>
            </a: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1684254" y="188534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10</a:t>
            </a: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1785060" y="188534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1851228" y="1874482"/>
            <a:ext cx="1374355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sequentially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multiple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1779920" y="2134948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13</a:t>
            </a: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846088" y="2124087"/>
            <a:ext cx="138010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physic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quit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ailed: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274944" y="238455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14</a:t>
            </a: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1375751" y="238455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1441918" y="2373692"/>
            <a:ext cx="1804223" cy="16426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clarified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physic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aluable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insight</a:t>
            </a: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2625649" y="246920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15</a:t>
            </a: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659823" y="2882066"/>
            <a:ext cx="262561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edur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solutions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“Designing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Sound”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(2010)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1527478" y="305788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659823" y="3047022"/>
            <a:ext cx="874912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1943777" y="3225010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17</a:t>
            </a:r>
            <a:endParaRPr/>
          </a:p>
        </p:txBody>
      </p:sp>
      <p:sp>
        <p:nvSpPr>
          <p:cNvPr id="45" name="TextBox 45"/>
          <p:cNvSpPr txBox="1"/>
          <p:nvPr/>
        </p:nvSpPr>
        <p:spPr>
          <a:xfrm>
            <a:off x="2009945" y="3214149"/>
            <a:ext cx="1208094" cy="413873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endParaRPr/>
          </a:p>
          <a:p>
            <a:pPr algn="l">
              <a:lnSpc>
                <a:spcPct val="303949"/>
              </a:lnSpc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sugg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2655428" y="339213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18</a:t>
            </a:r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2934090" y="3559265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18</a:t>
            </a: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2899806" y="3891348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19</a:t>
            </a:r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3000612" y="3891348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20</a:t>
            </a:r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3066780" y="3880487"/>
            <a:ext cx="98163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1392598" y="430590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1458766" y="4295048"/>
            <a:ext cx="178659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CPU-friendly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onvincingly</a:t>
            </a:r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659823" y="4462175"/>
            <a:ext cx="262628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synthesis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sumur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1795822" y="44663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" name="Shape 2"/>
          <p:cNvSpPr/>
          <p:nvPr/>
        </p:nvSpPr>
        <p:spPr>
          <a:xfrm>
            <a:off x="1896629" y="44663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3"/>
          <p:cNvSpPr/>
          <p:nvPr/>
        </p:nvSpPr>
        <p:spPr>
          <a:xfrm>
            <a:off x="1733161" y="61376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Shape 4"/>
          <p:cNvSpPr/>
          <p:nvPr/>
        </p:nvSpPr>
        <p:spPr>
          <a:xfrm>
            <a:off x="1833967" y="61376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5" name="Shape 5"/>
          <p:cNvSpPr/>
          <p:nvPr/>
        </p:nvSpPr>
        <p:spPr>
          <a:xfrm>
            <a:off x="1898225" y="1683289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2421653" y="185041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2270329" y="201754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2704618" y="235879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Shape 9"/>
          <p:cNvSpPr/>
          <p:nvPr/>
        </p:nvSpPr>
        <p:spPr>
          <a:xfrm>
            <a:off x="2805424" y="235879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Shape 10"/>
          <p:cNvSpPr/>
          <p:nvPr/>
        </p:nvSpPr>
        <p:spPr>
          <a:xfrm>
            <a:off x="2049194" y="252591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1353885" y="277552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Shape 12"/>
          <p:cNvSpPr/>
          <p:nvPr/>
        </p:nvSpPr>
        <p:spPr>
          <a:xfrm>
            <a:off x="2284703" y="294265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3" name="Shape 13"/>
          <p:cNvSpPr/>
          <p:nvPr/>
        </p:nvSpPr>
        <p:spPr>
          <a:xfrm>
            <a:off x="2385510" y="294265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Shape 14"/>
          <p:cNvSpPr/>
          <p:nvPr/>
        </p:nvSpPr>
        <p:spPr>
          <a:xfrm>
            <a:off x="2379102" y="344885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5" name="Shape 15"/>
          <p:cNvSpPr/>
          <p:nvPr/>
        </p:nvSpPr>
        <p:spPr>
          <a:xfrm>
            <a:off x="1634407" y="361598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6" name="Shape 16"/>
          <p:cNvSpPr/>
          <p:nvPr/>
        </p:nvSpPr>
        <p:spPr>
          <a:xfrm>
            <a:off x="494867" y="453457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7" name="TextBox 17"/>
          <p:cNvSpPr txBox="1"/>
          <p:nvPr/>
        </p:nvSpPr>
        <p:spPr>
          <a:xfrm>
            <a:off x="1812133" y="45217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21</a:t>
            </a: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912939" y="45217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22</a:t>
            </a: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659823" y="441311"/>
            <a:ext cx="2625842" cy="496351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ashi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ada)</a:t>
            </a:r>
            <a:endParaRPr/>
          </a:p>
          <a:p>
            <a:pPr algn="l">
              <a:lnSpc>
                <a:spcPct val="153949"/>
              </a:lnSpc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olution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hum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“Meeen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“min-min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3–6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demons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ombining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vibr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models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periodic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916445" y="441311"/>
            <a:ext cx="1306204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included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scilla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659823" y="525961"/>
            <a:ext cx="2625472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noise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plus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749471" y="61929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21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850277" y="61929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23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659823" y="940521"/>
            <a:ext cx="2261342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edur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 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 dense clicks) is an 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in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sound synthesis.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476539" y="1115357"/>
            <a:ext cx="2667940" cy="24314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Cic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ada Sound Pr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oduc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tion Mechanism: Biolog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y and Engineering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Insight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s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476539" y="1430531"/>
            <a:ext cx="2818299" cy="317833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Under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ho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w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adas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tually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oduc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clues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specializ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tymb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orrug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buckles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inw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pops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elax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loud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click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abdomen)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ession,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yielding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“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chirp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pulse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snap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muscles in a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ady rhythm, these clicks blur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the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ontinuous buzz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 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ogniz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endParaRPr/>
          </a:p>
          <a:p>
            <a:pPr algn="l">
              <a:lnSpc>
                <a:spcPct val="153949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full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air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apid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driv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tuned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about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self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einf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impulses),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amplifies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those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ringing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oupling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tw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close,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yielding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efficient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ansf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pur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 than a click alone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ould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endParaRPr/>
          </a:p>
          <a:p>
            <a:pPr algn="l">
              <a:lnSpc>
                <a:spcPct val="153949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Additionally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tymp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drum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(which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living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double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output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impedanc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efficiently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big,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opening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making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dinarily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loud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amplifier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boos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tunes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(tymp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apertur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ojec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xplains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achie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els 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 100 dB SPL or 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close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– among the loudes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of all 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s.</a:t>
            </a:r>
            <a:endParaRPr/>
          </a:p>
          <a:p>
            <a:pPr algn="l">
              <a:lnSpc>
                <a:spcPct val="150000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summar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engineering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elec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omechanic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ansduc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ansduc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ridg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drum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skin)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amplifier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avity).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design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tiffness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eome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ribs,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c.,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unique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dominant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smaller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Niini-z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(8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mechanism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muscular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oupled</a:t>
            </a: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914535" y="1688826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24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980702" y="1677965"/>
            <a:ext cx="1238863" cy="413873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buckle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happens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emely</a:t>
            </a:r>
            <a:endParaRPr/>
          </a:p>
          <a:p>
            <a:pPr algn="l">
              <a:lnSpc>
                <a:spcPct val="303949"/>
              </a:lnSpc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series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2437964" y="185595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14</a:t>
            </a: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286639" y="2023080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24</a:t>
            </a: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2720928" y="2364328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2821735" y="2364328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33" name="TextBox 33"/>
          <p:cNvSpPr txBox="1"/>
          <p:nvPr/>
        </p:nvSpPr>
        <p:spPr>
          <a:xfrm>
            <a:off x="476539" y="2353467"/>
            <a:ext cx="2319936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filled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abdominal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Helmholtz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chamber</a:t>
            </a:r>
            <a:endParaRPr/>
          </a:p>
        </p:txBody>
      </p:sp>
      <p:sp>
        <p:nvSpPr>
          <p:cNvPr id="34" name="TextBox 34"/>
          <p:cNvSpPr txBox="1"/>
          <p:nvPr/>
        </p:nvSpPr>
        <p:spPr>
          <a:xfrm>
            <a:off x="2065504" y="2531455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35" name="TextBox 35"/>
          <p:cNvSpPr txBox="1"/>
          <p:nvPr/>
        </p:nvSpPr>
        <p:spPr>
          <a:xfrm>
            <a:off x="2131672" y="2520594"/>
            <a:ext cx="1080039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endParaRPr/>
          </a:p>
        </p:txBody>
      </p:sp>
      <p:sp>
        <p:nvSpPr>
          <p:cNvPr id="36" name="TextBox 36"/>
          <p:cNvSpPr txBox="1"/>
          <p:nvPr/>
        </p:nvSpPr>
        <p:spPr>
          <a:xfrm>
            <a:off x="1370195" y="2781060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25</a:t>
            </a:r>
            <a:endParaRPr/>
          </a:p>
        </p:txBody>
      </p:sp>
      <p:sp>
        <p:nvSpPr>
          <p:cNvPr id="37" name="TextBox 37"/>
          <p:cNvSpPr txBox="1"/>
          <p:nvPr/>
        </p:nvSpPr>
        <p:spPr>
          <a:xfrm>
            <a:off x="1436363" y="2770199"/>
            <a:ext cx="1810438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Benne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-Clark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loud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louder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endParaRPr/>
          </a:p>
        </p:txBody>
      </p:sp>
      <p:sp>
        <p:nvSpPr>
          <p:cNvPr id="38" name="TextBox 38"/>
          <p:cNvSpPr txBox="1"/>
          <p:nvPr/>
        </p:nvSpPr>
        <p:spPr>
          <a:xfrm>
            <a:off x="2301014" y="294818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endParaRPr/>
          </a:p>
        </p:txBody>
      </p:sp>
      <p:sp>
        <p:nvSpPr>
          <p:cNvPr id="39" name="TextBox 39"/>
          <p:cNvSpPr txBox="1"/>
          <p:nvPr/>
        </p:nvSpPr>
        <p:spPr>
          <a:xfrm>
            <a:off x="2401820" y="294818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40" name="TextBox 40"/>
          <p:cNvSpPr txBox="1"/>
          <p:nvPr/>
        </p:nvSpPr>
        <p:spPr>
          <a:xfrm>
            <a:off x="2395412" y="3454390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26</a:t>
            </a:r>
            <a:endParaRPr/>
          </a:p>
        </p:txBody>
      </p:sp>
      <p:sp>
        <p:nvSpPr>
          <p:cNvPr id="41" name="TextBox 41"/>
          <p:cNvSpPr txBox="1"/>
          <p:nvPr/>
        </p:nvSpPr>
        <p:spPr>
          <a:xfrm>
            <a:off x="1716885" y="3443529"/>
            <a:ext cx="1515677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Benne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-Clark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(1999)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biologic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design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enious: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mechanic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endParaRPr/>
          </a:p>
        </p:txBody>
      </p:sp>
      <p:sp>
        <p:nvSpPr>
          <p:cNvPr id="42" name="TextBox 42"/>
          <p:cNvSpPr txBox="1"/>
          <p:nvPr/>
        </p:nvSpPr>
        <p:spPr>
          <a:xfrm>
            <a:off x="1650718" y="362151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26</a:t>
            </a: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511177" y="4540110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27</a:t>
            </a: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757684" y="2297291"/>
            <a:ext cx="375732" cy="100806"/>
          </a:xfrm>
          <a:custGeom>
            <a:avLst/>
            <a:gdLst/>
            <a:ahLst/>
            <a:cxnLst/>
            <a:pathLst>
              <a:path w="375732" h="100806" fill="norm" stroke="0" extrusionOk="0">
                <a:moveTo>
                  <a:pt x="18328" y="4582"/>
                </a:moveTo>
                <a:lnTo>
                  <a:pt x="357404" y="4582"/>
                </a:lnTo>
                <a:cubicBezTo>
                  <a:pt x="364964" y="4582"/>
                  <a:pt x="371150" y="10768"/>
                  <a:pt x="371150" y="18328"/>
                </a:cubicBezTo>
                <a:lnTo>
                  <a:pt x="371150" y="82478"/>
                </a:lnTo>
                <a:cubicBezTo>
                  <a:pt x="371150" y="90038"/>
                  <a:pt x="364964" y="96224"/>
                  <a:pt x="357404" y="96224"/>
                </a:cubicBezTo>
                <a:lnTo>
                  <a:pt x="18328" y="96224"/>
                </a:lnTo>
                <a:cubicBezTo>
                  <a:pt x="10768" y="96224"/>
                  <a:pt x="4582" y="90038"/>
                  <a:pt x="4582" y="82478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357404" y="0"/>
                </a:lnTo>
                <a:cubicBezTo>
                  <a:pt x="367485" y="0"/>
                  <a:pt x="375732" y="8248"/>
                  <a:pt x="375732" y="18328"/>
                </a:cubicBezTo>
                <a:lnTo>
                  <a:pt x="375732" y="82478"/>
                </a:lnTo>
                <a:cubicBezTo>
                  <a:pt x="375732" y="92558"/>
                  <a:pt x="367485" y="100806"/>
                  <a:pt x="357404" y="100806"/>
                </a:cubicBezTo>
                <a:lnTo>
                  <a:pt x="18328" y="100806"/>
                </a:lnTo>
                <a:cubicBezTo>
                  <a:pt x="8248" y="100806"/>
                  <a:pt x="0" y="92558"/>
                  <a:pt x="0" y="82478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2" name="Shape 2"/>
          <p:cNvSpPr/>
          <p:nvPr/>
        </p:nvSpPr>
        <p:spPr>
          <a:xfrm>
            <a:off x="1711792" y="3133405"/>
            <a:ext cx="430718" cy="100806"/>
          </a:xfrm>
          <a:custGeom>
            <a:avLst/>
            <a:gdLst/>
            <a:ahLst/>
            <a:cxnLst/>
            <a:pathLst>
              <a:path w="430718" h="100806" fill="norm" stroke="0" extrusionOk="0">
                <a:moveTo>
                  <a:pt x="18328" y="4582"/>
                </a:moveTo>
                <a:lnTo>
                  <a:pt x="412389" y="4582"/>
                </a:lnTo>
                <a:cubicBezTo>
                  <a:pt x="419950" y="4582"/>
                  <a:pt x="426136" y="10768"/>
                  <a:pt x="426136" y="18328"/>
                </a:cubicBezTo>
                <a:lnTo>
                  <a:pt x="426136" y="82478"/>
                </a:lnTo>
                <a:cubicBezTo>
                  <a:pt x="426136" y="90038"/>
                  <a:pt x="419950" y="96224"/>
                  <a:pt x="412389" y="96224"/>
                </a:cubicBezTo>
                <a:lnTo>
                  <a:pt x="18328" y="96224"/>
                </a:lnTo>
                <a:cubicBezTo>
                  <a:pt x="10768" y="96224"/>
                  <a:pt x="4582" y="90038"/>
                  <a:pt x="4582" y="82478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412389" y="0"/>
                </a:lnTo>
                <a:cubicBezTo>
                  <a:pt x="422470" y="0"/>
                  <a:pt x="430718" y="8248"/>
                  <a:pt x="430718" y="18328"/>
                </a:cubicBezTo>
                <a:lnTo>
                  <a:pt x="430718" y="82478"/>
                </a:lnTo>
                <a:cubicBezTo>
                  <a:pt x="430718" y="92558"/>
                  <a:pt x="422470" y="100806"/>
                  <a:pt x="412389" y="100806"/>
                </a:cubicBezTo>
                <a:lnTo>
                  <a:pt x="18328" y="100806"/>
                </a:lnTo>
                <a:cubicBezTo>
                  <a:pt x="8248" y="100806"/>
                  <a:pt x="0" y="92558"/>
                  <a:pt x="0" y="82478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3" name="Shape 3"/>
          <p:cNvSpPr/>
          <p:nvPr/>
        </p:nvSpPr>
        <p:spPr>
          <a:xfrm>
            <a:off x="2273577" y="3133405"/>
            <a:ext cx="678151" cy="100806"/>
          </a:xfrm>
          <a:custGeom>
            <a:avLst/>
            <a:gdLst/>
            <a:ahLst/>
            <a:cxnLst/>
            <a:pathLst>
              <a:path w="678151" h="100806" fill="norm" stroke="0" extrusionOk="0">
                <a:moveTo>
                  <a:pt x="18328" y="4582"/>
                </a:moveTo>
                <a:lnTo>
                  <a:pt x="659823" y="4582"/>
                </a:lnTo>
                <a:cubicBezTo>
                  <a:pt x="667383" y="4582"/>
                  <a:pt x="673569" y="10768"/>
                  <a:pt x="673569" y="18328"/>
                </a:cubicBezTo>
                <a:lnTo>
                  <a:pt x="673569" y="82478"/>
                </a:lnTo>
                <a:cubicBezTo>
                  <a:pt x="673569" y="90038"/>
                  <a:pt x="667383" y="96224"/>
                  <a:pt x="659823" y="96224"/>
                </a:cubicBezTo>
                <a:lnTo>
                  <a:pt x="18328" y="96224"/>
                </a:lnTo>
                <a:cubicBezTo>
                  <a:pt x="10768" y="96224"/>
                  <a:pt x="4582" y="90038"/>
                  <a:pt x="4582" y="82478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659823" y="0"/>
                </a:lnTo>
                <a:cubicBezTo>
                  <a:pt x="669903" y="0"/>
                  <a:pt x="678151" y="8248"/>
                  <a:pt x="678151" y="18328"/>
                </a:cubicBezTo>
                <a:lnTo>
                  <a:pt x="678151" y="82478"/>
                </a:lnTo>
                <a:cubicBezTo>
                  <a:pt x="678151" y="92558"/>
                  <a:pt x="669903" y="100806"/>
                  <a:pt x="659823" y="100806"/>
                </a:cubicBezTo>
                <a:lnTo>
                  <a:pt x="18328" y="100806"/>
                </a:lnTo>
                <a:cubicBezTo>
                  <a:pt x="8248" y="100806"/>
                  <a:pt x="0" y="92558"/>
                  <a:pt x="0" y="82478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4" name="Shape 4"/>
          <p:cNvSpPr/>
          <p:nvPr/>
        </p:nvSpPr>
        <p:spPr>
          <a:xfrm>
            <a:off x="2024584" y="3630444"/>
            <a:ext cx="238269" cy="100806"/>
          </a:xfrm>
          <a:custGeom>
            <a:avLst/>
            <a:gdLst/>
            <a:ahLst/>
            <a:cxnLst/>
            <a:pathLst>
              <a:path w="238269" h="100806" fill="norm" stroke="0" extrusionOk="0">
                <a:moveTo>
                  <a:pt x="18328" y="4582"/>
                </a:moveTo>
                <a:lnTo>
                  <a:pt x="219941" y="4582"/>
                </a:lnTo>
                <a:cubicBezTo>
                  <a:pt x="227501" y="4582"/>
                  <a:pt x="233687" y="10768"/>
                  <a:pt x="233687" y="18328"/>
                </a:cubicBezTo>
                <a:lnTo>
                  <a:pt x="233687" y="82478"/>
                </a:lnTo>
                <a:cubicBezTo>
                  <a:pt x="233687" y="90038"/>
                  <a:pt x="227501" y="96224"/>
                  <a:pt x="219941" y="96224"/>
                </a:cubicBezTo>
                <a:lnTo>
                  <a:pt x="18328" y="96224"/>
                </a:lnTo>
                <a:cubicBezTo>
                  <a:pt x="10768" y="96224"/>
                  <a:pt x="4582" y="90038"/>
                  <a:pt x="4582" y="82478"/>
                </a:cubicBezTo>
                <a:lnTo>
                  <a:pt x="4582" y="18328"/>
                </a:lnTo>
                <a:cubicBezTo>
                  <a:pt x="4582" y="10768"/>
                  <a:pt x="10768" y="4582"/>
                  <a:pt x="18328" y="4582"/>
                </a:cubicBezTo>
                <a:moveTo>
                  <a:pt x="18328" y="0"/>
                </a:moveTo>
                <a:lnTo>
                  <a:pt x="219941" y="0"/>
                </a:lnTo>
                <a:cubicBezTo>
                  <a:pt x="230022" y="0"/>
                  <a:pt x="238269" y="8248"/>
                  <a:pt x="238269" y="18328"/>
                </a:cubicBezTo>
                <a:lnTo>
                  <a:pt x="238269" y="82478"/>
                </a:lnTo>
                <a:cubicBezTo>
                  <a:pt x="238269" y="92558"/>
                  <a:pt x="230022" y="100806"/>
                  <a:pt x="219941" y="100806"/>
                </a:cubicBezTo>
                <a:lnTo>
                  <a:pt x="18328" y="100806"/>
                </a:lnTo>
                <a:cubicBezTo>
                  <a:pt x="8248" y="100806"/>
                  <a:pt x="0" y="92558"/>
                  <a:pt x="0" y="82478"/>
                </a:cubicBezTo>
                <a:lnTo>
                  <a:pt x="0" y="18328"/>
                </a:lnTo>
                <a:cubicBezTo>
                  <a:pt x="0" y="8248"/>
                  <a:pt x="8248" y="0"/>
                  <a:pt x="18328" y="0"/>
                </a:cubicBezTo>
              </a:path>
            </a:pathLst>
          </a:custGeom>
          <a:solidFill>
            <a:srgbClr val="BBBBBB"/>
          </a:solidFill>
        </p:spPr>
      </p:sp>
      <p:sp>
        <p:nvSpPr>
          <p:cNvPr id="5" name="Shape 5"/>
          <p:cNvSpPr/>
          <p:nvPr/>
        </p:nvSpPr>
        <p:spPr>
          <a:xfrm>
            <a:off x="1949750" y="1729349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878578" y="206143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1689554" y="214608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2657651" y="239568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Shape 9"/>
          <p:cNvSpPr/>
          <p:nvPr/>
        </p:nvSpPr>
        <p:spPr>
          <a:xfrm>
            <a:off x="3062516" y="33967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Shape 10"/>
          <p:cNvSpPr/>
          <p:nvPr/>
        </p:nvSpPr>
        <p:spPr>
          <a:xfrm>
            <a:off x="1680499" y="381131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2707700" y="456495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TextBox 12"/>
          <p:cNvSpPr txBox="1"/>
          <p:nvPr/>
        </p:nvSpPr>
        <p:spPr>
          <a:xfrm>
            <a:off x="476539" y="441311"/>
            <a:ext cx="2817909" cy="16209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essful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should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tw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oduc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sour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(bunch of pulses) 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a 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and-limit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476539" y="698625"/>
            <a:ext cx="2119318" cy="11942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Applying Ac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ous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tic Analysis t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o WebA</a:t>
            </a:r>
            <a:r>
              <a:rPr sz="1350" b="1" i="0" u="none">
                <a:solidFill>
                  <a:srgbClr val="000000"/>
                </a:solidFill>
                <a:latin typeface="Noto-Sans-CJK-JP-Bold"/>
              </a:rPr>
              <a:t>udio Synthesis</a:t>
            </a: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476539" y="890082"/>
            <a:ext cx="2818540" cy="157989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16667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ofile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empor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clues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ools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(via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udioBuff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Scrip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/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udioWorkle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(Gain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nodes)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ombined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the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sound mechanism. 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onsider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tions and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echniques:</a:t>
            </a:r>
            <a:endParaRPr/>
          </a:p>
          <a:p>
            <a:pPr algn="l">
              <a:lnSpc>
                <a:spcPct val="153949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Band-Limit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(Oscilla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vs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Noise):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ones;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simple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ould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insufficient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onsider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noise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opria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mimic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run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and-p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ass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BiquadFilt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~4–5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andwidth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3–6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kHz)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tribut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ommends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onfine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(e.g.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5–8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rumbling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amplitude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less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kHz,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bimodal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single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Q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also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utiliz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0000"/>
              </a:lnSpc>
              <a:spcBef>
                <a:spcPts val="4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Mono-CJK-JP"/>
              </a:rPr>
              <a:t>PeriodicWave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multiple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orNodes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xima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harmonic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 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 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 yields the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dense quality of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sound</a:t>
            </a: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1976233" y="173488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2032227" y="1724025"/>
            <a:ext cx="1184539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signal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894888" y="206696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18</a:t>
            </a: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961056" y="2056108"/>
            <a:ext cx="2309389" cy="16426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(e.g.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~12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allel,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1716037" y="2151618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673961" y="240122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2740128" y="2390362"/>
            <a:ext cx="16050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628809" y="2566654"/>
            <a:ext cx="2658604" cy="1486085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0000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Amplitude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Env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elopes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Rhythm: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ammed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ontinuous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buzz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umaz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emolo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(amplitude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20–30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flut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shaaa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endParaRPr/>
          </a:p>
          <a:p>
            <a:pPr algn="l">
              <a:lnSpc>
                <a:spcPct val="153949"/>
              </a:lnSpc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initial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“Meeen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(perhaps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hundr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millisec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immedia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loop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“min-min-min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achie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scheduling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GainNode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Mono-CJK-JP"/>
              </a:rPr>
              <a:t>setValueAtTime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Mono-CJK-JP"/>
              </a:rPr>
              <a:t>linearRampToValueAtTime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onnec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~4–6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full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~0.2–0.3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ause)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scrip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series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ould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manually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trigg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Mono-CJK-JP"/>
              </a:rPr>
              <a:t>start()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single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indic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oughly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25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inside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some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(i.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40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ms)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buzzing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/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 xml:space="preserve">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micr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os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truc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tur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macr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truc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length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micr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659823" y="2896565"/>
            <a:ext cx="262551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pulsed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design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-dec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3078826" y="340229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19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3144994" y="3391432"/>
            <a:ext cx="16050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6810" y="3816854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19</a:t>
            </a: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762977" y="3805993"/>
            <a:ext cx="1467365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needed,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high-r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659823" y="4055598"/>
            <a:ext cx="149076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truc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(the 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emble or vibr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within 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 phr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ase).</a:t>
            </a: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628809" y="4229718"/>
            <a:ext cx="2658604" cy="40953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0000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equenc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Modula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tion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Sw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eep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simply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tible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scilla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ubōshi”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ould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~2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~8–10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mirr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</a:t>
            </a: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2734184" y="457049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31" name="TextBox 31"/>
          <p:cNvSpPr txBox="1"/>
          <p:nvPr/>
        </p:nvSpPr>
        <p:spPr>
          <a:xfrm>
            <a:off x="2790178" y="4559630"/>
            <a:ext cx="388760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endParaRPr/>
          </a:p>
        </p:txBody>
      </p:sp>
      <p:sp>
        <p:nvSpPr>
          <p:cNvPr id="32" name="TextBox 32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2355836" y="694069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" name="Shape 2"/>
          <p:cNvSpPr/>
          <p:nvPr/>
        </p:nvSpPr>
        <p:spPr>
          <a:xfrm>
            <a:off x="1146532" y="153018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3"/>
          <p:cNvSpPr/>
          <p:nvPr/>
        </p:nvSpPr>
        <p:spPr>
          <a:xfrm>
            <a:off x="2718803" y="194474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Shape 4"/>
          <p:cNvSpPr/>
          <p:nvPr/>
        </p:nvSpPr>
        <p:spPr>
          <a:xfrm>
            <a:off x="1741992" y="269838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5" name="Shape 5"/>
          <p:cNvSpPr/>
          <p:nvPr/>
        </p:nvSpPr>
        <p:spPr>
          <a:xfrm>
            <a:off x="1761000" y="378192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2032201" y="394905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2694495" y="428113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2795302" y="428113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TextBox 9"/>
          <p:cNvSpPr txBox="1"/>
          <p:nvPr/>
        </p:nvSpPr>
        <p:spPr>
          <a:xfrm>
            <a:off x="476539" y="441311"/>
            <a:ext cx="2818785" cy="3914122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emphasiz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rise,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ackbone.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smoo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BiquadFilt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nodes,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useful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equenc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y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glide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half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finish)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onvincing.</a:t>
            </a:r>
            <a:endParaRPr/>
          </a:p>
          <a:p>
            <a:pPr algn="l">
              <a:lnSpc>
                <a:spcPct val="153949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esonanc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and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ering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(the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“R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or”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ag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e):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orpor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shape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the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timbr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al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env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pulse.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analog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sculp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BiquadFilt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erNodes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onfigur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high-Q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tuned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primar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analysis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6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15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uboushi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sharp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bell-lik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Q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yields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(but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artificial),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Q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also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dynamic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opening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oper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(changing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oupling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physiolog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olor</a:t>
            </a:r>
            <a:endParaRPr/>
          </a:p>
          <a:p>
            <a:pPr algn="l">
              <a:lnSpc>
                <a:spcPct val="316667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closing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dampen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(akin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closing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).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ould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slightly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cut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endParaRPr/>
          </a:p>
          <a:p>
            <a:pPr algn="l">
              <a:lnSpc>
                <a:spcPct val="300000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Synthesis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chit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(Oscilla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→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→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Amplifier):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sumur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(o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scilla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vibr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avity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endParaRPr/>
          </a:p>
          <a:p>
            <a:pPr algn="l">
              <a:lnSpc>
                <a:spcPct val="303949"/>
              </a:lnSpc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akin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CF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316667"/>
              </a:lnSpc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O”).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filt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body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CF”)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impose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Finally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GainNode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amplitude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which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amplitude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sep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e.g.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(higher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smaller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ones),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duty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ontinuous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pulsed).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modular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mirr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physic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ality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support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aph design.</a:t>
            </a:r>
            <a:endParaRPr/>
          </a:p>
          <a:p>
            <a:pPr algn="l">
              <a:lnSpc>
                <a:spcPct val="300000"/>
              </a:lnSpc>
              <a:spcBef>
                <a:spcPts val="195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onclusion,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aithfully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achie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ombining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analysis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-</a:t>
            </a:r>
            <a:endParaRPr/>
          </a:p>
          <a:p>
            <a:pPr algn="l">
              <a:lnSpc>
                <a:spcPct val="153949"/>
              </a:lnSpc>
              <a:spcBef>
                <a:spcPts val="1800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pulse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shapes)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blueprint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ample,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Minminz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ocused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4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on-off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elope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kno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esult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impulses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ased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x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chirps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single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endParaRPr/>
          </a:p>
          <a:p>
            <a:pPr algn="l">
              <a:lnSpc>
                <a:spcPct val="150000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omponent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scheduled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rhythm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emark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ably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lif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-lik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songs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wser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(bo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empor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tudies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hav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identified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species,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y ensuring the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essenc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of the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is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in the synthe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sion. </a:t>
            </a:r>
            <a:endParaRPr/>
          </a:p>
        </p:txBody>
      </p:sp>
      <p:sp>
        <p:nvSpPr>
          <p:cNvPr id="10" name="TextBox 10"/>
          <p:cNvSpPr txBox="1"/>
          <p:nvPr/>
        </p:nvSpPr>
        <p:spPr>
          <a:xfrm>
            <a:off x="2382320" y="69960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2438314" y="688745"/>
            <a:ext cx="75778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Ensuring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timing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173016" y="153572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229010" y="1524859"/>
            <a:ext cx="2027462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might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boos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those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equencies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nodes.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Q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(quality</a:t>
            </a:r>
            <a:endParaRPr/>
          </a:p>
        </p:txBody>
      </p:sp>
      <p:sp>
        <p:nvSpPr>
          <p:cNvPr id="14" name="TextBox 14"/>
          <p:cNvSpPr txBox="1"/>
          <p:nvPr/>
        </p:nvSpPr>
        <p:spPr>
          <a:xfrm>
            <a:off x="2735113" y="1950281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23</a:t>
            </a:r>
            <a:endParaRPr/>
          </a:p>
        </p:txBody>
      </p:sp>
      <p:sp>
        <p:nvSpPr>
          <p:cNvPr id="15" name="TextBox 15"/>
          <p:cNvSpPr txBox="1"/>
          <p:nvPr/>
        </p:nvSpPr>
        <p:spPr>
          <a:xfrm>
            <a:off x="2801281" y="1939420"/>
            <a:ext cx="377093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e,</a:t>
            </a:r>
            <a:endParaRPr/>
          </a:p>
        </p:txBody>
      </p:sp>
      <p:sp>
        <p:nvSpPr>
          <p:cNvPr id="16" name="TextBox 16"/>
          <p:cNvSpPr txBox="1"/>
          <p:nvPr/>
        </p:nvSpPr>
        <p:spPr>
          <a:xfrm>
            <a:off x="659823" y="2610578"/>
            <a:ext cx="2625521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(amplifier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/r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esona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or)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boos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adjus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able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abdominal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openings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func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</a:t>
            </a:r>
            <a:endParaRPr/>
          </a:p>
          <a:p>
            <a:pPr algn="l">
              <a:spcBef>
                <a:spcPts val="1836"/>
              </a:spcBef>
            </a:pP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Oscilla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orNode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high-fr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click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is</a:t>
            </a:r>
            <a:endParaRPr/>
          </a:p>
        </p:txBody>
      </p:sp>
      <p:sp>
        <p:nvSpPr>
          <p:cNvPr id="17" name="TextBox 17"/>
          <p:cNvSpPr txBox="1"/>
          <p:nvPr/>
        </p:nvSpPr>
        <p:spPr>
          <a:xfrm>
            <a:off x="1758302" y="270391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28</a:t>
            </a:r>
            <a:endParaRPr/>
          </a:p>
        </p:txBody>
      </p:sp>
      <p:sp>
        <p:nvSpPr>
          <p:cNvPr id="18" name="TextBox 18"/>
          <p:cNvSpPr txBox="1"/>
          <p:nvPr/>
        </p:nvSpPr>
        <p:spPr>
          <a:xfrm>
            <a:off x="1824470" y="2693056"/>
            <a:ext cx="1402715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emula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in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WebA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udio: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x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cit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tion</a:t>
            </a: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476539" y="3611648"/>
            <a:ext cx="281834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driv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en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/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 xml:space="preserve">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p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ame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t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API’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synthesis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primitiv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use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(fr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1787483" y="3787465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1843478" y="3776604"/>
            <a:ext cx="1382717" cy="246746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,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implement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4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kHz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filt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endParaRPr/>
          </a:p>
          <a:p>
            <a:pPr algn="l">
              <a:spcBef>
                <a:spcPts val="183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>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with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these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building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blocks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/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–</a:t>
            </a: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2048511" y="395459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2710806" y="4286675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19</a:t>
            </a: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2821785" y="4286675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Shape 1"/>
          <p:cNvSpPr/>
          <p:nvPr/>
        </p:nvSpPr>
        <p:spPr>
          <a:xfrm>
            <a:off x="476539" y="1692067"/>
            <a:ext cx="2683741" cy="4582"/>
          </a:xfrm>
          <a:custGeom>
            <a:avLst/>
            <a:gdLst/>
            <a:ahLst/>
            <a:cxnLst/>
            <a:pathLst>
              <a:path w="2683741" h="4582" fill="norm" stroke="0" extrusionOk="0">
                <a:moveTo>
                  <a:pt x="0" y="4582"/>
                </a:moveTo>
                <a:lnTo>
                  <a:pt x="2683741" y="4582"/>
                </a:lnTo>
                <a:lnTo>
                  <a:pt x="2683741" y="4582"/>
                </a:lnTo>
                <a:lnTo>
                  <a:pt x="0" y="4582"/>
                </a:lnTo>
                <a:close/>
                <a:moveTo>
                  <a:pt x="0" y="0"/>
                </a:moveTo>
                <a:lnTo>
                  <a:pt x="2683741" y="0"/>
                </a:lnTo>
                <a:lnTo>
                  <a:pt x="2683741" y="4582"/>
                </a:lnTo>
                <a:lnTo>
                  <a:pt x="0" y="4582"/>
                </a:lnTo>
                <a:close/>
              </a:path>
            </a:pathLst>
          </a:custGeom>
          <a:solidFill>
            <a:srgbClr val="BBBBBB"/>
          </a:solidFill>
        </p:spPr>
      </p:sp>
      <p:sp>
        <p:nvSpPr>
          <p:cNvPr id="2" name="Shape 2"/>
          <p:cNvSpPr/>
          <p:nvPr/>
        </p:nvSpPr>
        <p:spPr>
          <a:xfrm>
            <a:off x="2820123" y="60224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" name="Shape 3"/>
          <p:cNvSpPr/>
          <p:nvPr/>
        </p:nvSpPr>
        <p:spPr>
          <a:xfrm>
            <a:off x="2920929" y="60224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" name="Shape 4"/>
          <p:cNvSpPr/>
          <p:nvPr/>
        </p:nvSpPr>
        <p:spPr>
          <a:xfrm>
            <a:off x="3021735" y="60224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5" name="Shape 5"/>
          <p:cNvSpPr/>
          <p:nvPr/>
        </p:nvSpPr>
        <p:spPr>
          <a:xfrm>
            <a:off x="678151" y="68689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6" name="Shape 6"/>
          <p:cNvSpPr/>
          <p:nvPr/>
        </p:nvSpPr>
        <p:spPr>
          <a:xfrm>
            <a:off x="778957" y="686893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7" name="Shape 7"/>
          <p:cNvSpPr/>
          <p:nvPr/>
        </p:nvSpPr>
        <p:spPr>
          <a:xfrm>
            <a:off x="1568784" y="85402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8" name="Shape 8"/>
          <p:cNvSpPr/>
          <p:nvPr/>
        </p:nvSpPr>
        <p:spPr>
          <a:xfrm>
            <a:off x="1669590" y="85402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9" name="Shape 9"/>
          <p:cNvSpPr/>
          <p:nvPr/>
        </p:nvSpPr>
        <p:spPr>
          <a:xfrm>
            <a:off x="1575330" y="102114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0" name="Shape 10"/>
          <p:cNvSpPr/>
          <p:nvPr/>
        </p:nvSpPr>
        <p:spPr>
          <a:xfrm>
            <a:off x="1676137" y="102114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1" name="Shape 11"/>
          <p:cNvSpPr/>
          <p:nvPr/>
        </p:nvSpPr>
        <p:spPr>
          <a:xfrm>
            <a:off x="1885182" y="118827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2" name="Shape 12"/>
          <p:cNvSpPr/>
          <p:nvPr/>
        </p:nvSpPr>
        <p:spPr>
          <a:xfrm>
            <a:off x="1985988" y="118827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3" name="Shape 13"/>
          <p:cNvSpPr/>
          <p:nvPr/>
        </p:nvSpPr>
        <p:spPr>
          <a:xfrm>
            <a:off x="2055422" y="135540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4" name="Shape 14"/>
          <p:cNvSpPr/>
          <p:nvPr/>
        </p:nvSpPr>
        <p:spPr>
          <a:xfrm>
            <a:off x="2156228" y="1355402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5" name="Shape 15"/>
          <p:cNvSpPr/>
          <p:nvPr/>
        </p:nvSpPr>
        <p:spPr>
          <a:xfrm>
            <a:off x="2024354" y="1522530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6" name="Shape 16"/>
          <p:cNvSpPr/>
          <p:nvPr/>
        </p:nvSpPr>
        <p:spPr>
          <a:xfrm>
            <a:off x="476539" y="179504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7" name="Shape 17"/>
          <p:cNvSpPr/>
          <p:nvPr/>
        </p:nvSpPr>
        <p:spPr>
          <a:xfrm>
            <a:off x="566753" y="179504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8" name="Shape 18"/>
          <p:cNvSpPr/>
          <p:nvPr/>
        </p:nvSpPr>
        <p:spPr>
          <a:xfrm>
            <a:off x="656968" y="179504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19" name="Shape 19"/>
          <p:cNvSpPr/>
          <p:nvPr/>
        </p:nvSpPr>
        <p:spPr>
          <a:xfrm>
            <a:off x="476539" y="209572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0" name="Shape 20"/>
          <p:cNvSpPr/>
          <p:nvPr/>
        </p:nvSpPr>
        <p:spPr>
          <a:xfrm>
            <a:off x="566753" y="209572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1" name="Shape 21"/>
          <p:cNvSpPr/>
          <p:nvPr/>
        </p:nvSpPr>
        <p:spPr>
          <a:xfrm>
            <a:off x="656968" y="209572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2" name="Shape 22"/>
          <p:cNvSpPr/>
          <p:nvPr/>
        </p:nvSpPr>
        <p:spPr>
          <a:xfrm>
            <a:off x="476539" y="230581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3" name="Shape 23"/>
          <p:cNvSpPr/>
          <p:nvPr/>
        </p:nvSpPr>
        <p:spPr>
          <a:xfrm>
            <a:off x="476539" y="2515905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4" name="Shape 24"/>
          <p:cNvSpPr/>
          <p:nvPr/>
        </p:nvSpPr>
        <p:spPr>
          <a:xfrm>
            <a:off x="476539" y="2725994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5" name="Shape 25"/>
          <p:cNvSpPr/>
          <p:nvPr/>
        </p:nvSpPr>
        <p:spPr>
          <a:xfrm>
            <a:off x="476539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6" name="Shape 26"/>
          <p:cNvSpPr/>
          <p:nvPr/>
        </p:nvSpPr>
        <p:spPr>
          <a:xfrm>
            <a:off x="566753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7" name="Shape 27"/>
          <p:cNvSpPr/>
          <p:nvPr/>
        </p:nvSpPr>
        <p:spPr>
          <a:xfrm>
            <a:off x="656968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8" name="Shape 28"/>
          <p:cNvSpPr/>
          <p:nvPr/>
        </p:nvSpPr>
        <p:spPr>
          <a:xfrm>
            <a:off x="747182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29" name="Shape 29"/>
          <p:cNvSpPr/>
          <p:nvPr/>
        </p:nvSpPr>
        <p:spPr>
          <a:xfrm>
            <a:off x="837397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0" name="Shape 30"/>
          <p:cNvSpPr/>
          <p:nvPr/>
        </p:nvSpPr>
        <p:spPr>
          <a:xfrm>
            <a:off x="927612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1" name="Shape 31"/>
          <p:cNvSpPr/>
          <p:nvPr/>
        </p:nvSpPr>
        <p:spPr>
          <a:xfrm>
            <a:off x="1017826" y="3018561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2" name="Shape 32"/>
          <p:cNvSpPr/>
          <p:nvPr/>
        </p:nvSpPr>
        <p:spPr>
          <a:xfrm>
            <a:off x="476539" y="330826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3" name="Shape 33"/>
          <p:cNvSpPr/>
          <p:nvPr/>
        </p:nvSpPr>
        <p:spPr>
          <a:xfrm>
            <a:off x="566753" y="330826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4" name="Shape 34"/>
          <p:cNvSpPr/>
          <p:nvPr/>
        </p:nvSpPr>
        <p:spPr>
          <a:xfrm>
            <a:off x="656968" y="330826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5" name="Shape 35"/>
          <p:cNvSpPr/>
          <p:nvPr/>
        </p:nvSpPr>
        <p:spPr>
          <a:xfrm>
            <a:off x="747182" y="330826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6" name="Shape 36"/>
          <p:cNvSpPr/>
          <p:nvPr/>
        </p:nvSpPr>
        <p:spPr>
          <a:xfrm>
            <a:off x="837397" y="3308268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7" name="Shape 37"/>
          <p:cNvSpPr/>
          <p:nvPr/>
        </p:nvSpPr>
        <p:spPr>
          <a:xfrm>
            <a:off x="476539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8" name="Shape 38"/>
          <p:cNvSpPr/>
          <p:nvPr/>
        </p:nvSpPr>
        <p:spPr>
          <a:xfrm>
            <a:off x="566753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39" name="Shape 39"/>
          <p:cNvSpPr/>
          <p:nvPr/>
        </p:nvSpPr>
        <p:spPr>
          <a:xfrm>
            <a:off x="656968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0" name="Shape 40"/>
          <p:cNvSpPr/>
          <p:nvPr/>
        </p:nvSpPr>
        <p:spPr>
          <a:xfrm>
            <a:off x="747182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1" name="Shape 41"/>
          <p:cNvSpPr/>
          <p:nvPr/>
        </p:nvSpPr>
        <p:spPr>
          <a:xfrm>
            <a:off x="837397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2" name="Shape 42"/>
          <p:cNvSpPr/>
          <p:nvPr/>
        </p:nvSpPr>
        <p:spPr>
          <a:xfrm>
            <a:off x="927612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3" name="Shape 43"/>
          <p:cNvSpPr/>
          <p:nvPr/>
        </p:nvSpPr>
        <p:spPr>
          <a:xfrm>
            <a:off x="1017826" y="3518357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4" name="Shape 44"/>
          <p:cNvSpPr/>
          <p:nvPr/>
        </p:nvSpPr>
        <p:spPr>
          <a:xfrm>
            <a:off x="476539" y="3728446"/>
            <a:ext cx="73314" cy="68732"/>
          </a:xfrm>
          <a:prstGeom prst="rect">
            <a:avLst/>
          </a:prstGeom>
          <a:solidFill>
            <a:srgbClr val="EDEDED"/>
          </a:solidFill>
        </p:spPr>
      </p:sp>
      <p:sp>
        <p:nvSpPr>
          <p:cNvPr id="45" name="TextBox 45"/>
          <p:cNvSpPr txBox="1"/>
          <p:nvPr/>
        </p:nvSpPr>
        <p:spPr>
          <a:xfrm>
            <a:off x="476539" y="441311"/>
            <a:ext cx="243062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1" i="0" u="none">
                <a:solidFill>
                  <a:srgbClr val="000000"/>
                </a:solidFill>
                <a:latin typeface="Noto-Sans-CJK-JP-Bold"/>
              </a:rPr>
              <a:t>Sour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c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es:</a:t>
            </a:r>
            <a:endParaRPr/>
          </a:p>
        </p:txBody>
      </p:sp>
      <p:sp>
        <p:nvSpPr>
          <p:cNvPr id="46" name="TextBox 46"/>
          <p:cNvSpPr txBox="1"/>
          <p:nvPr/>
        </p:nvSpPr>
        <p:spPr>
          <a:xfrm>
            <a:off x="2846606" y="60778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47" name="TextBox 47"/>
          <p:cNvSpPr txBox="1"/>
          <p:nvPr/>
        </p:nvSpPr>
        <p:spPr>
          <a:xfrm>
            <a:off x="2947413" y="60778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48" name="TextBox 48"/>
          <p:cNvSpPr txBox="1"/>
          <p:nvPr/>
        </p:nvSpPr>
        <p:spPr>
          <a:xfrm>
            <a:off x="3048219" y="60778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8</a:t>
            </a:r>
            <a:endParaRPr/>
          </a:p>
        </p:txBody>
      </p:sp>
      <p:sp>
        <p:nvSpPr>
          <p:cNvPr id="49" name="TextBox 49"/>
          <p:cNvSpPr txBox="1"/>
          <p:nvPr/>
        </p:nvSpPr>
        <p:spPr>
          <a:xfrm>
            <a:off x="628809" y="596919"/>
            <a:ext cx="2602385" cy="917427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30789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analyses of Jap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anese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alls (spec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ogr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am 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 and fr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equenc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es)</a:t>
            </a:r>
            <a:endParaRPr/>
          </a:p>
          <a:p>
            <a:pPr algn="l">
              <a:lnSpc>
                <a:spcPct val="153949"/>
              </a:lnSpc>
              <a:spcBef>
                <a:spcPts val="1871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Smyth,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&amp; Smith, J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 Music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trument Based on a Bio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Model of a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 – physic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model of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sound mechanism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Ma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sumur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a, S. (2022).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Physic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 Modeling Synthesis of Cic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ada Chirping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–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d implement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and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analog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 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 synthesiz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 ar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chit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arnell, A. </a:t>
            </a:r>
            <a:r>
              <a:rPr sz="900" b="1" i="0" u="none">
                <a:solidFill>
                  <a:srgbClr val="000000"/>
                </a:solidFill>
                <a:latin typeface="Noto-Sans-CJK-JP-Bold"/>
              </a:rPr>
              <a:t>Designing Sound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(2010), Ch. 50 “Insec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” –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edur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synthesis of insec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 sounds;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noise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 model and modula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</a:t>
            </a:r>
            <a:endParaRPr/>
          </a:p>
          <a:p>
            <a:pPr algn="l">
              <a:lnSpc>
                <a:spcPct val="153949"/>
              </a:lnSpc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Benne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-Clark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, H. C. &amp; Y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oung, D. (1994, 1999) – Bio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tudies on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 tymb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mechanism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and 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esonanc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(as cit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ed in Smyth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and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arnell’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 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ork)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• 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K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yushu Univ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. Ne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ws (2023) 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“Biologic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 me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aning hidden in the 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y chang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e of 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ut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suk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uboushi’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s</a:t>
            </a:r>
            <a:endParaRPr/>
          </a:p>
        </p:txBody>
      </p:sp>
      <p:sp>
        <p:nvSpPr>
          <p:cNvPr id="50" name="TextBox 50"/>
          <p:cNvSpPr txBox="1"/>
          <p:nvPr/>
        </p:nvSpPr>
        <p:spPr>
          <a:xfrm>
            <a:off x="704635" y="69243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7</a:t>
            </a:r>
            <a:endParaRPr/>
          </a:p>
        </p:txBody>
      </p:sp>
      <p:sp>
        <p:nvSpPr>
          <p:cNvPr id="51" name="TextBox 51"/>
          <p:cNvSpPr txBox="1"/>
          <p:nvPr/>
        </p:nvSpPr>
        <p:spPr>
          <a:xfrm>
            <a:off x="805441" y="69243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52" name="TextBox 52"/>
          <p:cNvSpPr txBox="1"/>
          <p:nvPr/>
        </p:nvSpPr>
        <p:spPr>
          <a:xfrm>
            <a:off x="1585094" y="85955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endParaRPr/>
          </a:p>
        </p:txBody>
      </p:sp>
      <p:sp>
        <p:nvSpPr>
          <p:cNvPr id="53" name="TextBox 53"/>
          <p:cNvSpPr txBox="1"/>
          <p:nvPr/>
        </p:nvSpPr>
        <p:spPr>
          <a:xfrm>
            <a:off x="1685900" y="859557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endParaRPr/>
          </a:p>
        </p:txBody>
      </p:sp>
      <p:sp>
        <p:nvSpPr>
          <p:cNvPr id="54" name="TextBox 54"/>
          <p:cNvSpPr txBox="1"/>
          <p:nvPr/>
        </p:nvSpPr>
        <p:spPr>
          <a:xfrm>
            <a:off x="1591641" y="1026684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28</a:t>
            </a:r>
            <a:endParaRPr/>
          </a:p>
        </p:txBody>
      </p:sp>
      <p:sp>
        <p:nvSpPr>
          <p:cNvPr id="55" name="TextBox 55"/>
          <p:cNvSpPr txBox="1"/>
          <p:nvPr/>
        </p:nvSpPr>
        <p:spPr>
          <a:xfrm>
            <a:off x="1692447" y="1026684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22</a:t>
            </a:r>
            <a:endParaRPr/>
          </a:p>
        </p:txBody>
      </p:sp>
      <p:sp>
        <p:nvSpPr>
          <p:cNvPr id="56" name="TextBox 56"/>
          <p:cNvSpPr txBox="1"/>
          <p:nvPr/>
        </p:nvSpPr>
        <p:spPr>
          <a:xfrm>
            <a:off x="1901492" y="119381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29</a:t>
            </a:r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2002298" y="1193812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endParaRPr/>
          </a:p>
        </p:txBody>
      </p:sp>
      <p:sp>
        <p:nvSpPr>
          <p:cNvPr id="58" name="TextBox 58"/>
          <p:cNvSpPr txBox="1"/>
          <p:nvPr/>
        </p:nvSpPr>
        <p:spPr>
          <a:xfrm>
            <a:off x="2071732" y="136093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endParaRPr/>
          </a:p>
        </p:txBody>
      </p:sp>
      <p:sp>
        <p:nvSpPr>
          <p:cNvPr id="59" name="TextBox 59"/>
          <p:cNvSpPr txBox="1"/>
          <p:nvPr/>
        </p:nvSpPr>
        <p:spPr>
          <a:xfrm>
            <a:off x="2172538" y="1360939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26</a:t>
            </a:r>
            <a:endParaRPr/>
          </a:p>
        </p:txBody>
      </p:sp>
      <p:sp>
        <p:nvSpPr>
          <p:cNvPr id="60" name="TextBox 60"/>
          <p:cNvSpPr txBox="1"/>
          <p:nvPr/>
        </p:nvSpPr>
        <p:spPr>
          <a:xfrm>
            <a:off x="2050838" y="1528066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5</a:t>
            </a:r>
            <a:endParaRPr/>
          </a:p>
        </p:txBody>
      </p:sp>
      <p:sp>
        <p:nvSpPr>
          <p:cNvPr id="61" name="TextBox 61"/>
          <p:cNvSpPr txBox="1"/>
          <p:nvPr/>
        </p:nvSpPr>
        <p:spPr>
          <a:xfrm>
            <a:off x="659823" y="1517205"/>
            <a:ext cx="1414096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c</a:t>
            </a:r>
            <a:r>
              <a:rPr sz="900" b="0" i="1" u="none">
                <a:solidFill>
                  <a:srgbClr val="000000"/>
                </a:solidFill>
                <a:latin typeface="Noto-Sans-CJK-JP-Oblique"/>
              </a:rPr>
              <a:t>all”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 xml:space="preserve"> – ec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ologic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signific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anc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 of tw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-p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art 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all p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ern</a:t>
            </a:r>
            <a:endParaRPr/>
          </a:p>
        </p:txBody>
      </p:sp>
      <p:sp>
        <p:nvSpPr>
          <p:cNvPr id="62" name="TextBox 62"/>
          <p:cNvSpPr txBox="1"/>
          <p:nvPr/>
        </p:nvSpPr>
        <p:spPr>
          <a:xfrm>
            <a:off x="503022" y="180058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</a:t>
            </a:r>
            <a:endParaRPr/>
          </a:p>
        </p:txBody>
      </p:sp>
      <p:sp>
        <p:nvSpPr>
          <p:cNvPr id="63" name="TextBox 63"/>
          <p:cNvSpPr txBox="1"/>
          <p:nvPr/>
        </p:nvSpPr>
        <p:spPr>
          <a:xfrm>
            <a:off x="593237" y="180058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</a:t>
            </a:r>
            <a:endParaRPr/>
          </a:p>
        </p:txBody>
      </p:sp>
      <p:sp>
        <p:nvSpPr>
          <p:cNvPr id="64" name="TextBox 64"/>
          <p:cNvSpPr txBox="1"/>
          <p:nvPr/>
        </p:nvSpPr>
        <p:spPr>
          <a:xfrm>
            <a:off x="683451" y="180058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4</a:t>
            </a:r>
            <a:endParaRPr/>
          </a:p>
        </p:txBody>
      </p:sp>
      <p:sp>
        <p:nvSpPr>
          <p:cNvPr id="65" name="TextBox 65"/>
          <p:cNvSpPr txBox="1"/>
          <p:nvPr/>
        </p:nvSpPr>
        <p:spPr>
          <a:xfrm>
            <a:off x="476539" y="1789721"/>
            <a:ext cx="2766817" cy="172383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68708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夏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風物詩、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セミ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鳴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き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声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を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科学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する！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アブラゼミ,ミンミンゼミ,ツクツクボウシ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の“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音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を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見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え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る</a:t>
            </a:r>
            <a:endParaRPr/>
          </a:p>
          <a:p>
            <a:pPr algn="l">
              <a:spcBef>
                <a:spcPts val="618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化”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し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てみた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｜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Sound One</a:t>
            </a:r>
            <a:endParaRPr/>
          </a:p>
        </p:txBody>
      </p:sp>
      <p:sp>
        <p:nvSpPr>
          <p:cNvPr id="66" name="TextBox 66"/>
          <p:cNvSpPr txBox="1"/>
          <p:nvPr/>
        </p:nvSpPr>
        <p:spPr>
          <a:xfrm>
            <a:off x="775933" y="1887489"/>
            <a:ext cx="36835" cy="9342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Symbols2"/>
              </a:rPr>
              <a:t>❣</a:t>
            </a:r>
            <a:endParaRPr/>
          </a:p>
        </p:txBody>
      </p:sp>
      <p:sp>
        <p:nvSpPr>
          <p:cNvPr id="67" name="TextBox 67"/>
          <p:cNvSpPr txBox="1"/>
          <p:nvPr/>
        </p:nvSpPr>
        <p:spPr>
          <a:xfrm>
            <a:off x="476539" y="1974164"/>
            <a:ext cx="1068088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tps://no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om/sound_one/n/n855133c10b73</a:t>
            </a:r>
            <a:endParaRPr/>
          </a:p>
        </p:txBody>
      </p:sp>
      <p:sp>
        <p:nvSpPr>
          <p:cNvPr id="68" name="TextBox 68"/>
          <p:cNvSpPr txBox="1"/>
          <p:nvPr/>
        </p:nvSpPr>
        <p:spPr>
          <a:xfrm>
            <a:off x="503022" y="2101263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3</a:t>
            </a:r>
            <a:endParaRPr/>
          </a:p>
        </p:txBody>
      </p:sp>
      <p:sp>
        <p:nvSpPr>
          <p:cNvPr id="69" name="TextBox 69"/>
          <p:cNvSpPr txBox="1"/>
          <p:nvPr/>
        </p:nvSpPr>
        <p:spPr>
          <a:xfrm>
            <a:off x="593237" y="2101263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6</a:t>
            </a:r>
            <a:endParaRPr/>
          </a:p>
        </p:txBody>
      </p:sp>
      <p:sp>
        <p:nvSpPr>
          <p:cNvPr id="70" name="TextBox 70"/>
          <p:cNvSpPr txBox="1"/>
          <p:nvPr/>
        </p:nvSpPr>
        <p:spPr>
          <a:xfrm>
            <a:off x="673278" y="210126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27</a:t>
            </a:r>
            <a:endParaRPr/>
          </a:p>
        </p:txBody>
      </p:sp>
      <p:sp>
        <p:nvSpPr>
          <p:cNvPr id="71" name="TextBox 71"/>
          <p:cNvSpPr txBox="1"/>
          <p:nvPr/>
        </p:nvSpPr>
        <p:spPr>
          <a:xfrm>
            <a:off x="747182" y="2090403"/>
            <a:ext cx="2231380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セミ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声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自由研究：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ス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ペクトル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で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見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る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暑苦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しさと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涼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しさ | のんびり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ポタ・ランニング</a:t>
            </a:r>
            <a:endParaRPr/>
          </a:p>
        </p:txBody>
      </p:sp>
      <p:sp>
        <p:nvSpPr>
          <p:cNvPr id="72" name="TextBox 72"/>
          <p:cNvSpPr txBox="1"/>
          <p:nvPr/>
        </p:nvSpPr>
        <p:spPr>
          <a:xfrm>
            <a:off x="476539" y="2184253"/>
            <a:ext cx="1290173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tps://po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a-run.blogspo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om/2013/08/blog-pos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t_3.html</a:t>
            </a:r>
            <a:endParaRPr/>
          </a:p>
        </p:txBody>
      </p:sp>
      <p:sp>
        <p:nvSpPr>
          <p:cNvPr id="73" name="TextBox 73"/>
          <p:cNvSpPr txBox="1"/>
          <p:nvPr/>
        </p:nvSpPr>
        <p:spPr>
          <a:xfrm>
            <a:off x="503022" y="2311352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5</a:t>
            </a:r>
            <a:endParaRPr/>
          </a:p>
        </p:txBody>
      </p:sp>
      <p:sp>
        <p:nvSpPr>
          <p:cNvPr id="74" name="TextBox 74"/>
          <p:cNvSpPr txBox="1"/>
          <p:nvPr/>
        </p:nvSpPr>
        <p:spPr>
          <a:xfrm>
            <a:off x="566753" y="2300492"/>
            <a:ext cx="2331896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ツクツクボウシ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鳴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き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声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転調部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に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潜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む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生物学的意味 | 九州大学 理学研究院 理学府 理学部</a:t>
            </a:r>
            <a:endParaRPr/>
          </a:p>
        </p:txBody>
      </p:sp>
      <p:sp>
        <p:nvSpPr>
          <p:cNvPr id="75" name="TextBox 75"/>
          <p:cNvSpPr txBox="1"/>
          <p:nvPr/>
        </p:nvSpPr>
        <p:spPr>
          <a:xfrm>
            <a:off x="476539" y="2394342"/>
            <a:ext cx="1529483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tps://www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.sci.kyushu-u.ac.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jp/k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oho/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qrine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ws/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qrine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ws_230908.html</a:t>
            </a:r>
            <a:endParaRPr/>
          </a:p>
        </p:txBody>
      </p:sp>
      <p:sp>
        <p:nvSpPr>
          <p:cNvPr id="76" name="TextBox 76"/>
          <p:cNvSpPr txBox="1"/>
          <p:nvPr/>
        </p:nvSpPr>
        <p:spPr>
          <a:xfrm>
            <a:off x="503022" y="2521441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7</a:t>
            </a:r>
            <a:endParaRPr/>
          </a:p>
        </p:txBody>
      </p:sp>
      <p:sp>
        <p:nvSpPr>
          <p:cNvPr id="77" name="TextBox 77"/>
          <p:cNvSpPr txBox="1"/>
          <p:nvPr/>
        </p:nvSpPr>
        <p:spPr>
          <a:xfrm>
            <a:off x="566753" y="2510581"/>
            <a:ext cx="1019533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セミ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声 | 岩永補聴器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グルー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プ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ブログ</a:t>
            </a:r>
            <a:endParaRPr/>
          </a:p>
        </p:txBody>
      </p:sp>
      <p:sp>
        <p:nvSpPr>
          <p:cNvPr id="78" name="TextBox 78"/>
          <p:cNvSpPr txBox="1"/>
          <p:nvPr/>
        </p:nvSpPr>
        <p:spPr>
          <a:xfrm>
            <a:off x="476539" y="2604431"/>
            <a:ext cx="1098784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tps://www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.iw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anag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a-c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om/blog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isahay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a/4206</a:t>
            </a:r>
            <a:endParaRPr/>
          </a:p>
        </p:txBody>
      </p:sp>
      <p:sp>
        <p:nvSpPr>
          <p:cNvPr id="79" name="TextBox 79"/>
          <p:cNvSpPr txBox="1"/>
          <p:nvPr/>
        </p:nvSpPr>
        <p:spPr>
          <a:xfrm>
            <a:off x="503022" y="2731530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8</a:t>
            </a:r>
            <a:endParaRPr/>
          </a:p>
        </p:txBody>
      </p:sp>
      <p:sp>
        <p:nvSpPr>
          <p:cNvPr id="80" name="TextBox 80"/>
          <p:cNvSpPr txBox="1"/>
          <p:nvPr/>
        </p:nvSpPr>
        <p:spPr>
          <a:xfrm>
            <a:off x="476539" y="2720670"/>
            <a:ext cx="2798893" cy="164268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53949"/>
              </a:lnSpc>
            </a:pP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計測情報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メールマガジン 2020/08/31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号 身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回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りの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音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 xml:space="preserve">可視化① 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セミ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鳴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き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声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と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虫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の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 xml:space="preserve">声 | 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 xml:space="preserve">ペリテック 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製品</a:t>
            </a:r>
            <a:endParaRPr/>
          </a:p>
          <a:p>
            <a:pPr algn="l">
              <a:spcBef>
                <a:spcPts val="486"/>
              </a:spcBef>
            </a:pP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販売・</a:t>
            </a:r>
            <a:r>
              <a:rPr sz="900" b="0" i="0" u="none">
                <a:solidFill>
                  <a:srgbClr val="000000"/>
                </a:solidFill>
                <a:latin typeface="Noto-Sans-CJK-JP"/>
                <a:ea typeface="Noto-Sans-CJK-JP"/>
              </a:rPr>
              <a:t>サービス</a:t>
            </a:r>
            <a:endParaRPr/>
          </a:p>
        </p:txBody>
      </p:sp>
      <p:sp>
        <p:nvSpPr>
          <p:cNvPr id="81" name="TextBox 81"/>
          <p:cNvSpPr txBox="1"/>
          <p:nvPr/>
        </p:nvSpPr>
        <p:spPr>
          <a:xfrm>
            <a:off x="476539" y="2896998"/>
            <a:ext cx="951320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tps://perit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-sales.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om/ne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ws/ne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ws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-917/</a:t>
            </a:r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503022" y="3024097"/>
            <a:ext cx="21362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9</a:t>
            </a:r>
            <a:endParaRPr/>
          </a:p>
        </p:txBody>
      </p:sp>
      <p:sp>
        <p:nvSpPr>
          <p:cNvPr id="83" name="TextBox 83"/>
          <p:cNvSpPr txBox="1"/>
          <p:nvPr/>
        </p:nvSpPr>
        <p:spPr>
          <a:xfrm>
            <a:off x="583064" y="3024097"/>
            <a:ext cx="516350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10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11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12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14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15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26</a:t>
            </a:r>
            <a:endParaRPr/>
          </a:p>
        </p:txBody>
      </p:sp>
      <p:sp>
        <p:nvSpPr>
          <p:cNvPr id="84" name="TextBox 84"/>
          <p:cNvSpPr txBox="1"/>
          <p:nvPr/>
        </p:nvSpPr>
        <p:spPr>
          <a:xfrm>
            <a:off x="1108041" y="3013236"/>
            <a:ext cx="1680709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A Music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al Ins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trument Based on a Bio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ous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tic Model of a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</a:t>
            </a:r>
            <a:endParaRPr/>
          </a:p>
        </p:txBody>
      </p:sp>
      <p:sp>
        <p:nvSpPr>
          <p:cNvPr id="85" name="TextBox 85"/>
          <p:cNvSpPr txBox="1"/>
          <p:nvPr/>
        </p:nvSpPr>
        <p:spPr>
          <a:xfrm>
            <a:off x="476539" y="3107087"/>
            <a:ext cx="2575536" cy="145967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73760"/>
              </a:lnSpc>
            </a:pPr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quod.lib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.umich.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edu/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gi/p/pod/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dod-idx/music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al-ins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trument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-b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ased-on-a-bio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ous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tic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-model-of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-a-cic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ada.pdf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?</a:t>
            </a:r>
            <a:endParaRPr/>
          </a:p>
          <a:p>
            <a:pPr algn="l">
              <a:spcBef>
                <a:spcPts val="553"/>
              </a:spcBef>
            </a:pPr>
            <a:r>
              <a:rPr sz="750" b="0" i="0" u="none">
                <a:solidFill>
                  <a:srgbClr val="5D5D5D"/>
                </a:solidFill>
                <a:latin typeface="Noto-Sans-CJK-JP"/>
              </a:rPr>
              <a:t>c=icmc;idno=bbp2372.2001.063;f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orma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t=pdf</a:t>
            </a:r>
            <a:endParaRPr/>
          </a:p>
        </p:txBody>
      </p:sp>
      <p:sp>
        <p:nvSpPr>
          <p:cNvPr id="86" name="TextBox 86"/>
          <p:cNvSpPr txBox="1"/>
          <p:nvPr/>
        </p:nvSpPr>
        <p:spPr>
          <a:xfrm>
            <a:off x="492849" y="3313805"/>
            <a:ext cx="421625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13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21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22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23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28</a:t>
            </a:r>
            <a:endParaRPr/>
          </a:p>
        </p:txBody>
      </p:sp>
      <p:sp>
        <p:nvSpPr>
          <p:cNvPr id="87" name="TextBox 87"/>
          <p:cNvSpPr txBox="1"/>
          <p:nvPr/>
        </p:nvSpPr>
        <p:spPr>
          <a:xfrm>
            <a:off x="927612" y="3302944"/>
            <a:ext cx="360841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da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a.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jssa.inf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</a:t>
            </a:r>
            <a:endParaRPr/>
          </a:p>
        </p:txBody>
      </p:sp>
      <p:sp>
        <p:nvSpPr>
          <p:cNvPr id="88" name="TextBox 88"/>
          <p:cNvSpPr txBox="1"/>
          <p:nvPr/>
        </p:nvSpPr>
        <p:spPr>
          <a:xfrm>
            <a:off x="476539" y="3396794"/>
            <a:ext cx="1302731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da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jssa.inf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o/p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aper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/2022v14n02/2.Ma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sumur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a.pdf</a:t>
            </a:r>
            <a:endParaRPr/>
          </a:p>
        </p:txBody>
      </p:sp>
      <p:sp>
        <p:nvSpPr>
          <p:cNvPr id="89" name="TextBox 89"/>
          <p:cNvSpPr txBox="1"/>
          <p:nvPr/>
        </p:nvSpPr>
        <p:spPr>
          <a:xfrm>
            <a:off x="492849" y="3523894"/>
            <a:ext cx="611076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16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17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18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19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20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24</a:t>
            </a:r>
            <a:r>
              <a:rPr sz="600" b="0" i="0" u="none">
                <a:solidFill>
                  <a:srgbClr val="333333"/>
                </a:solidFill>
                <a:latin typeface="Noto-Sans-CJK-JP"/>
              </a:rPr>
              <a:t>29</a:t>
            </a:r>
            <a:endParaRPr/>
          </a:p>
        </p:txBody>
      </p:sp>
      <p:sp>
        <p:nvSpPr>
          <p:cNvPr id="90" name="TextBox 90"/>
          <p:cNvSpPr txBox="1"/>
          <p:nvPr/>
        </p:nvSpPr>
        <p:spPr>
          <a:xfrm>
            <a:off x="1108041" y="3513033"/>
            <a:ext cx="1444344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Designing Sound - Andy 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arnell.pdf - PDF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OFFEE.C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OM</a:t>
            </a:r>
            <a:endParaRPr/>
          </a:p>
        </p:txBody>
      </p:sp>
      <p:sp>
        <p:nvSpPr>
          <p:cNvPr id="91" name="TextBox 91"/>
          <p:cNvSpPr txBox="1"/>
          <p:nvPr/>
        </p:nvSpPr>
        <p:spPr>
          <a:xfrm>
            <a:off x="476539" y="3606883"/>
            <a:ext cx="1558158" cy="6634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tps://pdf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off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ee.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om/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designing-sound-andy-f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arnellpdf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-pdf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-fr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ee.html</a:t>
            </a:r>
            <a:endParaRPr/>
          </a:p>
        </p:txBody>
      </p:sp>
      <p:sp>
        <p:nvSpPr>
          <p:cNvPr id="92" name="TextBox 92"/>
          <p:cNvSpPr txBox="1"/>
          <p:nvPr/>
        </p:nvSpPr>
        <p:spPr>
          <a:xfrm>
            <a:off x="492849" y="3733983"/>
            <a:ext cx="42724" cy="5307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600" b="0" i="0" u="none">
                <a:solidFill>
                  <a:srgbClr val="333333"/>
                </a:solidFill>
                <a:latin typeface="Noto-Sans-CJK-JP"/>
              </a:rPr>
              <a:t>25</a:t>
            </a:r>
            <a:endParaRPr/>
          </a:p>
        </p:txBody>
      </p:sp>
      <p:sp>
        <p:nvSpPr>
          <p:cNvPr id="93" name="TextBox 93"/>
          <p:cNvSpPr txBox="1"/>
          <p:nvPr/>
        </p:nvSpPr>
        <p:spPr>
          <a:xfrm>
            <a:off x="566753" y="3723122"/>
            <a:ext cx="1553173" cy="79619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000000"/>
                </a:solidFill>
                <a:latin typeface="Noto-Sans-CJK-JP"/>
              </a:rPr>
              <a:t>a model of the mechanism of sound pr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oduc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tion in cic</a:t>
            </a:r>
            <a:r>
              <a:rPr sz="900" b="0" i="0" u="none">
                <a:solidFill>
                  <a:srgbClr val="000000"/>
                </a:solidFill>
                <a:latin typeface="Noto-Sans-CJK-JP"/>
              </a:rPr>
              <a:t>adas</a:t>
            </a:r>
            <a:endParaRPr/>
          </a:p>
        </p:txBody>
      </p:sp>
      <p:sp>
        <p:nvSpPr>
          <p:cNvPr id="94" name="TextBox 94"/>
          <p:cNvSpPr txBox="1"/>
          <p:nvPr/>
        </p:nvSpPr>
        <p:spPr>
          <a:xfrm>
            <a:off x="476539" y="3816972"/>
            <a:ext cx="2735701" cy="145967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>
              <a:lnSpc>
                <a:spcPct val="173760"/>
              </a:lnSpc>
            </a:pPr>
            <a:r>
              <a:rPr sz="750" b="0" i="0" u="none">
                <a:solidFill>
                  <a:srgbClr val="5D5D5D"/>
                </a:solidFill>
                <a:latin typeface="Noto-Sans-CJK-JP"/>
              </a:rPr>
              <a:t>ht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tps://www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.semanticscholar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.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g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/p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aper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/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A-MODEL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-OF-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THE-MECHANISM-OF-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SOUND-PRODUC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TION-IN-Benne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t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-Clark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-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Y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oung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/</a:t>
            </a:r>
            <a:endParaRPr/>
          </a:p>
          <a:p>
            <a:pPr algn="l">
              <a:spcBef>
                <a:spcPts val="553"/>
              </a:spcBef>
            </a:pPr>
            <a:r>
              <a:rPr sz="750" b="0" i="0" u="none">
                <a:solidFill>
                  <a:srgbClr val="5D5D5D"/>
                </a:solidFill>
                <a:latin typeface="Noto-Sans-CJK-JP"/>
              </a:rPr>
              <a:t>7c7b0869efb30e14a78f619158679cf18e03a1f7/figur</a:t>
            </a:r>
            <a:r>
              <a:rPr sz="750" b="0" i="0" u="none">
                <a:solidFill>
                  <a:srgbClr val="5D5D5D"/>
                </a:solidFill>
                <a:latin typeface="Noto-Sans-CJK-JP"/>
              </a:rPr>
              <a:t>e/14</a:t>
            </a:r>
            <a:endParaRPr/>
          </a:p>
        </p:txBody>
      </p:sp>
      <p:sp>
        <p:nvSpPr>
          <p:cNvPr id="95" name="TextBox 95"/>
          <p:cNvSpPr txBox="1"/>
          <p:nvPr/>
        </p:nvSpPr>
        <p:spPr>
          <a:xfrm>
            <a:off x="1802683" y="4886115"/>
            <a:ext cx="33024" cy="74890"/>
          </a:xfrm>
          <a:prstGeom prst="rect">
            <a:avLst/>
          </a:prstGeom>
          <a:noFill/>
        </p:spPr>
        <p:txBody>
          <a:bodyPr wrap="square" anchor="t" anchorCtr="0" lIns="0" tIns="0" rIns="0" bIns="0"/>
          <a:lstStyle/>
          <a:p>
            <a:pPr algn="l"/>
            <a:r>
              <a:rPr sz="900" b="0" i="0" u="none">
                <a:solidFill>
                  <a:srgbClr val="6E6E6E"/>
                </a:solidFill>
                <a:latin typeface="Noto-Sans"/>
              </a:rPr>
              <a:t>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WebPptx PDF Import">
  <a:themeElements>
    <a:clrScheme name="WebPpt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ebPptx">
      <a:majorFont>
        <a:latin typeface="Calibri"/>
      </a:majorFont>
      <a:minorFont>
        <a:latin typeface="Calibri"/>
      </a:minorFont>
    </a:fontScheme>
    <a:fmtScheme name="WebPptx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Version>16.0</AppVersion>
</Properties>
</file>