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charts/chart1.xml" ContentType="application/vnd.openxmlformats-officedocument.drawingml.chart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3588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rgbClr val="4f81b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19.2</c:v>
                </c:pt>
                <c:pt idx="1">
                  <c:v>21.4</c:v>
                </c:pt>
                <c:pt idx="2">
                  <c:v>16.7</c:v>
                </c:pt>
                <c:pt idx="3">
                  <c:v>23.2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rgbClr val="c0504d"/>
            </a:solidFill>
            <a:ln w="0">
              <a:noFill/>
            </a:ln>
          </c:spPr>
          <c:invertIfNegative val="0"/>
          <c:dLbls>
            <c:txPr>
              <a:bodyPr wrap="none"/>
              <a:lstStyle/>
              <a:p>
                <a:pPr>
                  <a:defRPr b="0" sz="1000" strike="noStrike" u="none">
                    <a:solidFill>
                      <a:srgbClr val="000000"/>
                    </a:solidFill>
                    <a:uFillTx/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eparator> </c:separator>
            <c:showLeaderLines val="1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categories</c:f>
              <c:strCache>
                <c:ptCount val="4"/>
                <c:pt idx="0">
                  <c:v>A</c:v>
                </c:pt>
                <c:pt idx="1">
                  <c:v>B</c:v>
                </c:pt>
                <c:pt idx="2">
                  <c:v>C</c:v>
                </c:pt>
                <c:pt idx="3">
                  <c:v>D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12.1</c:v>
                </c:pt>
                <c:pt idx="1">
                  <c:v>14.2</c:v>
                </c:pt>
                <c:pt idx="2">
                  <c:v>15.6</c:v>
                </c:pt>
                <c:pt idx="3">
                  <c:v>10.9</c:v>
                </c:pt>
              </c:numCache>
            </c:numRef>
          </c:val>
        </c:ser>
        <c:gapWidth val="150"/>
        <c:overlap val="0"/>
        <c:axId val="67325604"/>
        <c:axId val="45757946"/>
      </c:barChart>
      <c:catAx>
        <c:axId val="67325604"/>
        <c:scaling>
          <c:orientation val="minMax"/>
        </c:scaling>
        <c:delete val="0"/>
        <c:axPos val="b"/>
        <c:numFmt formatCode="[$-409]mm/dd/yyyy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45757946"/>
        <c:crosses val="autoZero"/>
        <c:auto val="1"/>
        <c:lblAlgn val="ctr"/>
        <c:lblOffset val="100"/>
        <c:noMultiLvlLbl val="0"/>
      </c:catAx>
      <c:valAx>
        <c:axId val="45757946"/>
        <c:scaling>
          <c:orientation val="minMax"/>
        </c:scaling>
        <c:delete val="0"/>
        <c:axPos val="l"/>
        <c:majorGridlines>
          <c:spPr>
            <a:ln w="9360">
              <a:solidFill>
                <a:srgbClr val="878787"/>
              </a:solidFill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9360">
            <a:solidFill>
              <a:srgbClr val="878787"/>
            </a:solidFill>
            <a:round/>
          </a:ln>
        </c:spPr>
        <c:txPr>
          <a:bodyPr/>
          <a:lstStyle/>
          <a:p>
            <a:pPr>
              <a:defRPr b="0" sz="1800" strike="noStrike" u="none">
                <a:solidFill>
                  <a:srgbClr val="000000"/>
                </a:solidFill>
                <a:uFillTx/>
                <a:latin typeface="Calibri"/>
              </a:defRPr>
            </a:pPr>
          </a:p>
        </c:txPr>
        <c:crossAx val="67325604"/>
        <c:crosses val="autoZero"/>
        <c:crossBetween val="between"/>
      </c:valAx>
      <c:spPr>
        <a:noFill/>
        <a:ln w="0">
          <a:noFill/>
        </a:ln>
      </c:spPr>
    </c:plotArea>
    <c:legend>
      <c:legendPos val="r"/>
      <c:overlay val="0"/>
      <c:spPr>
        <a:noFill/>
        <a:ln w="0">
          <a:noFill/>
        </a:ln>
      </c:spPr>
      <c:txPr>
        <a:bodyPr/>
        <a:lstStyle/>
        <a:p>
          <a:pPr>
            <a:defRPr b="0" sz="1800" strike="noStrike" u="none">
              <a:solidFill>
                <a:srgbClr val="000000"/>
              </a:solidFill>
              <a:uFillTx/>
              <a:latin typeface="Calibri"/>
            </a:defRPr>
          </a:pPr>
        </a:p>
      </c:txPr>
    </c:legend>
    <c:plotVisOnly val="1"/>
    <c:dispBlanksAs val="gap"/>
  </c:chart>
  <c:spPr>
    <a:noFill/>
    <a:ln w="0">
      <a:noFill/>
    </a:ln>
  </c:spPr>
</c:chartSpace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16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3720" y="6356160"/>
            <a:ext cx="289404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  <a:ea typeface="DejaVu Sans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2720" y="6356160"/>
            <a:ext cx="2132280" cy="363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defRPr>
            </a:lvl1pPr>
          </a:lstStyle>
          <a:p>
            <a:pPr indent="0" algn="r"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83437A3-8F99-4916-AA6C-A00CE5EE3E4D}" type="slidenum">
              <a:rPr b="0" lang="en-US" sz="1200" strike="noStrike" u="none">
                <a:solidFill>
                  <a:srgbClr val="8b8b8b"/>
                </a:solidFill>
                <a:effectLst/>
                <a:uFillTx/>
                <a:latin typeface="Calibri"/>
                <a:ea typeface="DejaVu Sans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"/>
          <p:cNvSpPr/>
          <p:nvPr/>
        </p:nvSpPr>
        <p:spPr>
          <a:xfrm>
            <a:off x="3563280" y="274680"/>
            <a:ext cx="512532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"/>
              </a:spcBef>
              <a:spcAft>
                <a:spcPts val="11"/>
              </a:spcAft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  <a:tab algn="l" pos="10972800"/>
              </a:tabLst>
            </a:pP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Calibri"/>
              </a:rPr>
              <a:t>Chart: clustered column</a:t>
            </a:r>
            <a:endParaRPr b="0" lang="en-US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" name=""/>
          <p:cNvGraphicFramePr/>
          <p:nvPr/>
        </p:nvGraphicFramePr>
        <p:xfrm>
          <a:off x="914400" y="1646280"/>
          <a:ext cx="10515600" cy="475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