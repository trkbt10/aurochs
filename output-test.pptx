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sldIdLst>
    <p:sldId id="256" r:id="rId2"/>
    <p:sldId id="257" r:id="rId3"/>
    <p:sldId id="258" r:id="rId4"/>
    <p:sldId id="259" r:id="rId5"/>
    <p:sldId id="260" r:id="rId6"/>
    <p:sldId id="261" r:id="rId7"/>
    <p:sldId id="262" r:id="rId8"/>
  </p:sldIdLst>
  <p:sldSz cx="7562850" cy="10696575"/>
  <p:defaultTextStyle>
    <a:defPPr>
      <a:defRPr sz="1800"/>
    </a:defPPr>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p:cSld>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p:spTree>
  </p:cSld>
  <p:txStyles>
    <p:titleStyle/>
    <p:body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1" name="Shape 1"/>
          <p:cNvSpPr/>
          <p:nvPr/>
        </p:nvSpPr>
        <p:spPr>
          <a:xfrm>
            <a:off x="990973" y="990973"/>
            <a:ext cx="258253" cy="258254"/>
          </a:xfrm>
          <a:custGeom>
            <a:avLst/>
            <a:gdLst/>
            <a:ahLst/>
            <a:cxnLst/>
            <a:pathLst>
              <a:path w="258253" h="258254" fill="norm" stroke="0" extrusionOk="0">
                <a:moveTo>
                  <a:pt x="0" y="0"/>
                </a:moveTo>
                <a:moveTo>
                  <a:pt x="159202" y="164250"/>
                </a:moveTo>
                <a:lnTo>
                  <a:pt x="159202" y="188784"/>
                </a:lnTo>
                <a:cubicBezTo>
                  <a:pt x="159202" y="190851"/>
                  <a:pt x="158434" y="192401"/>
                  <a:pt x="156642" y="193433"/>
                </a:cubicBezTo>
                <a:lnTo>
                  <a:pt x="107755" y="221841"/>
                </a:lnTo>
                <a:cubicBezTo>
                  <a:pt x="101099" y="225714"/>
                  <a:pt x="93166" y="227522"/>
                  <a:pt x="84976" y="227522"/>
                </a:cubicBezTo>
                <a:cubicBezTo>
                  <a:pt x="54263" y="227522"/>
                  <a:pt x="34809" y="203503"/>
                  <a:pt x="34809" y="177937"/>
                </a:cubicBezTo>
                <a:cubicBezTo>
                  <a:pt x="34809" y="176129"/>
                  <a:pt x="34809" y="174064"/>
                  <a:pt x="35066" y="171997"/>
                </a:cubicBezTo>
                <a:lnTo>
                  <a:pt x="85745" y="201955"/>
                </a:lnTo>
                <a:cubicBezTo>
                  <a:pt x="88815" y="203762"/>
                  <a:pt x="91888" y="203762"/>
                  <a:pt x="94959" y="201955"/>
                </a:cubicBezTo>
                <a:lnTo>
                  <a:pt x="159202" y="164250"/>
                </a:lnTo>
                <a:close/>
                <a:moveTo>
                  <a:pt x="45049" y="68695"/>
                </a:moveTo>
                <a:lnTo>
                  <a:pt x="45049" y="127320"/>
                </a:lnTo>
                <a:cubicBezTo>
                  <a:pt x="45049" y="130937"/>
                  <a:pt x="46585" y="133519"/>
                  <a:pt x="49656" y="135326"/>
                </a:cubicBezTo>
                <a:lnTo>
                  <a:pt x="113898" y="173032"/>
                </a:lnTo>
                <a:lnTo>
                  <a:pt x="92911" y="185170"/>
                </a:lnTo>
                <a:cubicBezTo>
                  <a:pt x="91120" y="186202"/>
                  <a:pt x="89584" y="186202"/>
                  <a:pt x="87793" y="185170"/>
                </a:cubicBezTo>
                <a:lnTo>
                  <a:pt x="38905" y="156762"/>
                </a:lnTo>
                <a:cubicBezTo>
                  <a:pt x="24827" y="148497"/>
                  <a:pt x="15358" y="130937"/>
                  <a:pt x="15358" y="113893"/>
                </a:cubicBezTo>
                <a:cubicBezTo>
                  <a:pt x="15358" y="94266"/>
                  <a:pt x="26875" y="76186"/>
                  <a:pt x="45049" y="68695"/>
                </a:cubicBezTo>
                <a:close/>
                <a:moveTo>
                  <a:pt x="174303" y="120346"/>
                </a:moveTo>
                <a:lnTo>
                  <a:pt x="195290" y="132742"/>
                </a:lnTo>
                <a:cubicBezTo>
                  <a:pt x="197082" y="133774"/>
                  <a:pt x="197850" y="135324"/>
                  <a:pt x="197850" y="137390"/>
                </a:cubicBezTo>
                <a:lnTo>
                  <a:pt x="197850" y="194206"/>
                </a:lnTo>
                <a:cubicBezTo>
                  <a:pt x="197850" y="221838"/>
                  <a:pt x="176862" y="242758"/>
                  <a:pt x="148451" y="242758"/>
                </a:cubicBezTo>
                <a:cubicBezTo>
                  <a:pt x="137700" y="242758"/>
                  <a:pt x="127720" y="239142"/>
                  <a:pt x="119271" y="232686"/>
                </a:cubicBezTo>
                <a:lnTo>
                  <a:pt x="169693" y="203244"/>
                </a:lnTo>
                <a:cubicBezTo>
                  <a:pt x="172764" y="201436"/>
                  <a:pt x="174300" y="198854"/>
                  <a:pt x="174300" y="195238"/>
                </a:cubicBezTo>
                <a:lnTo>
                  <a:pt x="174303" y="120346"/>
                </a:lnTo>
                <a:close/>
                <a:moveTo>
                  <a:pt x="129127" y="94004"/>
                </a:moveTo>
                <a:lnTo>
                  <a:pt x="159202" y="111049"/>
                </a:lnTo>
                <a:lnTo>
                  <a:pt x="159202" y="147203"/>
                </a:lnTo>
                <a:lnTo>
                  <a:pt x="129127" y="164247"/>
                </a:lnTo>
                <a:lnTo>
                  <a:pt x="99054" y="147203"/>
                </a:lnTo>
                <a:lnTo>
                  <a:pt x="99054" y="111049"/>
                </a:lnTo>
                <a:lnTo>
                  <a:pt x="129127" y="94004"/>
                </a:lnTo>
                <a:close/>
                <a:moveTo>
                  <a:pt x="109803" y="15494"/>
                </a:moveTo>
                <a:cubicBezTo>
                  <a:pt x="120554" y="15494"/>
                  <a:pt x="130533" y="19111"/>
                  <a:pt x="138982" y="25566"/>
                </a:cubicBezTo>
                <a:lnTo>
                  <a:pt x="88561" y="55009"/>
                </a:lnTo>
                <a:cubicBezTo>
                  <a:pt x="85490" y="56816"/>
                  <a:pt x="83954" y="59398"/>
                  <a:pt x="83954" y="63014"/>
                </a:cubicBezTo>
                <a:lnTo>
                  <a:pt x="83954" y="137909"/>
                </a:lnTo>
                <a:lnTo>
                  <a:pt x="62709" y="125513"/>
                </a:lnTo>
                <a:cubicBezTo>
                  <a:pt x="60918" y="124482"/>
                  <a:pt x="60150" y="122931"/>
                  <a:pt x="60150" y="120864"/>
                </a:cubicBezTo>
                <a:lnTo>
                  <a:pt x="60150" y="64049"/>
                </a:lnTo>
                <a:cubicBezTo>
                  <a:pt x="60150" y="36416"/>
                  <a:pt x="81394" y="15494"/>
                  <a:pt x="109803" y="15494"/>
                </a:cubicBezTo>
                <a:close/>
                <a:moveTo>
                  <a:pt x="170464" y="73084"/>
                </a:moveTo>
                <a:lnTo>
                  <a:pt x="219351" y="101493"/>
                </a:lnTo>
                <a:cubicBezTo>
                  <a:pt x="233430" y="109758"/>
                  <a:pt x="242898" y="127318"/>
                  <a:pt x="242898" y="144362"/>
                </a:cubicBezTo>
                <a:cubicBezTo>
                  <a:pt x="242898" y="164248"/>
                  <a:pt x="231125" y="182067"/>
                  <a:pt x="212954" y="189557"/>
                </a:cubicBezTo>
                <a:lnTo>
                  <a:pt x="212954" y="130675"/>
                </a:lnTo>
                <a:cubicBezTo>
                  <a:pt x="212954" y="127059"/>
                  <a:pt x="211417" y="124477"/>
                  <a:pt x="208346" y="122669"/>
                </a:cubicBezTo>
                <a:lnTo>
                  <a:pt x="144357" y="85224"/>
                </a:lnTo>
                <a:lnTo>
                  <a:pt x="165345" y="73084"/>
                </a:lnTo>
                <a:cubicBezTo>
                  <a:pt x="167136" y="72052"/>
                  <a:pt x="168673" y="72052"/>
                  <a:pt x="170464" y="73084"/>
                </a:cubicBezTo>
                <a:close/>
                <a:moveTo>
                  <a:pt x="173277" y="30731"/>
                </a:moveTo>
                <a:cubicBezTo>
                  <a:pt x="202200" y="30731"/>
                  <a:pt x="223445" y="52683"/>
                  <a:pt x="223445" y="79800"/>
                </a:cubicBezTo>
                <a:cubicBezTo>
                  <a:pt x="223445" y="81866"/>
                  <a:pt x="223188" y="83933"/>
                  <a:pt x="222933" y="85998"/>
                </a:cubicBezTo>
                <a:lnTo>
                  <a:pt x="172511" y="56557"/>
                </a:lnTo>
                <a:cubicBezTo>
                  <a:pt x="169441" y="54749"/>
                  <a:pt x="166368" y="54749"/>
                  <a:pt x="163297" y="56557"/>
                </a:cubicBezTo>
                <a:lnTo>
                  <a:pt x="99054" y="94002"/>
                </a:lnTo>
                <a:lnTo>
                  <a:pt x="99054" y="69468"/>
                </a:lnTo>
                <a:cubicBezTo>
                  <a:pt x="99054" y="67401"/>
                  <a:pt x="99822" y="65851"/>
                  <a:pt x="101614" y="64819"/>
                </a:cubicBezTo>
                <a:lnTo>
                  <a:pt x="150501" y="36412"/>
                </a:lnTo>
                <a:cubicBezTo>
                  <a:pt x="157156" y="32538"/>
                  <a:pt x="165088" y="30731"/>
                  <a:pt x="173277" y="30731"/>
                </a:cubicBezTo>
                <a:close/>
                <a:moveTo>
                  <a:pt x="109803" y="0"/>
                </a:moveTo>
                <a:cubicBezTo>
                  <a:pt x="78833" y="0"/>
                  <a:pt x="52983" y="22209"/>
                  <a:pt x="47094" y="51651"/>
                </a:cubicBezTo>
                <a:cubicBezTo>
                  <a:pt x="18429" y="59141"/>
                  <a:pt x="0" y="86258"/>
                  <a:pt x="0" y="113890"/>
                </a:cubicBezTo>
                <a:cubicBezTo>
                  <a:pt x="0" y="131969"/>
                  <a:pt x="7678" y="149529"/>
                  <a:pt x="21499" y="162184"/>
                </a:cubicBezTo>
                <a:cubicBezTo>
                  <a:pt x="20220" y="167608"/>
                  <a:pt x="19451" y="173032"/>
                  <a:pt x="19451" y="178452"/>
                </a:cubicBezTo>
                <a:cubicBezTo>
                  <a:pt x="19451" y="215382"/>
                  <a:pt x="49142" y="243017"/>
                  <a:pt x="83440" y="243017"/>
                </a:cubicBezTo>
                <a:cubicBezTo>
                  <a:pt x="90349" y="243017"/>
                  <a:pt x="97004" y="241985"/>
                  <a:pt x="103659" y="239660"/>
                </a:cubicBezTo>
                <a:cubicBezTo>
                  <a:pt x="115178" y="251024"/>
                  <a:pt x="131048" y="258254"/>
                  <a:pt x="148451" y="258254"/>
                </a:cubicBezTo>
                <a:cubicBezTo>
                  <a:pt x="179421" y="258254"/>
                  <a:pt x="205271" y="236046"/>
                  <a:pt x="211159" y="206604"/>
                </a:cubicBezTo>
                <a:cubicBezTo>
                  <a:pt x="239825" y="199113"/>
                  <a:pt x="258253" y="171997"/>
                  <a:pt x="258253" y="144365"/>
                </a:cubicBezTo>
                <a:cubicBezTo>
                  <a:pt x="258253" y="126286"/>
                  <a:pt x="250576" y="108726"/>
                  <a:pt x="236755" y="96071"/>
                </a:cubicBezTo>
                <a:cubicBezTo>
                  <a:pt x="238035" y="90647"/>
                  <a:pt x="238803" y="85224"/>
                  <a:pt x="238803" y="79802"/>
                </a:cubicBezTo>
                <a:cubicBezTo>
                  <a:pt x="238803" y="42872"/>
                  <a:pt x="209112" y="15237"/>
                  <a:pt x="174814" y="15237"/>
                </a:cubicBezTo>
                <a:cubicBezTo>
                  <a:pt x="167904" y="15237"/>
                  <a:pt x="161249" y="16269"/>
                  <a:pt x="154595" y="18595"/>
                </a:cubicBezTo>
                <a:cubicBezTo>
                  <a:pt x="143078" y="7231"/>
                  <a:pt x="127209" y="0"/>
                  <a:pt x="109803" y="0"/>
                </a:cubicBezTo>
                <a:close/>
              </a:path>
            </a:pathLst>
          </a:custGeom>
          <a:solidFill>
            <a:srgbClr val="000000"/>
          </a:solidFill>
        </p:spPr>
      </p:sp>
      <p:sp>
        <p:nvSpPr>
          <p:cNvPr id="2" name="Shape 2"/>
          <p:cNvSpPr/>
          <p:nvPr/>
        </p:nvSpPr>
        <p:spPr>
          <a:xfrm>
            <a:off x="990973" y="990973"/>
            <a:ext cx="525957" cy="207113"/>
          </a:xfrm>
          <a:custGeom>
            <a:avLst/>
            <a:gdLst/>
            <a:ahLst/>
            <a:cxnLst/>
            <a:pathLst>
              <a:path w="525957" h="207113" fill="norm" stroke="0" extrusionOk="0">
                <a:moveTo>
                  <a:pt x="0" y="0"/>
                </a:moveTo>
                <a:moveTo>
                  <a:pt x="455153" y="179267"/>
                </a:moveTo>
                <a:cubicBezTo>
                  <a:pt x="427522" y="179267"/>
                  <a:pt x="408311" y="158328"/>
                  <a:pt x="408311" y="129402"/>
                </a:cubicBezTo>
                <a:cubicBezTo>
                  <a:pt x="408311" y="100476"/>
                  <a:pt x="427522" y="79537"/>
                  <a:pt x="454722" y="79537"/>
                </a:cubicBezTo>
                <a:cubicBezTo>
                  <a:pt x="474581" y="79537"/>
                  <a:pt x="489908" y="91193"/>
                  <a:pt x="494440" y="105441"/>
                </a:cubicBezTo>
                <a:lnTo>
                  <a:pt x="525309" y="105441"/>
                </a:lnTo>
                <a:cubicBezTo>
                  <a:pt x="519913" y="74356"/>
                  <a:pt x="490771" y="51691"/>
                  <a:pt x="454290" y="51691"/>
                </a:cubicBezTo>
                <a:cubicBezTo>
                  <a:pt x="410469" y="51691"/>
                  <a:pt x="378305" y="86444"/>
                  <a:pt x="378305" y="129402"/>
                </a:cubicBezTo>
                <a:cubicBezTo>
                  <a:pt x="378305" y="172360"/>
                  <a:pt x="409606" y="207113"/>
                  <a:pt x="454505" y="207113"/>
                </a:cubicBezTo>
                <a:cubicBezTo>
                  <a:pt x="491634" y="207113"/>
                  <a:pt x="520129" y="184879"/>
                  <a:pt x="525957" y="153364"/>
                </a:cubicBezTo>
                <a:lnTo>
                  <a:pt x="495304" y="153364"/>
                </a:lnTo>
                <a:cubicBezTo>
                  <a:pt x="490123" y="167826"/>
                  <a:pt x="475013" y="179267"/>
                  <a:pt x="455153" y="179267"/>
                </a:cubicBezTo>
                <a:close/>
              </a:path>
            </a:pathLst>
          </a:custGeom>
          <a:solidFill>
            <a:srgbClr val="000000"/>
          </a:solidFill>
        </p:spPr>
      </p:sp>
      <p:sp>
        <p:nvSpPr>
          <p:cNvPr id="3" name="Shape 3"/>
          <p:cNvSpPr/>
          <p:nvPr/>
        </p:nvSpPr>
        <p:spPr>
          <a:xfrm>
            <a:off x="990973" y="990973"/>
            <a:ext cx="642748" cy="204956"/>
          </a:xfrm>
          <a:custGeom>
            <a:avLst/>
            <a:gdLst/>
            <a:ahLst/>
            <a:cxnLst/>
            <a:pathLst>
              <a:path w="642748" h="204956" fill="norm" stroke="0" extrusionOk="0">
                <a:moveTo>
                  <a:pt x="0" y="0"/>
                </a:moveTo>
                <a:moveTo>
                  <a:pt x="601733" y="94864"/>
                </a:moveTo>
                <a:cubicBezTo>
                  <a:pt x="587486" y="94864"/>
                  <a:pt x="576262" y="101124"/>
                  <a:pt x="570001" y="109759"/>
                </a:cubicBezTo>
                <a:lnTo>
                  <a:pt x="570001" y="53850"/>
                </a:lnTo>
                <a:lnTo>
                  <a:pt x="541939" y="53850"/>
                </a:lnTo>
                <a:lnTo>
                  <a:pt x="541939" y="204956"/>
                </a:lnTo>
                <a:lnTo>
                  <a:pt x="570001" y="204956"/>
                </a:lnTo>
                <a:lnTo>
                  <a:pt x="570001" y="146888"/>
                </a:lnTo>
                <a:cubicBezTo>
                  <a:pt x="570001" y="130050"/>
                  <a:pt x="579068" y="119041"/>
                  <a:pt x="593747" y="119041"/>
                </a:cubicBezTo>
                <a:cubicBezTo>
                  <a:pt x="607130" y="119041"/>
                  <a:pt x="614686" y="129403"/>
                  <a:pt x="614686" y="143866"/>
                </a:cubicBezTo>
                <a:lnTo>
                  <a:pt x="614686" y="204956"/>
                </a:lnTo>
                <a:lnTo>
                  <a:pt x="642748" y="204956"/>
                </a:lnTo>
                <a:lnTo>
                  <a:pt x="642748" y="139333"/>
                </a:lnTo>
                <a:cubicBezTo>
                  <a:pt x="642748" y="112565"/>
                  <a:pt x="626343" y="94864"/>
                  <a:pt x="601733" y="94864"/>
                </a:cubicBezTo>
                <a:close/>
              </a:path>
            </a:pathLst>
          </a:custGeom>
          <a:solidFill>
            <a:srgbClr val="000000"/>
          </a:solidFill>
        </p:spPr>
      </p:sp>
      <p:sp>
        <p:nvSpPr>
          <p:cNvPr id="4" name="Shape 4"/>
          <p:cNvSpPr/>
          <p:nvPr/>
        </p:nvSpPr>
        <p:spPr>
          <a:xfrm>
            <a:off x="990973" y="990973"/>
            <a:ext cx="759308" cy="207109"/>
          </a:xfrm>
          <a:custGeom>
            <a:avLst/>
            <a:gdLst/>
            <a:ahLst/>
            <a:cxnLst/>
            <a:pathLst>
              <a:path w="759308" h="207109" fill="norm" stroke="0" extrusionOk="0">
                <a:moveTo>
                  <a:pt x="0" y="0"/>
                </a:moveTo>
                <a:moveTo>
                  <a:pt x="757796" y="134578"/>
                </a:moveTo>
                <a:cubicBezTo>
                  <a:pt x="757796" y="109969"/>
                  <a:pt x="740959" y="94858"/>
                  <a:pt x="709874" y="94858"/>
                </a:cubicBezTo>
                <a:cubicBezTo>
                  <a:pt x="684402" y="94858"/>
                  <a:pt x="664111" y="109105"/>
                  <a:pt x="660657" y="129829"/>
                </a:cubicBezTo>
                <a:lnTo>
                  <a:pt x="688935" y="129829"/>
                </a:lnTo>
                <a:cubicBezTo>
                  <a:pt x="691094" y="122705"/>
                  <a:pt x="698865" y="117092"/>
                  <a:pt x="709659" y="117092"/>
                </a:cubicBezTo>
                <a:cubicBezTo>
                  <a:pt x="723690" y="117092"/>
                  <a:pt x="730382" y="124432"/>
                  <a:pt x="730382" y="137168"/>
                </a:cubicBezTo>
                <a:lnTo>
                  <a:pt x="730382" y="137816"/>
                </a:lnTo>
                <a:lnTo>
                  <a:pt x="702967" y="140190"/>
                </a:lnTo>
                <a:cubicBezTo>
                  <a:pt x="674256" y="142565"/>
                  <a:pt x="658283" y="154221"/>
                  <a:pt x="658283" y="176240"/>
                </a:cubicBezTo>
                <a:cubicBezTo>
                  <a:pt x="658283" y="194804"/>
                  <a:pt x="674256" y="207109"/>
                  <a:pt x="696490" y="207109"/>
                </a:cubicBezTo>
                <a:cubicBezTo>
                  <a:pt x="711386" y="207109"/>
                  <a:pt x="725849" y="201280"/>
                  <a:pt x="731893" y="191567"/>
                </a:cubicBezTo>
                <a:cubicBezTo>
                  <a:pt x="731893" y="196316"/>
                  <a:pt x="732325" y="200633"/>
                  <a:pt x="733188" y="204950"/>
                </a:cubicBezTo>
                <a:lnTo>
                  <a:pt x="759308" y="204950"/>
                </a:lnTo>
                <a:cubicBezTo>
                  <a:pt x="758229" y="198042"/>
                  <a:pt x="757796" y="190055"/>
                  <a:pt x="757796" y="180773"/>
                </a:cubicBezTo>
                <a:lnTo>
                  <a:pt x="757796" y="134578"/>
                </a:lnTo>
                <a:close/>
                <a:moveTo>
                  <a:pt x="730382" y="160266"/>
                </a:moveTo>
                <a:cubicBezTo>
                  <a:pt x="730382" y="173002"/>
                  <a:pt x="720884" y="185953"/>
                  <a:pt x="701672" y="185953"/>
                </a:cubicBezTo>
                <a:cubicBezTo>
                  <a:pt x="691310" y="185953"/>
                  <a:pt x="685697" y="180989"/>
                  <a:pt x="685697" y="173649"/>
                </a:cubicBezTo>
                <a:cubicBezTo>
                  <a:pt x="685697" y="165662"/>
                  <a:pt x="691094" y="160698"/>
                  <a:pt x="703182" y="159618"/>
                </a:cubicBezTo>
                <a:lnTo>
                  <a:pt x="730382" y="157244"/>
                </a:lnTo>
                <a:lnTo>
                  <a:pt x="730382" y="160266"/>
                </a:lnTo>
                <a:close/>
              </a:path>
            </a:pathLst>
          </a:custGeom>
          <a:solidFill>
            <a:srgbClr val="000000"/>
          </a:solidFill>
        </p:spPr>
      </p:sp>
      <p:sp>
        <p:nvSpPr>
          <p:cNvPr id="5" name="Shape 5"/>
          <p:cNvSpPr/>
          <p:nvPr/>
        </p:nvSpPr>
        <p:spPr>
          <a:xfrm>
            <a:off x="990973" y="990973"/>
            <a:ext cx="844367" cy="204960"/>
          </a:xfrm>
          <a:custGeom>
            <a:avLst/>
            <a:gdLst/>
            <a:ahLst/>
            <a:cxnLst/>
            <a:pathLst>
              <a:path w="844367" h="204960" fill="norm" stroke="0" extrusionOk="0">
                <a:moveTo>
                  <a:pt x="0" y="0"/>
                </a:moveTo>
                <a:moveTo>
                  <a:pt x="816736" y="62057"/>
                </a:moveTo>
                <a:lnTo>
                  <a:pt x="788674" y="62057"/>
                </a:lnTo>
                <a:lnTo>
                  <a:pt x="788674" y="97028"/>
                </a:lnTo>
                <a:lnTo>
                  <a:pt x="766224" y="97028"/>
                </a:lnTo>
                <a:lnTo>
                  <a:pt x="766224" y="119693"/>
                </a:lnTo>
                <a:lnTo>
                  <a:pt x="788674" y="119693"/>
                </a:lnTo>
                <a:lnTo>
                  <a:pt x="788674" y="172796"/>
                </a:lnTo>
                <a:cubicBezTo>
                  <a:pt x="788674" y="193304"/>
                  <a:pt x="799251" y="204960"/>
                  <a:pt x="821917" y="204960"/>
                </a:cubicBezTo>
                <a:lnTo>
                  <a:pt x="844367" y="204960"/>
                </a:lnTo>
                <a:lnTo>
                  <a:pt x="844367" y="181647"/>
                </a:lnTo>
                <a:lnTo>
                  <a:pt x="830120" y="181647"/>
                </a:lnTo>
                <a:cubicBezTo>
                  <a:pt x="820622" y="181647"/>
                  <a:pt x="816736" y="178409"/>
                  <a:pt x="816736" y="169558"/>
                </a:cubicBezTo>
                <a:lnTo>
                  <a:pt x="816736" y="119693"/>
                </a:lnTo>
                <a:lnTo>
                  <a:pt x="844367" y="119693"/>
                </a:lnTo>
                <a:lnTo>
                  <a:pt x="844367" y="97028"/>
                </a:lnTo>
                <a:lnTo>
                  <a:pt x="816736" y="97028"/>
                </a:lnTo>
                <a:lnTo>
                  <a:pt x="816736" y="62057"/>
                </a:lnTo>
                <a:close/>
              </a:path>
            </a:pathLst>
          </a:custGeom>
          <a:solidFill>
            <a:srgbClr val="000000"/>
          </a:solidFill>
        </p:spPr>
      </p:sp>
      <p:sp>
        <p:nvSpPr>
          <p:cNvPr id="6" name="Shape 6"/>
          <p:cNvSpPr/>
          <p:nvPr/>
        </p:nvSpPr>
        <p:spPr>
          <a:xfrm>
            <a:off x="990973" y="990973"/>
            <a:ext cx="1003018" cy="207113"/>
          </a:xfrm>
          <a:custGeom>
            <a:avLst/>
            <a:gdLst/>
            <a:ahLst/>
            <a:cxnLst/>
            <a:pathLst>
              <a:path w="1003018" h="207113" fill="norm" stroke="0" extrusionOk="0">
                <a:moveTo>
                  <a:pt x="0" y="0"/>
                </a:moveTo>
                <a:moveTo>
                  <a:pt x="983808" y="124221"/>
                </a:moveTo>
                <a:lnTo>
                  <a:pt x="935451" y="124221"/>
                </a:lnTo>
                <a:lnTo>
                  <a:pt x="935451" y="148398"/>
                </a:lnTo>
                <a:lnTo>
                  <a:pt x="976681" y="148398"/>
                </a:lnTo>
                <a:cubicBezTo>
                  <a:pt x="973879" y="168474"/>
                  <a:pt x="955098" y="180562"/>
                  <a:pt x="934156" y="180562"/>
                </a:cubicBezTo>
                <a:cubicBezTo>
                  <a:pt x="903935" y="180562"/>
                  <a:pt x="886234" y="158328"/>
                  <a:pt x="886234" y="129402"/>
                </a:cubicBezTo>
                <a:cubicBezTo>
                  <a:pt x="886234" y="100476"/>
                  <a:pt x="906094" y="79321"/>
                  <a:pt x="933293" y="79321"/>
                </a:cubicBezTo>
                <a:cubicBezTo>
                  <a:pt x="951857" y="79321"/>
                  <a:pt x="966971" y="90115"/>
                  <a:pt x="970859" y="102203"/>
                </a:cubicBezTo>
                <a:lnTo>
                  <a:pt x="1001722" y="102203"/>
                </a:lnTo>
                <a:cubicBezTo>
                  <a:pt x="995890" y="72197"/>
                  <a:pt x="968267" y="51691"/>
                  <a:pt x="932861" y="51691"/>
                </a:cubicBezTo>
                <a:cubicBezTo>
                  <a:pt x="889256" y="51691"/>
                  <a:pt x="856876" y="86877"/>
                  <a:pt x="856876" y="129618"/>
                </a:cubicBezTo>
                <a:cubicBezTo>
                  <a:pt x="856876" y="172360"/>
                  <a:pt x="886666" y="207113"/>
                  <a:pt x="931134" y="207113"/>
                </a:cubicBezTo>
                <a:cubicBezTo>
                  <a:pt x="951425" y="207113"/>
                  <a:pt x="969772" y="198048"/>
                  <a:pt x="977976" y="185743"/>
                </a:cubicBezTo>
                <a:lnTo>
                  <a:pt x="977976" y="204955"/>
                </a:lnTo>
                <a:lnTo>
                  <a:pt x="1003018" y="204955"/>
                </a:lnTo>
                <a:lnTo>
                  <a:pt x="1003018" y="143433"/>
                </a:lnTo>
                <a:cubicBezTo>
                  <a:pt x="1003018" y="131129"/>
                  <a:pt x="996109" y="124221"/>
                  <a:pt x="983808" y="124221"/>
                </a:cubicBezTo>
                <a:close/>
              </a:path>
            </a:pathLst>
          </a:custGeom>
          <a:solidFill>
            <a:srgbClr val="000000"/>
          </a:solidFill>
        </p:spPr>
      </p:sp>
      <p:sp>
        <p:nvSpPr>
          <p:cNvPr id="7" name="Shape 7"/>
          <p:cNvSpPr/>
          <p:nvPr/>
        </p:nvSpPr>
        <p:spPr>
          <a:xfrm>
            <a:off x="990973" y="990973"/>
            <a:ext cx="1143336" cy="204956"/>
          </a:xfrm>
          <a:custGeom>
            <a:avLst/>
            <a:gdLst/>
            <a:ahLst/>
            <a:cxnLst/>
            <a:pathLst>
              <a:path w="1143336" h="204956" fill="norm" stroke="0" extrusionOk="0">
                <a:moveTo>
                  <a:pt x="0" y="0"/>
                </a:moveTo>
                <a:moveTo>
                  <a:pt x="1092177" y="53850"/>
                </a:moveTo>
                <a:lnTo>
                  <a:pt x="1025257" y="53850"/>
                </a:lnTo>
                <a:lnTo>
                  <a:pt x="1025257" y="204956"/>
                </a:lnTo>
                <a:lnTo>
                  <a:pt x="1053748" y="204956"/>
                </a:lnTo>
                <a:lnTo>
                  <a:pt x="1053748" y="148183"/>
                </a:lnTo>
                <a:lnTo>
                  <a:pt x="1092386" y="148183"/>
                </a:lnTo>
                <a:cubicBezTo>
                  <a:pt x="1122182" y="148183"/>
                  <a:pt x="1143336" y="130698"/>
                  <a:pt x="1143336" y="101340"/>
                </a:cubicBezTo>
                <a:cubicBezTo>
                  <a:pt x="1143336" y="71982"/>
                  <a:pt x="1122182" y="53850"/>
                  <a:pt x="1092177" y="53850"/>
                </a:cubicBezTo>
                <a:close/>
                <a:moveTo>
                  <a:pt x="1090233" y="123143"/>
                </a:moveTo>
                <a:lnTo>
                  <a:pt x="1053748" y="123143"/>
                </a:lnTo>
                <a:lnTo>
                  <a:pt x="1053748" y="79753"/>
                </a:lnTo>
                <a:lnTo>
                  <a:pt x="1090233" y="79753"/>
                </a:lnTo>
                <a:cubicBezTo>
                  <a:pt x="1104907" y="79753"/>
                  <a:pt x="1114407" y="88172"/>
                  <a:pt x="1114407" y="101340"/>
                </a:cubicBezTo>
                <a:cubicBezTo>
                  <a:pt x="1114407" y="114508"/>
                  <a:pt x="1104907" y="123143"/>
                  <a:pt x="1090233" y="123143"/>
                </a:cubicBezTo>
                <a:close/>
              </a:path>
            </a:pathLst>
          </a:custGeom>
          <a:solidFill>
            <a:srgbClr val="000000"/>
          </a:solidFill>
        </p:spPr>
      </p:sp>
      <p:sp>
        <p:nvSpPr>
          <p:cNvPr id="8" name="Shape 8"/>
          <p:cNvSpPr/>
          <p:nvPr/>
        </p:nvSpPr>
        <p:spPr>
          <a:xfrm>
            <a:off x="990973" y="990973"/>
            <a:ext cx="1282348" cy="204956"/>
          </a:xfrm>
          <a:custGeom>
            <a:avLst/>
            <a:gdLst/>
            <a:ahLst/>
            <a:cxnLst/>
            <a:pathLst>
              <a:path w="1282348" h="204956" fill="norm" stroke="0" extrusionOk="0">
                <a:moveTo>
                  <a:pt x="0" y="0"/>
                </a:moveTo>
                <a:moveTo>
                  <a:pt x="1150453" y="53850"/>
                </a:moveTo>
                <a:lnTo>
                  <a:pt x="1150453" y="79753"/>
                </a:lnTo>
                <a:lnTo>
                  <a:pt x="1202051" y="79753"/>
                </a:lnTo>
                <a:lnTo>
                  <a:pt x="1202051" y="204956"/>
                </a:lnTo>
                <a:lnTo>
                  <a:pt x="1230541" y="204956"/>
                </a:lnTo>
                <a:lnTo>
                  <a:pt x="1230541" y="79753"/>
                </a:lnTo>
                <a:lnTo>
                  <a:pt x="1282348" y="79753"/>
                </a:lnTo>
                <a:lnTo>
                  <a:pt x="1282348" y="53850"/>
                </a:lnTo>
                <a:lnTo>
                  <a:pt x="1150453" y="53850"/>
                </a:lnTo>
                <a:close/>
              </a:path>
            </a:pathLst>
          </a:custGeom>
          <a:solidFill>
            <a:srgbClr val="000000"/>
          </a:solidFill>
        </p:spPr>
      </p:sp>
      <p:sp>
        <p:nvSpPr>
          <p:cNvPr id="9" name="Shape 9"/>
          <p:cNvSpPr/>
          <p:nvPr/>
        </p:nvSpPr>
        <p:spPr>
          <a:xfrm>
            <a:off x="2004940" y="3468693"/>
            <a:ext cx="152457" cy="142929"/>
          </a:xfrm>
          <a:prstGeom prst="rect">
            <a:avLst/>
          </a:prstGeom>
          <a:solidFill>
            <a:srgbClr val="EDEDED"/>
          </a:solidFill>
        </p:spPr>
      </p:sp>
      <p:sp>
        <p:nvSpPr>
          <p:cNvPr id="10" name="Shape 10"/>
          <p:cNvSpPr/>
          <p:nvPr/>
        </p:nvSpPr>
        <p:spPr>
          <a:xfrm>
            <a:off x="2214569" y="3468693"/>
            <a:ext cx="152457" cy="142929"/>
          </a:xfrm>
          <a:prstGeom prst="rect">
            <a:avLst/>
          </a:prstGeom>
          <a:solidFill>
            <a:srgbClr val="EDEDED"/>
          </a:solidFill>
        </p:spPr>
      </p:sp>
      <p:sp>
        <p:nvSpPr>
          <p:cNvPr id="11" name="Shape 11"/>
          <p:cNvSpPr/>
          <p:nvPr/>
        </p:nvSpPr>
        <p:spPr>
          <a:xfrm>
            <a:off x="2300652" y="4178324"/>
            <a:ext cx="152457" cy="142929"/>
          </a:xfrm>
          <a:prstGeom prst="rect">
            <a:avLst/>
          </a:prstGeom>
          <a:solidFill>
            <a:srgbClr val="EDEDED"/>
          </a:solidFill>
        </p:spPr>
      </p:sp>
      <p:sp>
        <p:nvSpPr>
          <p:cNvPr id="12" name="Shape 12"/>
          <p:cNvSpPr/>
          <p:nvPr/>
        </p:nvSpPr>
        <p:spPr>
          <a:xfrm>
            <a:off x="5596549" y="4354355"/>
            <a:ext cx="152457" cy="142929"/>
          </a:xfrm>
          <a:prstGeom prst="rect">
            <a:avLst/>
          </a:prstGeom>
          <a:solidFill>
            <a:srgbClr val="EDEDED"/>
          </a:solidFill>
        </p:spPr>
      </p:sp>
      <p:sp>
        <p:nvSpPr>
          <p:cNvPr id="13" name="Shape 13"/>
          <p:cNvSpPr/>
          <p:nvPr/>
        </p:nvSpPr>
        <p:spPr>
          <a:xfrm>
            <a:off x="3129677" y="4873415"/>
            <a:ext cx="152457" cy="142929"/>
          </a:xfrm>
          <a:prstGeom prst="rect">
            <a:avLst/>
          </a:prstGeom>
          <a:solidFill>
            <a:srgbClr val="EDEDED"/>
          </a:solidFill>
        </p:spPr>
      </p:sp>
      <p:sp>
        <p:nvSpPr>
          <p:cNvPr id="14" name="Shape 14"/>
          <p:cNvSpPr/>
          <p:nvPr/>
        </p:nvSpPr>
        <p:spPr>
          <a:xfrm>
            <a:off x="3339306" y="4873415"/>
            <a:ext cx="152457" cy="142929"/>
          </a:xfrm>
          <a:prstGeom prst="rect">
            <a:avLst/>
          </a:prstGeom>
          <a:solidFill>
            <a:srgbClr val="EDEDED"/>
          </a:solidFill>
        </p:spPr>
      </p:sp>
      <p:sp>
        <p:nvSpPr>
          <p:cNvPr id="15" name="Shape 15"/>
          <p:cNvSpPr/>
          <p:nvPr/>
        </p:nvSpPr>
        <p:spPr>
          <a:xfrm>
            <a:off x="6155777" y="5049445"/>
            <a:ext cx="152457" cy="142929"/>
          </a:xfrm>
          <a:prstGeom prst="rect">
            <a:avLst/>
          </a:prstGeom>
          <a:solidFill>
            <a:srgbClr val="EDEDED"/>
          </a:solidFill>
        </p:spPr>
      </p:sp>
      <p:sp>
        <p:nvSpPr>
          <p:cNvPr id="16" name="Shape 16"/>
          <p:cNvSpPr/>
          <p:nvPr/>
        </p:nvSpPr>
        <p:spPr>
          <a:xfrm>
            <a:off x="3213266" y="5396991"/>
            <a:ext cx="152457" cy="142929"/>
          </a:xfrm>
          <a:prstGeom prst="rect">
            <a:avLst/>
          </a:prstGeom>
          <a:solidFill>
            <a:srgbClr val="EDEDED"/>
          </a:solidFill>
        </p:spPr>
      </p:sp>
      <p:sp>
        <p:nvSpPr>
          <p:cNvPr id="17" name="Shape 17"/>
          <p:cNvSpPr/>
          <p:nvPr/>
        </p:nvSpPr>
        <p:spPr>
          <a:xfrm>
            <a:off x="1904293" y="5844834"/>
            <a:ext cx="3754265" cy="2953863"/>
          </a:xfrm>
          <a:custGeom>
            <a:avLst/>
            <a:gdLst/>
            <a:ahLst/>
            <a:cxnLst/>
            <a:pathLst>
              <a:path w="3754265" h="2953863" fill="norm" stroke="0" extrusionOk="0">
                <a:moveTo>
                  <a:pt x="38114" y="9529"/>
                </a:moveTo>
                <a:lnTo>
                  <a:pt x="3716150" y="9529"/>
                </a:lnTo>
                <a:cubicBezTo>
                  <a:pt x="3731873" y="9529"/>
                  <a:pt x="3744736" y="22392"/>
                  <a:pt x="3744736" y="38114"/>
                </a:cubicBezTo>
                <a:lnTo>
                  <a:pt x="3744736" y="2915749"/>
                </a:lnTo>
                <a:cubicBezTo>
                  <a:pt x="3744736" y="2931471"/>
                  <a:pt x="3731873" y="2944335"/>
                  <a:pt x="3716150" y="2944335"/>
                </a:cubicBezTo>
                <a:lnTo>
                  <a:pt x="38114" y="2944335"/>
                </a:lnTo>
                <a:cubicBezTo>
                  <a:pt x="22392" y="2944335"/>
                  <a:pt x="9529" y="2931471"/>
                  <a:pt x="9529" y="2915749"/>
                </a:cubicBezTo>
                <a:lnTo>
                  <a:pt x="9529" y="38114"/>
                </a:lnTo>
                <a:cubicBezTo>
                  <a:pt x="9529" y="22392"/>
                  <a:pt x="22392" y="9529"/>
                  <a:pt x="38114" y="9529"/>
                </a:cubicBezTo>
                <a:moveTo>
                  <a:pt x="38114" y="0"/>
                </a:moveTo>
                <a:lnTo>
                  <a:pt x="3716150" y="0"/>
                </a:lnTo>
                <a:cubicBezTo>
                  <a:pt x="3737113" y="0"/>
                  <a:pt x="3754265" y="17151"/>
                  <a:pt x="3754265" y="38114"/>
                </a:cubicBezTo>
                <a:lnTo>
                  <a:pt x="3754265" y="2915749"/>
                </a:lnTo>
                <a:cubicBezTo>
                  <a:pt x="3754265" y="2936712"/>
                  <a:pt x="3737113" y="2953863"/>
                  <a:pt x="3716150" y="2953863"/>
                </a:cubicBezTo>
                <a:lnTo>
                  <a:pt x="38114" y="2953863"/>
                </a:lnTo>
                <a:cubicBezTo>
                  <a:pt x="17151" y="2953863"/>
                  <a:pt x="0" y="2936712"/>
                  <a:pt x="0" y="2915749"/>
                </a:cubicBezTo>
                <a:lnTo>
                  <a:pt x="0" y="38114"/>
                </a:lnTo>
                <a:cubicBezTo>
                  <a:pt x="0" y="17151"/>
                  <a:pt x="17151" y="0"/>
                  <a:pt x="38114" y="0"/>
                </a:cubicBezTo>
              </a:path>
            </a:pathLst>
          </a:custGeom>
          <a:solidFill>
            <a:srgbClr val="BBBBBB"/>
          </a:solidFill>
        </p:spPr>
      </p:sp>
      <p:sp>
        <p:nvSpPr>
          <p:cNvPr id="18" name="TextBox 18"/>
          <p:cNvSpPr txBox="1"/>
          <p:nvPr/>
        </p:nvSpPr>
        <p:spPr>
          <a:xfrm>
            <a:off x="1321298" y="2950791"/>
            <a:ext cx="15336762" cy="5458379"/>
          </a:xfrm>
          <a:prstGeom prst="rect">
            <a:avLst/>
          </a:prstGeom>
          <a:noFill/>
        </p:spPr>
        <p:txBody>
          <a:bodyPr wrap="none" anchor="t" anchorCtr="0"/>
          <a:lstStyle/>
          <a:p>
            <a:pPr algn="l"/>
            <a:r>
              <a:rPr sz="2400" b="0" i="0" u="none">
                <a:solidFill>
                  <a:srgbClr val="000000"/>
                </a:solidFill>
                <a:latin typeface="XGIAKD"/>
              </a:rPr>
              <a:t xml:space="preserve">WebAudio Synthesis of Japanese Cicada Calls:Acoustic Features and ModelingAcoustic Characteristics of Major Cicada Calls (Minminzemi,Tsukutsukuboushi, Kumazemi)The calls of Japanese cicadas are remarkably loud and cover broad frequency ranges, with each speciesproducing a distinct pattern and timbre. Spectral analyses show that cicada calls are rich in highfrequencies (often several kilohertz), and different species partition the acoustic spectrum and timestructure uniquely. Below we summarize the key acoustic features of three prominent species:Minminzemi (ミンミンゼミ) – The call is famous for its “Meeen…min-min-min” pattern.Acoustically, Minminzemi’s song is intermittent and concentrated in the mid-high frequency bandaround ~3–6 kHz. Each phrase typically starts with a sustained “Meeen” (a longer pulse)followed by a series of shorter “min-min” pulses with a brief gap between them. This results ina cyclic amplitude modulation. Spectrograms show energy primarily in the few-kHz range (someharmonics can extend beyond 10 kHz), and a clear on-off envelope corresponding to thealternating long/short segments. Minminzemi’s call sounds slightly “nasal” or vowel-like,which may be due to prominent spectral bands (formant-like peaks) in its ~4–6 kHz region. Ananalysis by Sound One found the dominant frequency around 3–6 kHz, a bit lower in pitch thanthe continuous buzz of Aburazemi. The call’s intermittent nature (pauses after the “Meeen”)makes it feel less incessant than species with continuous trills. </a:t>
            </a:r>
            <a:endParaRPr/>
          </a:p>
        </p:txBody>
      </p:sp>
      <p:sp>
        <p:nvSpPr>
          <p:cNvPr id="19" name="TextBox 19"/>
          <p:cNvSpPr txBox="1"/>
          <p:nvPr/>
        </p:nvSpPr>
        <p:spPr>
          <a:xfrm>
            <a:off x="2746685" y="5836217"/>
            <a:ext cx="330324" cy="101638"/>
          </a:xfrm>
          <a:prstGeom prst="rect">
            <a:avLst/>
          </a:prstGeom>
          <a:noFill/>
        </p:spPr>
        <p:txBody>
          <a:bodyPr wrap="none" anchor="t" anchorCtr="0"/>
          <a:lstStyle/>
          <a:p>
            <a:pPr algn="l"/>
            <a:r>
              <a:rPr sz="800" b="0" i="0" u="none">
                <a:solidFill>
                  <a:srgbClr val="333333"/>
                </a:solidFill>
                <a:latin typeface="JRLKGN"/>
              </a:rPr>
              <a:t>1 2</a:t>
            </a:r>
            <a:endParaRPr/>
          </a:p>
        </p:txBody>
      </p:sp>
      <p:sp>
        <p:nvSpPr>
          <p:cNvPr id="20" name="TextBox 20"/>
          <p:cNvSpPr txBox="1"/>
          <p:nvPr/>
        </p:nvSpPr>
        <p:spPr>
          <a:xfrm>
            <a:off x="1829489" y="5267759"/>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21" name="TextBox 21"/>
          <p:cNvSpPr txBox="1"/>
          <p:nvPr/>
        </p:nvSpPr>
        <p:spPr>
          <a:xfrm>
            <a:off x="3140967" y="4890042"/>
            <a:ext cx="50819" cy="101638"/>
          </a:xfrm>
          <a:prstGeom prst="rect">
            <a:avLst/>
          </a:prstGeom>
          <a:noFill/>
        </p:spPr>
        <p:txBody>
          <a:bodyPr wrap="none" anchor="t" anchorCtr="0"/>
          <a:lstStyle/>
          <a:p>
            <a:pPr algn="l"/>
            <a:r>
              <a:rPr sz="800" b="0" i="0" u="none">
                <a:solidFill>
                  <a:srgbClr val="333333"/>
                </a:solidFill>
                <a:latin typeface="JRLKGN"/>
              </a:rPr>
              <a:t>1</a:t>
            </a:r>
            <a:endParaRPr/>
          </a:p>
        </p:txBody>
      </p:sp>
      <p:sp>
        <p:nvSpPr>
          <p:cNvPr id="22" name="TextBox 22"/>
          <p:cNvSpPr txBox="1"/>
          <p:nvPr/>
        </p:nvSpPr>
        <p:spPr>
          <a:xfrm>
            <a:off x="7535496" y="4655334"/>
            <a:ext cx="50819" cy="101638"/>
          </a:xfrm>
          <a:prstGeom prst="rect">
            <a:avLst/>
          </a:prstGeom>
          <a:noFill/>
        </p:spPr>
        <p:txBody>
          <a:bodyPr wrap="none" anchor="t" anchorCtr="0"/>
          <a:lstStyle/>
          <a:p>
            <a:pPr algn="l"/>
            <a:r>
              <a:rPr sz="800" b="0" i="0" u="none">
                <a:solidFill>
                  <a:srgbClr val="333333"/>
                </a:solidFill>
                <a:latin typeface="JRLKGN"/>
              </a:rPr>
              <a:t>1</a:t>
            </a:r>
            <a:endParaRPr/>
          </a:p>
        </p:txBody>
      </p:sp>
      <p:sp>
        <p:nvSpPr>
          <p:cNvPr id="23" name="TextBox 23"/>
          <p:cNvSpPr txBox="1"/>
          <p:nvPr/>
        </p:nvSpPr>
        <p:spPr>
          <a:xfrm>
            <a:off x="4246333" y="3963255"/>
            <a:ext cx="330324" cy="101638"/>
          </a:xfrm>
          <a:prstGeom prst="rect">
            <a:avLst/>
          </a:prstGeom>
          <a:noFill/>
        </p:spPr>
        <p:txBody>
          <a:bodyPr wrap="none" anchor="t" anchorCtr="0"/>
          <a:lstStyle/>
          <a:p>
            <a:pPr algn="l"/>
            <a:r>
              <a:rPr sz="800" b="0" i="0" u="none">
                <a:solidFill>
                  <a:srgbClr val="333333"/>
                </a:solidFill>
                <a:latin typeface="JRLKGN"/>
              </a:rPr>
              <a:t>1 3</a:t>
            </a:r>
            <a:endParaRPr/>
          </a:p>
        </p:txBody>
      </p:sp>
      <p:sp>
        <p:nvSpPr>
          <p:cNvPr id="24" name="TextBox 24"/>
          <p:cNvSpPr txBox="1"/>
          <p:nvPr/>
        </p:nvSpPr>
        <p:spPr>
          <a:xfrm>
            <a:off x="8281133" y="3728547"/>
            <a:ext cx="50819" cy="101638"/>
          </a:xfrm>
          <a:prstGeom prst="rect">
            <a:avLst/>
          </a:prstGeom>
          <a:noFill/>
        </p:spPr>
        <p:txBody>
          <a:bodyPr wrap="none" anchor="t" anchorCtr="0"/>
          <a:lstStyle/>
          <a:p>
            <a:pPr algn="l"/>
            <a:r>
              <a:rPr sz="800" b="0" i="0" u="none">
                <a:solidFill>
                  <a:srgbClr val="333333"/>
                </a:solidFill>
                <a:latin typeface="JRLKGN"/>
              </a:rPr>
              <a:t>4</a:t>
            </a:r>
            <a:endParaRPr/>
          </a:p>
        </p:txBody>
      </p:sp>
      <p:sp>
        <p:nvSpPr>
          <p:cNvPr id="25" name="TextBox 25"/>
          <p:cNvSpPr txBox="1"/>
          <p:nvPr/>
        </p:nvSpPr>
        <p:spPr>
          <a:xfrm>
            <a:off x="4357786" y="3265154"/>
            <a:ext cx="50819" cy="101638"/>
          </a:xfrm>
          <a:prstGeom prst="rect">
            <a:avLst/>
          </a:prstGeom>
          <a:noFill/>
        </p:spPr>
        <p:txBody>
          <a:bodyPr wrap="none" anchor="t" anchorCtr="0"/>
          <a:lstStyle/>
          <a:p>
            <a:pPr algn="l"/>
            <a:r>
              <a:rPr sz="800" b="0" i="0" u="none">
                <a:solidFill>
                  <a:srgbClr val="333333"/>
                </a:solidFill>
                <a:latin typeface="JRLKGN"/>
              </a:rPr>
              <a:t>1</a:t>
            </a:r>
            <a:endParaRPr/>
          </a:p>
        </p:txBody>
      </p:sp>
      <p:sp>
        <p:nvSpPr>
          <p:cNvPr id="26" name="TextBox 26"/>
          <p:cNvSpPr txBox="1"/>
          <p:nvPr/>
        </p:nvSpPr>
        <p:spPr>
          <a:xfrm>
            <a:off x="4998296" y="-3167128"/>
            <a:ext cx="76229" cy="152457"/>
          </a:xfrm>
          <a:prstGeom prst="rect">
            <a:avLst/>
          </a:prstGeom>
          <a:noFill/>
        </p:spPr>
        <p:txBody>
          <a:bodyPr wrap="none" anchor="t" anchorCtr="0"/>
          <a:lstStyle/>
          <a:p>
            <a:pPr algn="l"/>
            <a:r>
              <a:rPr sz="1200" b="0" i="0" u="none">
                <a:solidFill>
                  <a:srgbClr val="6E6E6E"/>
                </a:solidFill>
                <a:latin typeface="HUHQIP"/>
              </a:rPr>
              <a:t>1</a:t>
            </a:r>
            <a:endParaRPr/>
          </a:p>
        </p:txBody>
      </p:sp>
      <p:pic>
        <p:nvPicPr>
          <p:cNvPr id="27" name="Picture 27"/>
          <p:cNvPicPr/>
          <p:nvPr/>
        </p:nvPicPr>
        <p:blipFill>
          <a:blip r:embed="rId2"/>
          <a:srcRect l="0" t="0" r="0" b="0"/>
          <a:stretch>
            <a:fillRect/>
          </a:stretch>
        </p:blipFill>
        <p:spPr>
          <a:xfrm>
            <a:off x="1951936" y="8751054"/>
            <a:ext cx="3658979" cy="2858577"/>
          </a:xfrm>
          <a:prstGeom prst="rect">
            <a:avLst/>
          </a:prstGeom>
        </p:spPr>
      </p:pic>
    </p:spTree>
  </p:cSld>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1" name="Shape 1"/>
          <p:cNvSpPr/>
          <p:nvPr/>
        </p:nvSpPr>
        <p:spPr>
          <a:xfrm>
            <a:off x="4339687" y="1271818"/>
            <a:ext cx="152457" cy="142929"/>
          </a:xfrm>
          <a:prstGeom prst="rect">
            <a:avLst/>
          </a:prstGeom>
          <a:solidFill>
            <a:srgbClr val="EDEDED"/>
          </a:solidFill>
        </p:spPr>
      </p:sp>
      <p:sp>
        <p:nvSpPr>
          <p:cNvPr id="2" name="Shape 2"/>
          <p:cNvSpPr/>
          <p:nvPr/>
        </p:nvSpPr>
        <p:spPr>
          <a:xfrm>
            <a:off x="4549316" y="1271818"/>
            <a:ext cx="152457" cy="142929"/>
          </a:xfrm>
          <a:prstGeom prst="rect">
            <a:avLst/>
          </a:prstGeom>
          <a:solidFill>
            <a:srgbClr val="EDEDED"/>
          </a:solidFill>
        </p:spPr>
      </p:sp>
      <p:sp>
        <p:nvSpPr>
          <p:cNvPr id="3" name="Shape 3"/>
          <p:cNvSpPr/>
          <p:nvPr/>
        </p:nvSpPr>
        <p:spPr>
          <a:xfrm>
            <a:off x="1674492" y="2152965"/>
            <a:ext cx="152457" cy="142929"/>
          </a:xfrm>
          <a:prstGeom prst="rect">
            <a:avLst/>
          </a:prstGeom>
          <a:solidFill>
            <a:srgbClr val="EDEDED"/>
          </a:solidFill>
        </p:spPr>
      </p:sp>
      <p:sp>
        <p:nvSpPr>
          <p:cNvPr id="4" name="Shape 4"/>
          <p:cNvSpPr/>
          <p:nvPr/>
        </p:nvSpPr>
        <p:spPr>
          <a:xfrm>
            <a:off x="5947125" y="2328995"/>
            <a:ext cx="152457" cy="142929"/>
          </a:xfrm>
          <a:prstGeom prst="rect">
            <a:avLst/>
          </a:prstGeom>
          <a:solidFill>
            <a:srgbClr val="EDEDED"/>
          </a:solidFill>
        </p:spPr>
      </p:sp>
      <p:sp>
        <p:nvSpPr>
          <p:cNvPr id="5" name="Shape 5"/>
          <p:cNvSpPr/>
          <p:nvPr/>
        </p:nvSpPr>
        <p:spPr>
          <a:xfrm>
            <a:off x="3825050" y="2676540"/>
            <a:ext cx="152457" cy="142929"/>
          </a:xfrm>
          <a:prstGeom prst="rect">
            <a:avLst/>
          </a:prstGeom>
          <a:solidFill>
            <a:srgbClr val="EDEDED"/>
          </a:solidFill>
        </p:spPr>
      </p:sp>
      <p:sp>
        <p:nvSpPr>
          <p:cNvPr id="6" name="Shape 6"/>
          <p:cNvSpPr/>
          <p:nvPr/>
        </p:nvSpPr>
        <p:spPr>
          <a:xfrm>
            <a:off x="4287922" y="3024086"/>
            <a:ext cx="152457" cy="142929"/>
          </a:xfrm>
          <a:prstGeom prst="rect">
            <a:avLst/>
          </a:prstGeom>
          <a:solidFill>
            <a:srgbClr val="EDEDED"/>
          </a:solidFill>
        </p:spPr>
      </p:sp>
      <p:sp>
        <p:nvSpPr>
          <p:cNvPr id="7" name="Shape 7"/>
          <p:cNvSpPr/>
          <p:nvPr/>
        </p:nvSpPr>
        <p:spPr>
          <a:xfrm>
            <a:off x="5914454" y="3543146"/>
            <a:ext cx="152457" cy="142929"/>
          </a:xfrm>
          <a:prstGeom prst="rect">
            <a:avLst/>
          </a:prstGeom>
          <a:solidFill>
            <a:srgbClr val="EDEDED"/>
          </a:solidFill>
        </p:spPr>
      </p:sp>
      <p:sp>
        <p:nvSpPr>
          <p:cNvPr id="8" name="Shape 8"/>
          <p:cNvSpPr/>
          <p:nvPr/>
        </p:nvSpPr>
        <p:spPr>
          <a:xfrm>
            <a:off x="4366635" y="4062205"/>
            <a:ext cx="152457" cy="142929"/>
          </a:xfrm>
          <a:prstGeom prst="rect">
            <a:avLst/>
          </a:prstGeom>
          <a:solidFill>
            <a:srgbClr val="EDEDED"/>
          </a:solidFill>
        </p:spPr>
      </p:sp>
      <p:sp>
        <p:nvSpPr>
          <p:cNvPr id="9" name="Shape 9"/>
          <p:cNvSpPr/>
          <p:nvPr/>
        </p:nvSpPr>
        <p:spPr>
          <a:xfrm>
            <a:off x="1501421" y="4510049"/>
            <a:ext cx="4560008" cy="1662404"/>
          </a:xfrm>
          <a:custGeom>
            <a:avLst/>
            <a:gdLst/>
            <a:ahLst/>
            <a:cxnLst/>
            <a:pathLst>
              <a:path w="4560008" h="1662404" fill="norm" stroke="0" extrusionOk="0">
                <a:moveTo>
                  <a:pt x="38114" y="9529"/>
                </a:moveTo>
                <a:lnTo>
                  <a:pt x="4521894" y="9529"/>
                </a:lnTo>
                <a:cubicBezTo>
                  <a:pt x="4537616" y="9529"/>
                  <a:pt x="4550480" y="22392"/>
                  <a:pt x="4550480" y="38114"/>
                </a:cubicBezTo>
                <a:lnTo>
                  <a:pt x="4550480" y="1624289"/>
                </a:lnTo>
                <a:cubicBezTo>
                  <a:pt x="4550480" y="1640011"/>
                  <a:pt x="4537616" y="1652875"/>
                  <a:pt x="4521894" y="1652875"/>
                </a:cubicBezTo>
                <a:lnTo>
                  <a:pt x="38114" y="1652875"/>
                </a:lnTo>
                <a:cubicBezTo>
                  <a:pt x="22392" y="1652875"/>
                  <a:pt x="9529" y="1640011"/>
                  <a:pt x="9529" y="1624289"/>
                </a:cubicBezTo>
                <a:lnTo>
                  <a:pt x="9529" y="38114"/>
                </a:lnTo>
                <a:cubicBezTo>
                  <a:pt x="9529" y="22392"/>
                  <a:pt x="22392" y="9529"/>
                  <a:pt x="38114" y="9529"/>
                </a:cubicBezTo>
                <a:moveTo>
                  <a:pt x="38114" y="0"/>
                </a:moveTo>
                <a:lnTo>
                  <a:pt x="4521894" y="0"/>
                </a:lnTo>
                <a:cubicBezTo>
                  <a:pt x="4542857" y="0"/>
                  <a:pt x="4560008" y="17151"/>
                  <a:pt x="4560008" y="38114"/>
                </a:cubicBezTo>
                <a:lnTo>
                  <a:pt x="4560008" y="1624289"/>
                </a:lnTo>
                <a:cubicBezTo>
                  <a:pt x="4560008" y="1645252"/>
                  <a:pt x="4542857" y="1662404"/>
                  <a:pt x="4521894" y="1662404"/>
                </a:cubicBezTo>
                <a:lnTo>
                  <a:pt x="38114" y="1662404"/>
                </a:lnTo>
                <a:cubicBezTo>
                  <a:pt x="17151" y="1662404"/>
                  <a:pt x="0" y="1645252"/>
                  <a:pt x="0" y="1624289"/>
                </a:cubicBezTo>
                <a:lnTo>
                  <a:pt x="0" y="38114"/>
                </a:lnTo>
                <a:cubicBezTo>
                  <a:pt x="0" y="17151"/>
                  <a:pt x="17151" y="0"/>
                  <a:pt x="38114" y="0"/>
                </a:cubicBezTo>
              </a:path>
            </a:pathLst>
          </a:custGeom>
          <a:solidFill>
            <a:srgbClr val="BBBBBB"/>
          </a:solidFill>
        </p:spPr>
      </p:sp>
      <p:sp>
        <p:nvSpPr>
          <p:cNvPr id="10" name="Shape 10"/>
          <p:cNvSpPr/>
          <p:nvPr/>
        </p:nvSpPr>
        <p:spPr>
          <a:xfrm>
            <a:off x="1968808" y="6815384"/>
            <a:ext cx="152457" cy="142929"/>
          </a:xfrm>
          <a:prstGeom prst="rect">
            <a:avLst/>
          </a:prstGeom>
          <a:solidFill>
            <a:srgbClr val="EDEDED"/>
          </a:solidFill>
        </p:spPr>
      </p:sp>
      <p:sp>
        <p:nvSpPr>
          <p:cNvPr id="11" name="Shape 11"/>
          <p:cNvSpPr/>
          <p:nvPr/>
        </p:nvSpPr>
        <p:spPr>
          <a:xfrm>
            <a:off x="4057523" y="7525016"/>
            <a:ext cx="152457" cy="142929"/>
          </a:xfrm>
          <a:prstGeom prst="rect">
            <a:avLst/>
          </a:prstGeom>
          <a:solidFill>
            <a:srgbClr val="EDEDED"/>
          </a:solidFill>
        </p:spPr>
      </p:sp>
      <p:sp>
        <p:nvSpPr>
          <p:cNvPr id="12" name="Shape 12"/>
          <p:cNvSpPr/>
          <p:nvPr/>
        </p:nvSpPr>
        <p:spPr>
          <a:xfrm>
            <a:off x="2715276" y="7872561"/>
            <a:ext cx="152457" cy="142929"/>
          </a:xfrm>
          <a:prstGeom prst="rect">
            <a:avLst/>
          </a:prstGeom>
          <a:solidFill>
            <a:srgbClr val="EDEDED"/>
          </a:solidFill>
        </p:spPr>
      </p:sp>
      <p:sp>
        <p:nvSpPr>
          <p:cNvPr id="13" name="Shape 13"/>
          <p:cNvSpPr/>
          <p:nvPr/>
        </p:nvSpPr>
        <p:spPr>
          <a:xfrm>
            <a:off x="1410231" y="8563135"/>
            <a:ext cx="152457" cy="142929"/>
          </a:xfrm>
          <a:prstGeom prst="rect">
            <a:avLst/>
          </a:prstGeom>
          <a:solidFill>
            <a:srgbClr val="EDEDED"/>
          </a:solidFill>
        </p:spPr>
      </p:sp>
      <p:sp>
        <p:nvSpPr>
          <p:cNvPr id="14" name="Shape 14"/>
          <p:cNvSpPr/>
          <p:nvPr/>
        </p:nvSpPr>
        <p:spPr>
          <a:xfrm>
            <a:off x="3147515" y="8910681"/>
            <a:ext cx="152457" cy="142929"/>
          </a:xfrm>
          <a:prstGeom prst="rect">
            <a:avLst/>
          </a:prstGeom>
          <a:solidFill>
            <a:srgbClr val="EDEDED"/>
          </a:solidFill>
        </p:spPr>
      </p:sp>
      <p:sp>
        <p:nvSpPr>
          <p:cNvPr id="15" name="Shape 15"/>
          <p:cNvSpPr/>
          <p:nvPr/>
        </p:nvSpPr>
        <p:spPr>
          <a:xfrm>
            <a:off x="3320295" y="9258226"/>
            <a:ext cx="152457" cy="142929"/>
          </a:xfrm>
          <a:prstGeom prst="rect">
            <a:avLst/>
          </a:prstGeom>
          <a:solidFill>
            <a:srgbClr val="EDEDED"/>
          </a:solidFill>
        </p:spPr>
      </p:sp>
      <p:sp>
        <p:nvSpPr>
          <p:cNvPr id="16" name="TextBox 16"/>
          <p:cNvSpPr txBox="1"/>
          <p:nvPr/>
        </p:nvSpPr>
        <p:spPr>
          <a:xfrm>
            <a:off x="1321298" y="-2426209"/>
            <a:ext cx="16450947" cy="11721766"/>
          </a:xfrm>
          <a:prstGeom prst="rect">
            <a:avLst/>
          </a:prstGeom>
          <a:noFill/>
        </p:spPr>
        <p:txBody>
          <a:bodyPr wrap="none" anchor="t" anchorCtr="0"/>
          <a:lstStyle/>
          <a:p>
            <a:pPr algn="l"/>
            <a:r>
              <a:rPr sz="1200" b="0" i="0" u="none">
                <a:solidFill>
                  <a:srgbClr val="000000"/>
                </a:solidFill>
                <a:latin typeface="ZOPSPQ"/>
              </a:rPr>
              <a:t xml:space="preserve">Spectrogram of a Minminzemi call. Time progresses left to right, frequency (Hz) on vertical axis. Brightbands around 4–6 kHz indicate the main energy. The repeated vertical striations show the pulsed “Meeen… min-min-min” pattern (loud segments separated by pauses).Tsukutsukuboushi (ツクツクボウシ) – This late-summer cicada produces a distinctive two-partcall often transcribed as “O-shī… tsuku-tsuku-bōshi!”. The call begins with an introductoryphrase (“ooshīn, tsuku-tsuku…”) and then “tsuku ryōshi” finale, during which the pitch notably rises. Acoustically, Tsukutsukuboushi’s call covers an exceptionally wide frequency span – oneanalysis found significant energy from about 1.7 kHz up to 15 kHz during a single call. Thedominant frequency is around ~6.3 kHz on average, but the spectro-temporal pattern clearlysweeps upward in pitch as the call progresses. In other words, the early part of the callcontains more low-frequency energy (around a couple kHz) and the later portion adds more high-frequency components (well into the ultrasonic range). This corresponds to the perceptualchange from the “tsuku-tsuku…” part to the high-pitched “...bōshi!” part. The transition infrequency content is so pronounced that young people with good high-frequency hearing mayperceive parts of the call that older listeners cannot (since energy extends to ~15 kHz). Thetime structure is also complex; unlike other cicadas, Tsukutsukuboushi’s song has a mid-callmodulation (a “key change”) which is biologically significant – experiments show male cicadasrespond differently to the first vs. second part of the call. Overall, its call is rhythmic and “mysterious”, starting low and ending in an intense, high-pitched crescendo.Spectrogram of a Tsukutsukuboushi call. The frequency content spans from ~1–2 kHz (green-yellowregions at the beginning) up to ~15 kHz (bright red band toward the end). The upward shift in dominantfrequency (from ~1.7 kHz early to ~6–15 kHz later) is clearly visible, corresponding to the call’s pitch risingin the second half. Such broad frequency coverage and changing pitch are unique to this species.Kumazemi (クマゼミ) – The largest cicada (often called the “bear cicada”) has an extremely loud,piercing buzz “SHAaAA…SHAaAA…”. Its call is characterized by a continuous, relativelyunmodulated roar compared to the above species. In terms of spectrum, Kumazemi producesstrong energy in the range of roughly 2 kHz up to 10 kHz, which is exactly the range where humanhearing is most sensitive. This is why its chorus sounds so overpowering. Unlike Minminzemior Tsukutsukuboushi, the Kumazemi’s sound has less obvious rhythmic segmentation or pitchchange; it’s more of a steady “shaaa” that may repeat with short pauses. Acoustic measurementsconfirm Kumazemi’s call is broadly spread across frequencies (nearly uniform from ~2–10 kHz), without the distinct low vs. high-band partition seen in some other cicadas. There may betwo gentle spectral peaks (one in the mid (~4–6 kHz) and another in upper (~8–10 kHz) ranges),but overall it’s a wideband “hiss”. Temporally, Kumazemi calls can have a fast cycle: the insectmight produce bursts or pulses at a high repetition rate (dozens of pulses per second), which fuseinto a continuous buzzing sensation. One observation noted that Kumazemi lacks thedramatic rise or dynamic changes of Aburazemi or Minminzemi; instead it calls in a steadyrhythm (often transcribed “shuwa-shuwa-shuwa…”) that, while extremely loud, is rather </a:t>
            </a:r>
            <a:endParaRPr/>
          </a:p>
        </p:txBody>
      </p:sp>
      <p:sp>
        <p:nvSpPr>
          <p:cNvPr id="17" name="TextBox 17"/>
          <p:cNvSpPr txBox="1"/>
          <p:nvPr/>
        </p:nvSpPr>
        <p:spPr>
          <a:xfrm>
            <a:off x="5859680" y="8765383"/>
            <a:ext cx="330324" cy="101638"/>
          </a:xfrm>
          <a:prstGeom prst="rect">
            <a:avLst/>
          </a:prstGeom>
          <a:noFill/>
        </p:spPr>
        <p:txBody>
          <a:bodyPr wrap="none" anchor="t" anchorCtr="0"/>
          <a:lstStyle/>
          <a:p>
            <a:pPr algn="l"/>
            <a:r>
              <a:rPr sz="800" b="0" i="0" u="none">
                <a:solidFill>
                  <a:srgbClr val="333333"/>
                </a:solidFill>
                <a:latin typeface="ZOPSPQ"/>
              </a:rPr>
              <a:t>1 3</a:t>
            </a:r>
            <a:endParaRPr/>
          </a:p>
        </p:txBody>
      </p:sp>
      <p:sp>
        <p:nvSpPr>
          <p:cNvPr id="18" name="TextBox 18"/>
          <p:cNvSpPr txBox="1"/>
          <p:nvPr/>
        </p:nvSpPr>
        <p:spPr>
          <a:xfrm>
            <a:off x="1829489" y="8196924"/>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19" name="TextBox 19"/>
          <p:cNvSpPr txBox="1"/>
          <p:nvPr/>
        </p:nvSpPr>
        <p:spPr>
          <a:xfrm>
            <a:off x="2306086" y="7590521"/>
            <a:ext cx="50819" cy="101638"/>
          </a:xfrm>
          <a:prstGeom prst="rect">
            <a:avLst/>
          </a:prstGeom>
          <a:noFill/>
        </p:spPr>
        <p:txBody>
          <a:bodyPr wrap="none" anchor="t" anchorCtr="0"/>
          <a:lstStyle/>
          <a:p>
            <a:pPr algn="l"/>
            <a:r>
              <a:rPr sz="800" b="0" i="0" u="none">
                <a:solidFill>
                  <a:srgbClr val="333333"/>
                </a:solidFill>
                <a:latin typeface="JRLKGN"/>
              </a:rPr>
              <a:t>5</a:t>
            </a:r>
            <a:endParaRPr/>
          </a:p>
        </p:txBody>
      </p:sp>
      <p:sp>
        <p:nvSpPr>
          <p:cNvPr id="20" name="TextBox 20"/>
          <p:cNvSpPr txBox="1"/>
          <p:nvPr/>
        </p:nvSpPr>
        <p:spPr>
          <a:xfrm>
            <a:off x="8002931" y="7355814"/>
            <a:ext cx="50819" cy="101638"/>
          </a:xfrm>
          <a:prstGeom prst="rect">
            <a:avLst/>
          </a:prstGeom>
          <a:noFill/>
        </p:spPr>
        <p:txBody>
          <a:bodyPr wrap="none" anchor="t" anchorCtr="0"/>
          <a:lstStyle/>
          <a:p>
            <a:pPr algn="l"/>
            <a:r>
              <a:rPr sz="800" b="0" i="0" u="none">
                <a:solidFill>
                  <a:srgbClr val="333333"/>
                </a:solidFill>
                <a:latin typeface="JRLKGN"/>
              </a:rPr>
              <a:t>2</a:t>
            </a:r>
            <a:endParaRPr/>
          </a:p>
        </p:txBody>
      </p:sp>
      <p:sp>
        <p:nvSpPr>
          <p:cNvPr id="21" name="TextBox 21"/>
          <p:cNvSpPr txBox="1"/>
          <p:nvPr/>
        </p:nvSpPr>
        <p:spPr>
          <a:xfrm>
            <a:off x="5173497" y="6892420"/>
            <a:ext cx="50819" cy="101638"/>
          </a:xfrm>
          <a:prstGeom prst="rect">
            <a:avLst/>
          </a:prstGeom>
          <a:noFill/>
        </p:spPr>
        <p:txBody>
          <a:bodyPr wrap="none" anchor="t" anchorCtr="0"/>
          <a:lstStyle/>
          <a:p>
            <a:pPr algn="l"/>
            <a:r>
              <a:rPr sz="800" b="0" i="0" u="none">
                <a:solidFill>
                  <a:srgbClr val="333333"/>
                </a:solidFill>
                <a:latin typeface="JRLKGN"/>
              </a:rPr>
              <a:t>2</a:t>
            </a:r>
            <a:endParaRPr/>
          </a:p>
        </p:txBody>
      </p:sp>
      <p:sp>
        <p:nvSpPr>
          <p:cNvPr id="22" name="TextBox 22"/>
          <p:cNvSpPr txBox="1"/>
          <p:nvPr/>
        </p:nvSpPr>
        <p:spPr>
          <a:xfrm>
            <a:off x="5790660" y="6429027"/>
            <a:ext cx="50819" cy="101638"/>
          </a:xfrm>
          <a:prstGeom prst="rect">
            <a:avLst/>
          </a:prstGeom>
          <a:noFill/>
        </p:spPr>
        <p:txBody>
          <a:bodyPr wrap="none" anchor="t" anchorCtr="0"/>
          <a:lstStyle/>
          <a:p>
            <a:pPr algn="l"/>
            <a:r>
              <a:rPr sz="800" b="0" i="0" u="none">
                <a:solidFill>
                  <a:srgbClr val="333333"/>
                </a:solidFill>
                <a:latin typeface="JRLKGN"/>
              </a:rPr>
              <a:t>2</a:t>
            </a:r>
            <a:endParaRPr/>
          </a:p>
        </p:txBody>
      </p:sp>
      <p:sp>
        <p:nvSpPr>
          <p:cNvPr id="23" name="TextBox 23"/>
          <p:cNvSpPr txBox="1"/>
          <p:nvPr/>
        </p:nvSpPr>
        <p:spPr>
          <a:xfrm>
            <a:off x="7959370" y="5736947"/>
            <a:ext cx="50819" cy="101638"/>
          </a:xfrm>
          <a:prstGeom prst="rect">
            <a:avLst/>
          </a:prstGeom>
          <a:noFill/>
        </p:spPr>
        <p:txBody>
          <a:bodyPr wrap="none" anchor="t" anchorCtr="0"/>
          <a:lstStyle/>
          <a:p>
            <a:pPr algn="l"/>
            <a:r>
              <a:rPr sz="800" b="0" i="0" u="none">
                <a:solidFill>
                  <a:srgbClr val="333333"/>
                </a:solidFill>
                <a:latin typeface="JRLKGN"/>
              </a:rPr>
              <a:t>2</a:t>
            </a:r>
            <a:endParaRPr/>
          </a:p>
        </p:txBody>
      </p:sp>
      <p:sp>
        <p:nvSpPr>
          <p:cNvPr id="24" name="TextBox 24"/>
          <p:cNvSpPr txBox="1"/>
          <p:nvPr/>
        </p:nvSpPr>
        <p:spPr>
          <a:xfrm>
            <a:off x="5895611" y="5044867"/>
            <a:ext cx="50819" cy="101638"/>
          </a:xfrm>
          <a:prstGeom prst="rect">
            <a:avLst/>
          </a:prstGeom>
          <a:noFill/>
        </p:spPr>
        <p:txBody>
          <a:bodyPr wrap="none" anchor="t" anchorCtr="0"/>
          <a:lstStyle/>
          <a:p>
            <a:pPr algn="l"/>
            <a:r>
              <a:rPr sz="800" b="0" i="0" u="none">
                <a:solidFill>
                  <a:srgbClr val="333333"/>
                </a:solidFill>
                <a:latin typeface="JRLKGN"/>
              </a:rPr>
              <a:t>5</a:t>
            </a:r>
            <a:endParaRPr/>
          </a:p>
        </p:txBody>
      </p:sp>
      <p:sp>
        <p:nvSpPr>
          <p:cNvPr id="25" name="TextBox 25"/>
          <p:cNvSpPr txBox="1"/>
          <p:nvPr/>
        </p:nvSpPr>
        <p:spPr>
          <a:xfrm>
            <a:off x="2698508" y="1373962"/>
            <a:ext cx="50819" cy="101638"/>
          </a:xfrm>
          <a:prstGeom prst="rect">
            <a:avLst/>
          </a:prstGeom>
          <a:noFill/>
        </p:spPr>
        <p:txBody>
          <a:bodyPr wrap="none" anchor="t" anchorCtr="0"/>
          <a:lstStyle/>
          <a:p>
            <a:pPr algn="l"/>
            <a:r>
              <a:rPr sz="800" b="0" i="0" u="none">
                <a:solidFill>
                  <a:srgbClr val="333333"/>
                </a:solidFill>
                <a:latin typeface="ZOPSPQ"/>
              </a:rPr>
              <a:t>2</a:t>
            </a:r>
            <a:endParaRPr/>
          </a:p>
        </p:txBody>
      </p:sp>
      <p:sp>
        <p:nvSpPr>
          <p:cNvPr id="26" name="TextBox 26"/>
          <p:cNvSpPr txBox="1"/>
          <p:nvPr/>
        </p:nvSpPr>
        <p:spPr>
          <a:xfrm>
            <a:off x="1829489" y="805504"/>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27" name="TextBox 27"/>
          <p:cNvSpPr txBox="1"/>
          <p:nvPr/>
        </p:nvSpPr>
        <p:spPr>
          <a:xfrm>
            <a:off x="5483462" y="427787"/>
            <a:ext cx="50819" cy="101638"/>
          </a:xfrm>
          <a:prstGeom prst="rect">
            <a:avLst/>
          </a:prstGeom>
          <a:noFill/>
        </p:spPr>
        <p:txBody>
          <a:bodyPr wrap="none" anchor="t" anchorCtr="0"/>
          <a:lstStyle/>
          <a:p>
            <a:pPr algn="l"/>
            <a:r>
              <a:rPr sz="800" b="0" i="0" u="none">
                <a:solidFill>
                  <a:srgbClr val="333333"/>
                </a:solidFill>
                <a:latin typeface="JRLKGN"/>
              </a:rPr>
              <a:t>6</a:t>
            </a:r>
            <a:endParaRPr/>
          </a:p>
        </p:txBody>
      </p:sp>
      <p:sp>
        <p:nvSpPr>
          <p:cNvPr id="28" name="TextBox 28"/>
          <p:cNvSpPr txBox="1"/>
          <p:nvPr/>
        </p:nvSpPr>
        <p:spPr>
          <a:xfrm>
            <a:off x="3693799" y="-35607"/>
            <a:ext cx="50819" cy="101638"/>
          </a:xfrm>
          <a:prstGeom prst="rect">
            <a:avLst/>
          </a:prstGeom>
          <a:noFill/>
        </p:spPr>
        <p:txBody>
          <a:bodyPr wrap="none" anchor="t" anchorCtr="0"/>
          <a:lstStyle/>
          <a:p>
            <a:pPr algn="l"/>
            <a:r>
              <a:rPr sz="800" b="0" i="0" u="none">
                <a:solidFill>
                  <a:srgbClr val="333333"/>
                </a:solidFill>
                <a:latin typeface="JRLKGN"/>
              </a:rPr>
              <a:t>7</a:t>
            </a:r>
            <a:endParaRPr/>
          </a:p>
        </p:txBody>
      </p:sp>
      <p:sp>
        <p:nvSpPr>
          <p:cNvPr id="29" name="TextBox 29"/>
          <p:cNvSpPr txBox="1"/>
          <p:nvPr/>
        </p:nvSpPr>
        <p:spPr>
          <a:xfrm>
            <a:off x="1953740" y="-956373"/>
            <a:ext cx="50819" cy="101638"/>
          </a:xfrm>
          <a:prstGeom prst="rect">
            <a:avLst/>
          </a:prstGeom>
          <a:noFill/>
        </p:spPr>
        <p:txBody>
          <a:bodyPr wrap="none" anchor="t" anchorCtr="0"/>
          <a:lstStyle/>
          <a:p>
            <a:pPr algn="l"/>
            <a:r>
              <a:rPr sz="800" b="0" i="0" u="none">
                <a:solidFill>
                  <a:srgbClr val="333333"/>
                </a:solidFill>
                <a:latin typeface="JRLKGN"/>
              </a:rPr>
              <a:t>7</a:t>
            </a:r>
            <a:endParaRPr/>
          </a:p>
        </p:txBody>
      </p:sp>
      <p:sp>
        <p:nvSpPr>
          <p:cNvPr id="30" name="TextBox 30"/>
          <p:cNvSpPr txBox="1"/>
          <p:nvPr/>
        </p:nvSpPr>
        <p:spPr>
          <a:xfrm>
            <a:off x="4270118" y="-1419766"/>
            <a:ext cx="50819" cy="101638"/>
          </a:xfrm>
          <a:prstGeom prst="rect">
            <a:avLst/>
          </a:prstGeom>
          <a:noFill/>
        </p:spPr>
        <p:txBody>
          <a:bodyPr wrap="none" anchor="t" anchorCtr="0"/>
          <a:lstStyle/>
          <a:p>
            <a:pPr algn="l"/>
            <a:r>
              <a:rPr sz="800" b="0" i="0" u="none">
                <a:solidFill>
                  <a:srgbClr val="333333"/>
                </a:solidFill>
                <a:latin typeface="JRLKGN"/>
              </a:rPr>
              <a:t>8</a:t>
            </a:r>
            <a:endParaRPr/>
          </a:p>
        </p:txBody>
      </p:sp>
      <p:sp>
        <p:nvSpPr>
          <p:cNvPr id="31" name="TextBox 31"/>
          <p:cNvSpPr txBox="1"/>
          <p:nvPr/>
        </p:nvSpPr>
        <p:spPr>
          <a:xfrm>
            <a:off x="4500491" y="-1883160"/>
            <a:ext cx="50819" cy="101638"/>
          </a:xfrm>
          <a:prstGeom prst="rect">
            <a:avLst/>
          </a:prstGeom>
          <a:noFill/>
        </p:spPr>
        <p:txBody>
          <a:bodyPr wrap="none" anchor="t" anchorCtr="0"/>
          <a:lstStyle/>
          <a:p>
            <a:pPr algn="l"/>
            <a:r>
              <a:rPr sz="800" b="0" i="0" u="none">
                <a:solidFill>
                  <a:srgbClr val="333333"/>
                </a:solidFill>
                <a:latin typeface="JRLKGN"/>
              </a:rPr>
              <a:t>6</a:t>
            </a:r>
            <a:endParaRPr/>
          </a:p>
        </p:txBody>
      </p:sp>
      <p:sp>
        <p:nvSpPr>
          <p:cNvPr id="32" name="TextBox 32"/>
          <p:cNvSpPr txBox="1"/>
          <p:nvPr/>
        </p:nvSpPr>
        <p:spPr>
          <a:xfrm>
            <a:off x="4998296" y="-3167128"/>
            <a:ext cx="76229" cy="152457"/>
          </a:xfrm>
          <a:prstGeom prst="rect">
            <a:avLst/>
          </a:prstGeom>
          <a:noFill/>
        </p:spPr>
        <p:txBody>
          <a:bodyPr wrap="none" anchor="t" anchorCtr="0"/>
          <a:lstStyle/>
          <a:p>
            <a:pPr algn="l"/>
            <a:r>
              <a:rPr sz="1200" b="0" i="0" u="none">
                <a:solidFill>
                  <a:srgbClr val="6E6E6E"/>
                </a:solidFill>
                <a:latin typeface="HUHQIP"/>
              </a:rPr>
              <a:t>2</a:t>
            </a:r>
            <a:endParaRPr/>
          </a:p>
        </p:txBody>
      </p:sp>
      <p:pic>
        <p:nvPicPr>
          <p:cNvPr id="33" name="Picture 33"/>
          <p:cNvPicPr/>
          <p:nvPr/>
        </p:nvPicPr>
        <p:blipFill>
          <a:blip r:embed="rId2"/>
          <a:srcRect l="0" t="0" r="0" b="0"/>
          <a:stretch>
            <a:fillRect/>
          </a:stretch>
        </p:blipFill>
        <p:spPr>
          <a:xfrm>
            <a:off x="1549064" y="6124810"/>
            <a:ext cx="4464722" cy="1567118"/>
          </a:xfrm>
          <a:prstGeom prst="rect">
            <a:avLst/>
          </a:prstGeom>
        </p:spPr>
      </p:pic>
    </p:spTree>
  </p:cSld>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1" name="Shape 1"/>
          <p:cNvSpPr/>
          <p:nvPr/>
        </p:nvSpPr>
        <p:spPr>
          <a:xfrm>
            <a:off x="3930841" y="928789"/>
            <a:ext cx="152457" cy="142929"/>
          </a:xfrm>
          <a:prstGeom prst="rect">
            <a:avLst/>
          </a:prstGeom>
          <a:solidFill>
            <a:srgbClr val="EDEDED"/>
          </a:solidFill>
        </p:spPr>
      </p:sp>
      <p:sp>
        <p:nvSpPr>
          <p:cNvPr id="2" name="Shape 2"/>
          <p:cNvSpPr/>
          <p:nvPr/>
        </p:nvSpPr>
        <p:spPr>
          <a:xfrm>
            <a:off x="1410231" y="1276334"/>
            <a:ext cx="152457" cy="142929"/>
          </a:xfrm>
          <a:prstGeom prst="rect">
            <a:avLst/>
          </a:prstGeom>
          <a:solidFill>
            <a:srgbClr val="EDEDED"/>
          </a:solidFill>
        </p:spPr>
      </p:sp>
      <p:sp>
        <p:nvSpPr>
          <p:cNvPr id="3" name="Shape 3"/>
          <p:cNvSpPr/>
          <p:nvPr/>
        </p:nvSpPr>
        <p:spPr>
          <a:xfrm>
            <a:off x="4712024" y="3042496"/>
            <a:ext cx="152457" cy="142929"/>
          </a:xfrm>
          <a:prstGeom prst="rect">
            <a:avLst/>
          </a:prstGeom>
          <a:solidFill>
            <a:srgbClr val="EDEDED"/>
          </a:solidFill>
        </p:spPr>
      </p:sp>
      <p:sp>
        <p:nvSpPr>
          <p:cNvPr id="4" name="Shape 4"/>
          <p:cNvSpPr/>
          <p:nvPr/>
        </p:nvSpPr>
        <p:spPr>
          <a:xfrm>
            <a:off x="4431698" y="3390041"/>
            <a:ext cx="152457" cy="142929"/>
          </a:xfrm>
          <a:prstGeom prst="rect">
            <a:avLst/>
          </a:prstGeom>
          <a:solidFill>
            <a:srgbClr val="EDEDED"/>
          </a:solidFill>
        </p:spPr>
      </p:sp>
      <p:sp>
        <p:nvSpPr>
          <p:cNvPr id="5" name="Shape 5"/>
          <p:cNvSpPr/>
          <p:nvPr/>
        </p:nvSpPr>
        <p:spPr>
          <a:xfrm>
            <a:off x="4641327" y="3390041"/>
            <a:ext cx="152457" cy="142929"/>
          </a:xfrm>
          <a:prstGeom prst="rect">
            <a:avLst/>
          </a:prstGeom>
          <a:solidFill>
            <a:srgbClr val="EDEDED"/>
          </a:solidFill>
        </p:spPr>
      </p:sp>
      <p:sp>
        <p:nvSpPr>
          <p:cNvPr id="6" name="Shape 6"/>
          <p:cNvSpPr/>
          <p:nvPr/>
        </p:nvSpPr>
        <p:spPr>
          <a:xfrm>
            <a:off x="3468529" y="3909101"/>
            <a:ext cx="152457" cy="142929"/>
          </a:xfrm>
          <a:prstGeom prst="rect">
            <a:avLst/>
          </a:prstGeom>
          <a:solidFill>
            <a:srgbClr val="EDEDED"/>
          </a:solidFill>
        </p:spPr>
      </p:sp>
      <p:sp>
        <p:nvSpPr>
          <p:cNvPr id="7" name="Shape 7"/>
          <p:cNvSpPr/>
          <p:nvPr/>
        </p:nvSpPr>
        <p:spPr>
          <a:xfrm>
            <a:off x="3678158" y="3909101"/>
            <a:ext cx="152457" cy="142929"/>
          </a:xfrm>
          <a:prstGeom prst="rect">
            <a:avLst/>
          </a:prstGeom>
          <a:solidFill>
            <a:srgbClr val="EDEDED"/>
          </a:solidFill>
        </p:spPr>
      </p:sp>
      <p:sp>
        <p:nvSpPr>
          <p:cNvPr id="8" name="Shape 8"/>
          <p:cNvSpPr/>
          <p:nvPr/>
        </p:nvSpPr>
        <p:spPr>
          <a:xfrm>
            <a:off x="3667469" y="4428161"/>
            <a:ext cx="152457" cy="142929"/>
          </a:xfrm>
          <a:prstGeom prst="rect">
            <a:avLst/>
          </a:prstGeom>
          <a:solidFill>
            <a:srgbClr val="EDEDED"/>
          </a:solidFill>
        </p:spPr>
      </p:sp>
      <p:sp>
        <p:nvSpPr>
          <p:cNvPr id="9" name="Shape 9"/>
          <p:cNvSpPr/>
          <p:nvPr/>
        </p:nvSpPr>
        <p:spPr>
          <a:xfrm>
            <a:off x="2617359" y="4947221"/>
            <a:ext cx="152457" cy="142929"/>
          </a:xfrm>
          <a:prstGeom prst="rect">
            <a:avLst/>
          </a:prstGeom>
          <a:solidFill>
            <a:srgbClr val="EDEDED"/>
          </a:solidFill>
        </p:spPr>
      </p:sp>
      <p:sp>
        <p:nvSpPr>
          <p:cNvPr id="10" name="Shape 10"/>
          <p:cNvSpPr/>
          <p:nvPr/>
        </p:nvSpPr>
        <p:spPr>
          <a:xfrm>
            <a:off x="2826988" y="4947221"/>
            <a:ext cx="152457" cy="142929"/>
          </a:xfrm>
          <a:prstGeom prst="rect">
            <a:avLst/>
          </a:prstGeom>
          <a:solidFill>
            <a:srgbClr val="EDEDED"/>
          </a:solidFill>
        </p:spPr>
      </p:sp>
      <p:sp>
        <p:nvSpPr>
          <p:cNvPr id="11" name="Shape 11"/>
          <p:cNvSpPr/>
          <p:nvPr/>
        </p:nvSpPr>
        <p:spPr>
          <a:xfrm>
            <a:off x="5426181" y="5123251"/>
            <a:ext cx="152457" cy="142929"/>
          </a:xfrm>
          <a:prstGeom prst="rect">
            <a:avLst/>
          </a:prstGeom>
          <a:solidFill>
            <a:srgbClr val="EDEDED"/>
          </a:solidFill>
        </p:spPr>
      </p:sp>
      <p:sp>
        <p:nvSpPr>
          <p:cNvPr id="12" name="Shape 12"/>
          <p:cNvSpPr/>
          <p:nvPr/>
        </p:nvSpPr>
        <p:spPr>
          <a:xfrm>
            <a:off x="3142510" y="6347427"/>
            <a:ext cx="152457" cy="142929"/>
          </a:xfrm>
          <a:prstGeom prst="rect">
            <a:avLst/>
          </a:prstGeom>
          <a:solidFill>
            <a:srgbClr val="EDEDED"/>
          </a:solidFill>
        </p:spPr>
      </p:sp>
      <p:sp>
        <p:nvSpPr>
          <p:cNvPr id="13" name="Shape 13"/>
          <p:cNvSpPr/>
          <p:nvPr/>
        </p:nvSpPr>
        <p:spPr>
          <a:xfrm>
            <a:off x="4008213" y="6694972"/>
            <a:ext cx="152457" cy="142929"/>
          </a:xfrm>
          <a:prstGeom prst="rect">
            <a:avLst/>
          </a:prstGeom>
          <a:solidFill>
            <a:srgbClr val="EDEDED"/>
          </a:solidFill>
        </p:spPr>
      </p:sp>
      <p:sp>
        <p:nvSpPr>
          <p:cNvPr id="14" name="Shape 14"/>
          <p:cNvSpPr/>
          <p:nvPr/>
        </p:nvSpPr>
        <p:spPr>
          <a:xfrm>
            <a:off x="5488107" y="7042517"/>
            <a:ext cx="152457" cy="142929"/>
          </a:xfrm>
          <a:prstGeom prst="rect">
            <a:avLst/>
          </a:prstGeom>
          <a:solidFill>
            <a:srgbClr val="EDEDED"/>
          </a:solidFill>
        </p:spPr>
      </p:sp>
      <p:sp>
        <p:nvSpPr>
          <p:cNvPr id="15" name="Shape 15"/>
          <p:cNvSpPr/>
          <p:nvPr/>
        </p:nvSpPr>
        <p:spPr>
          <a:xfrm>
            <a:off x="6067592" y="7390062"/>
            <a:ext cx="152457" cy="142929"/>
          </a:xfrm>
          <a:prstGeom prst="rect">
            <a:avLst/>
          </a:prstGeom>
          <a:solidFill>
            <a:srgbClr val="EDEDED"/>
          </a:solidFill>
        </p:spPr>
      </p:sp>
      <p:sp>
        <p:nvSpPr>
          <p:cNvPr id="16" name="Shape 16"/>
          <p:cNvSpPr/>
          <p:nvPr/>
        </p:nvSpPr>
        <p:spPr>
          <a:xfrm>
            <a:off x="5996298" y="8080637"/>
            <a:ext cx="152457" cy="142929"/>
          </a:xfrm>
          <a:prstGeom prst="rect">
            <a:avLst/>
          </a:prstGeom>
          <a:solidFill>
            <a:srgbClr val="EDEDED"/>
          </a:solidFill>
        </p:spPr>
      </p:sp>
      <p:sp>
        <p:nvSpPr>
          <p:cNvPr id="17" name="Shape 17"/>
          <p:cNvSpPr/>
          <p:nvPr/>
        </p:nvSpPr>
        <p:spPr>
          <a:xfrm>
            <a:off x="6205927" y="8080637"/>
            <a:ext cx="152457" cy="142929"/>
          </a:xfrm>
          <a:prstGeom prst="rect">
            <a:avLst/>
          </a:prstGeom>
          <a:solidFill>
            <a:srgbClr val="EDEDED"/>
          </a:solidFill>
        </p:spPr>
      </p:sp>
      <p:sp>
        <p:nvSpPr>
          <p:cNvPr id="18" name="Shape 18"/>
          <p:cNvSpPr/>
          <p:nvPr/>
        </p:nvSpPr>
        <p:spPr>
          <a:xfrm>
            <a:off x="2862024" y="8942726"/>
            <a:ext cx="152457" cy="142929"/>
          </a:xfrm>
          <a:prstGeom prst="rect">
            <a:avLst/>
          </a:prstGeom>
          <a:solidFill>
            <a:srgbClr val="EDEDED"/>
          </a:solidFill>
        </p:spPr>
      </p:sp>
      <p:sp>
        <p:nvSpPr>
          <p:cNvPr id="19" name="TextBox 19"/>
          <p:cNvSpPr txBox="1"/>
          <p:nvPr/>
        </p:nvSpPr>
        <p:spPr>
          <a:xfrm>
            <a:off x="5314553" y="9222755"/>
            <a:ext cx="50819" cy="101638"/>
          </a:xfrm>
          <a:prstGeom prst="rect">
            <a:avLst/>
          </a:prstGeom>
          <a:noFill/>
        </p:spPr>
        <p:txBody>
          <a:bodyPr wrap="none" anchor="t" anchorCtr="0"/>
          <a:lstStyle/>
          <a:p>
            <a:pPr algn="l"/>
            <a:r>
              <a:rPr sz="800" b="0" i="0" u="none">
                <a:solidFill>
                  <a:srgbClr val="333333"/>
                </a:solidFill>
                <a:latin typeface="JRLKGN"/>
              </a:rPr>
              <a:t>6</a:t>
            </a:r>
            <a:endParaRPr/>
          </a:p>
        </p:txBody>
      </p:sp>
      <p:sp>
        <p:nvSpPr>
          <p:cNvPr id="20" name="TextBox 20"/>
          <p:cNvSpPr txBox="1"/>
          <p:nvPr/>
        </p:nvSpPr>
        <p:spPr>
          <a:xfrm>
            <a:off x="1321298" y="-2234229"/>
            <a:ext cx="15518263" cy="11529786"/>
          </a:xfrm>
          <a:prstGeom prst="rect">
            <a:avLst/>
          </a:prstGeom>
          <a:noFill/>
        </p:spPr>
        <p:txBody>
          <a:bodyPr wrap="none" anchor="t" anchorCtr="0"/>
          <a:lstStyle/>
          <a:p>
            <a:pPr algn="l"/>
            <a:r>
              <a:rPr sz="1200" b="0" i="0" u="none">
                <a:solidFill>
                  <a:srgbClr val="000000"/>
                </a:solidFill>
                <a:latin typeface="ZOPSPQ"/>
              </a:rPr>
              <a:t>monotonous and “matter-of-fact” in its delivery. The short cycle and relentless repetitioncontribute to the impression of oppressive summer heat that this species’ chorus often evokes.Prior Research on Cicada Call Synthesis and ModelingResearchers have studied cicada sounds both to understand their production and to synthesize ormodel them for musical and acoustic applications. Two main approaches emerge in the literature:physical (bioacoustic) models that simulate how the insect produces sound, and signal-basedsynthesis that replicates the sound’s spectral patterns. Key studies and techniques include:Physical Modeling of Cicada Sound Mechanism: Smyth and Smith (2001) developed abioacoustic model of a cicada’s sound-producing mechanism. They identified that a cicada’ssound can be modeled with a primary resonator (the tymbal mechanism) and a secondaryresonator (the abdominal air sac) working in tandem. Their model implemented thecicada’s “dual-resonator” system: each time a timbal rib buckles (producing an impulse), it is fedinto two resonant filters – one representing the vibrating tymbal plate and another representingthe Helmholtz-like abdominal cavity. By sequentially buckling multiple ribs during onemuscle contraction, the model produces a series of impulses that excite these resonators,mimicking a natural chirp. This work resulted in The Tymbaline synthesizer, a real-time interactivecicada sound instrument in Pure Data (Pd). The physical model approach is quite detailed: forexample, parameters like the changing effective mass and frequency as each rib buckles wereincluded to simulate the slight downward shift in frequency observed during an actual cicada’srib-buckling sequence. Such models have clarified how slight adjustments in physicalparameters (spring stiffness of ribs, resonator tuning, etc.) affect the sound – valuable insightfor faithful synthesis.Signal-Based and Procedural Synthesis: In practice, directly simulating every rib click andresonance can be computationally heavy. Audio engineers like Andy Farnell have proposed moreprocedural solutions for cicada sounds. In “Designing Sound” (2010), Farnell notes that acicada’s call, being a dense cloud of rapid clicks, can be efficiently approximated using filterednoise and strategic modulation. He observed that real cicada chirps show two prominentfrequency bands (in a recorded example, about 5–6 kHz and 7–8 kHz, with a notch around ~6.5kHz) produced by the insect’s dual resonators. Instead of simulating dozens of resonantmodes explicitly, one can start with a broadband noise source and then pre-filter it to constrainmost energy into the cicada’s known frequency band (for instance, ~5–8 kHz). Farnell suggests“killing” frequencies outside the key band to avoid muddying the timbre, since extraneous low-frequency components can cause unwanted modulation artifacts in the resulting sound. Onceyou have noise shaped into the appropriate band, the rhythmic structure of the call can beimposed by amplitude modulation or gating. Farnell’s analysis of a North American cicadashowed the call consisted of rapid bursts: about 5 bursts in 0.2 s (i.e. ~25 Hz repetition) for thecoarse rhythm, with each burst containing a train of micro-clicks at ~1 kHz rate. Insynthesis, this inspired a two-tier modulation: a low-frequency oscillator or envelope to create the25 Hz chirp cadence, and a higher-frequency element to impart a slight “buzz” texture within eachchirp. His approach produced a realistic cicada by using a noise-based exciter (instead ofindividually timing dozens of clicks) fed through a couple of resonant bandpass filters to createthe dual-peaked spectrum. This is far more CPU-friendly while still sounding convincinglycicada-like. A recent study by Matsumura (2022) in Japan similarly used physical modelingsynthesis to recreate insect sounds, treating the cicada as an “organic synthesizer.” Matsumurabuilt on Farnell’s cicada patch in Pd, adjusting parameters to emulate Japanese species like</a:t>
            </a:r>
            <a:endParaRPr/>
          </a:p>
        </p:txBody>
      </p:sp>
      <p:sp>
        <p:nvSpPr>
          <p:cNvPr id="21" name="TextBox 21"/>
          <p:cNvSpPr txBox="1"/>
          <p:nvPr/>
        </p:nvSpPr>
        <p:spPr>
          <a:xfrm>
            <a:off x="1953740" y="8759362"/>
            <a:ext cx="50819" cy="101638"/>
          </a:xfrm>
          <a:prstGeom prst="rect">
            <a:avLst/>
          </a:prstGeom>
          <a:noFill/>
        </p:spPr>
        <p:txBody>
          <a:bodyPr wrap="none" anchor="t" anchorCtr="0"/>
          <a:lstStyle/>
          <a:p>
            <a:pPr algn="l"/>
            <a:r>
              <a:rPr sz="800" b="0" i="0" u="none">
                <a:solidFill>
                  <a:srgbClr val="333333"/>
                </a:solidFill>
                <a:latin typeface="JRLKGN"/>
              </a:rPr>
              <a:t>6</a:t>
            </a:r>
            <a:endParaRPr/>
          </a:p>
        </p:txBody>
      </p:sp>
      <p:sp>
        <p:nvSpPr>
          <p:cNvPr id="22" name="TextBox 22"/>
          <p:cNvSpPr txBox="1"/>
          <p:nvPr/>
        </p:nvSpPr>
        <p:spPr>
          <a:xfrm>
            <a:off x="1829489" y="6553510"/>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23" name="TextBox 23"/>
          <p:cNvSpPr txBox="1"/>
          <p:nvPr/>
        </p:nvSpPr>
        <p:spPr>
          <a:xfrm>
            <a:off x="6356130" y="6404479"/>
            <a:ext cx="50819" cy="101638"/>
          </a:xfrm>
          <a:prstGeom prst="rect">
            <a:avLst/>
          </a:prstGeom>
          <a:noFill/>
        </p:spPr>
        <p:txBody>
          <a:bodyPr wrap="none" anchor="t" anchorCtr="0"/>
          <a:lstStyle/>
          <a:p>
            <a:pPr algn="l"/>
            <a:r>
              <a:rPr sz="800" b="0" i="0" u="none">
                <a:solidFill>
                  <a:srgbClr val="333333"/>
                </a:solidFill>
                <a:latin typeface="JRLKGN"/>
              </a:rPr>
              <a:t>9</a:t>
            </a:r>
            <a:endParaRPr/>
          </a:p>
        </p:txBody>
      </p:sp>
      <p:sp>
        <p:nvSpPr>
          <p:cNvPr id="24" name="TextBox 24"/>
          <p:cNvSpPr txBox="1"/>
          <p:nvPr/>
        </p:nvSpPr>
        <p:spPr>
          <a:xfrm>
            <a:off x="5954154" y="5941086"/>
            <a:ext cx="381144" cy="101638"/>
          </a:xfrm>
          <a:prstGeom prst="rect">
            <a:avLst/>
          </a:prstGeom>
          <a:noFill/>
        </p:spPr>
        <p:txBody>
          <a:bodyPr wrap="none" anchor="t" anchorCtr="0"/>
          <a:lstStyle/>
          <a:p>
            <a:pPr algn="l"/>
            <a:r>
              <a:rPr sz="800" b="0" i="0" u="none">
                <a:solidFill>
                  <a:srgbClr val="333333"/>
                </a:solidFill>
                <a:latin typeface="JRLKGN"/>
              </a:rPr>
              <a:t>10 11</a:t>
            </a:r>
            <a:endParaRPr/>
          </a:p>
        </p:txBody>
      </p:sp>
      <p:sp>
        <p:nvSpPr>
          <p:cNvPr id="25" name="TextBox 25"/>
          <p:cNvSpPr txBox="1"/>
          <p:nvPr/>
        </p:nvSpPr>
        <p:spPr>
          <a:xfrm>
            <a:off x="4669929" y="5249006"/>
            <a:ext cx="381144" cy="101638"/>
          </a:xfrm>
          <a:prstGeom prst="rect">
            <a:avLst/>
          </a:prstGeom>
          <a:noFill/>
        </p:spPr>
        <p:txBody>
          <a:bodyPr wrap="none" anchor="t" anchorCtr="0"/>
          <a:lstStyle/>
          <a:p>
            <a:pPr algn="l"/>
            <a:r>
              <a:rPr sz="800" b="0" i="0" u="none">
                <a:solidFill>
                  <a:srgbClr val="333333"/>
                </a:solidFill>
                <a:latin typeface="JRLKGN"/>
              </a:rPr>
              <a:t>10 12</a:t>
            </a:r>
            <a:endParaRPr/>
          </a:p>
        </p:txBody>
      </p:sp>
      <p:sp>
        <p:nvSpPr>
          <p:cNvPr id="26" name="TextBox 26"/>
          <p:cNvSpPr txBox="1"/>
          <p:nvPr/>
        </p:nvSpPr>
        <p:spPr>
          <a:xfrm>
            <a:off x="4935182" y="4556926"/>
            <a:ext cx="101638" cy="101638"/>
          </a:xfrm>
          <a:prstGeom prst="rect">
            <a:avLst/>
          </a:prstGeom>
          <a:noFill/>
        </p:spPr>
        <p:txBody>
          <a:bodyPr wrap="none" anchor="t" anchorCtr="0"/>
          <a:lstStyle/>
          <a:p>
            <a:pPr algn="l"/>
            <a:r>
              <a:rPr sz="800" b="0" i="0" u="none">
                <a:solidFill>
                  <a:srgbClr val="333333"/>
                </a:solidFill>
                <a:latin typeface="JRLKGN"/>
              </a:rPr>
              <a:t>13</a:t>
            </a:r>
            <a:endParaRPr/>
          </a:p>
        </p:txBody>
      </p:sp>
      <p:sp>
        <p:nvSpPr>
          <p:cNvPr id="27" name="TextBox 27"/>
          <p:cNvSpPr txBox="1"/>
          <p:nvPr/>
        </p:nvSpPr>
        <p:spPr>
          <a:xfrm>
            <a:off x="3535036" y="3864847"/>
            <a:ext cx="381144" cy="101638"/>
          </a:xfrm>
          <a:prstGeom prst="rect">
            <a:avLst/>
          </a:prstGeom>
          <a:noFill/>
        </p:spPr>
        <p:txBody>
          <a:bodyPr wrap="none" anchor="t" anchorCtr="0"/>
          <a:lstStyle/>
          <a:p>
            <a:pPr algn="l"/>
            <a:r>
              <a:rPr sz="800" b="0" i="0" u="none">
                <a:solidFill>
                  <a:srgbClr val="333333"/>
                </a:solidFill>
                <a:latin typeface="JRLKGN"/>
              </a:rPr>
              <a:t>14 12</a:t>
            </a:r>
            <a:endParaRPr/>
          </a:p>
        </p:txBody>
      </p:sp>
      <p:sp>
        <p:nvSpPr>
          <p:cNvPr id="28" name="TextBox 28"/>
          <p:cNvSpPr txBox="1"/>
          <p:nvPr/>
        </p:nvSpPr>
        <p:spPr>
          <a:xfrm>
            <a:off x="7280132" y="3630139"/>
            <a:ext cx="101638" cy="101638"/>
          </a:xfrm>
          <a:prstGeom prst="rect">
            <a:avLst/>
          </a:prstGeom>
          <a:noFill/>
        </p:spPr>
        <p:txBody>
          <a:bodyPr wrap="none" anchor="t" anchorCtr="0"/>
          <a:lstStyle/>
          <a:p>
            <a:pPr algn="l"/>
            <a:r>
              <a:rPr sz="800" b="0" i="0" u="none">
                <a:solidFill>
                  <a:srgbClr val="333333"/>
                </a:solidFill>
                <a:latin typeface="JRLKGN"/>
              </a:rPr>
              <a:t>15</a:t>
            </a:r>
            <a:endParaRPr/>
          </a:p>
        </p:txBody>
      </p:sp>
      <p:sp>
        <p:nvSpPr>
          <p:cNvPr id="29" name="TextBox 29"/>
          <p:cNvSpPr txBox="1"/>
          <p:nvPr/>
        </p:nvSpPr>
        <p:spPr>
          <a:xfrm>
            <a:off x="1829489" y="2832994"/>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30" name="TextBox 30"/>
          <p:cNvSpPr txBox="1"/>
          <p:nvPr/>
        </p:nvSpPr>
        <p:spPr>
          <a:xfrm>
            <a:off x="4235237" y="1997905"/>
            <a:ext cx="101638" cy="101638"/>
          </a:xfrm>
          <a:prstGeom prst="rect">
            <a:avLst/>
          </a:prstGeom>
          <a:noFill/>
        </p:spPr>
        <p:txBody>
          <a:bodyPr wrap="none" anchor="t" anchorCtr="0"/>
          <a:lstStyle/>
          <a:p>
            <a:pPr algn="l"/>
            <a:r>
              <a:rPr sz="800" b="0" i="0" u="none">
                <a:solidFill>
                  <a:srgbClr val="333333"/>
                </a:solidFill>
                <a:latin typeface="JRLKGN"/>
              </a:rPr>
              <a:t>16</a:t>
            </a:r>
            <a:endParaRPr/>
          </a:p>
        </p:txBody>
      </p:sp>
      <p:sp>
        <p:nvSpPr>
          <p:cNvPr id="31" name="TextBox 31"/>
          <p:cNvSpPr txBox="1"/>
          <p:nvPr/>
        </p:nvSpPr>
        <p:spPr>
          <a:xfrm>
            <a:off x="5389507" y="1534512"/>
            <a:ext cx="101638" cy="101638"/>
          </a:xfrm>
          <a:prstGeom prst="rect">
            <a:avLst/>
          </a:prstGeom>
          <a:noFill/>
        </p:spPr>
        <p:txBody>
          <a:bodyPr wrap="none" anchor="t" anchorCtr="0"/>
          <a:lstStyle/>
          <a:p>
            <a:pPr algn="l"/>
            <a:r>
              <a:rPr sz="800" b="0" i="0" u="none">
                <a:solidFill>
                  <a:srgbClr val="333333"/>
                </a:solidFill>
                <a:latin typeface="JRLKGN"/>
              </a:rPr>
              <a:t>17</a:t>
            </a:r>
            <a:endParaRPr/>
          </a:p>
        </p:txBody>
      </p:sp>
      <p:sp>
        <p:nvSpPr>
          <p:cNvPr id="32" name="TextBox 32"/>
          <p:cNvSpPr txBox="1"/>
          <p:nvPr/>
        </p:nvSpPr>
        <p:spPr>
          <a:xfrm>
            <a:off x="7362700" y="1071118"/>
            <a:ext cx="101638" cy="101638"/>
          </a:xfrm>
          <a:prstGeom prst="rect">
            <a:avLst/>
          </a:prstGeom>
          <a:noFill/>
        </p:spPr>
        <p:txBody>
          <a:bodyPr wrap="none" anchor="t" anchorCtr="0"/>
          <a:lstStyle/>
          <a:p>
            <a:pPr algn="l"/>
            <a:r>
              <a:rPr sz="800" b="0" i="0" u="none">
                <a:solidFill>
                  <a:srgbClr val="333333"/>
                </a:solidFill>
                <a:latin typeface="JRLKGN"/>
              </a:rPr>
              <a:t>18</a:t>
            </a:r>
            <a:endParaRPr/>
          </a:p>
        </p:txBody>
      </p:sp>
      <p:sp>
        <p:nvSpPr>
          <p:cNvPr id="33" name="TextBox 33"/>
          <p:cNvSpPr txBox="1"/>
          <p:nvPr/>
        </p:nvSpPr>
        <p:spPr>
          <a:xfrm>
            <a:off x="8135347" y="607724"/>
            <a:ext cx="101638" cy="101638"/>
          </a:xfrm>
          <a:prstGeom prst="rect">
            <a:avLst/>
          </a:prstGeom>
          <a:noFill/>
        </p:spPr>
        <p:txBody>
          <a:bodyPr wrap="none" anchor="t" anchorCtr="0"/>
          <a:lstStyle/>
          <a:p>
            <a:pPr algn="l"/>
            <a:r>
              <a:rPr sz="800" b="0" i="0" u="none">
                <a:solidFill>
                  <a:srgbClr val="333333"/>
                </a:solidFill>
                <a:latin typeface="JRLKGN"/>
              </a:rPr>
              <a:t>18</a:t>
            </a:r>
            <a:endParaRPr/>
          </a:p>
        </p:txBody>
      </p:sp>
      <p:sp>
        <p:nvSpPr>
          <p:cNvPr id="34" name="TextBox 34"/>
          <p:cNvSpPr txBox="1"/>
          <p:nvPr/>
        </p:nvSpPr>
        <p:spPr>
          <a:xfrm>
            <a:off x="8040287" y="-313042"/>
            <a:ext cx="381144" cy="101638"/>
          </a:xfrm>
          <a:prstGeom prst="rect">
            <a:avLst/>
          </a:prstGeom>
          <a:noFill/>
        </p:spPr>
        <p:txBody>
          <a:bodyPr wrap="none" anchor="t" anchorCtr="0"/>
          <a:lstStyle/>
          <a:p>
            <a:pPr algn="l"/>
            <a:r>
              <a:rPr sz="800" b="0" i="0" u="none">
                <a:solidFill>
                  <a:srgbClr val="333333"/>
                </a:solidFill>
                <a:latin typeface="JRLKGN"/>
              </a:rPr>
              <a:t>19 20</a:t>
            </a:r>
            <a:endParaRPr/>
          </a:p>
        </p:txBody>
      </p:sp>
      <p:sp>
        <p:nvSpPr>
          <p:cNvPr id="35" name="TextBox 35"/>
          <p:cNvSpPr txBox="1"/>
          <p:nvPr/>
        </p:nvSpPr>
        <p:spPr>
          <a:xfrm>
            <a:off x="3861255" y="-1462494"/>
            <a:ext cx="101638" cy="101638"/>
          </a:xfrm>
          <a:prstGeom prst="rect">
            <a:avLst/>
          </a:prstGeom>
          <a:noFill/>
        </p:spPr>
        <p:txBody>
          <a:bodyPr wrap="none" anchor="t" anchorCtr="0"/>
          <a:lstStyle/>
          <a:p>
            <a:pPr algn="l"/>
            <a:r>
              <a:rPr sz="800" b="0" i="0" u="none">
                <a:solidFill>
                  <a:srgbClr val="333333"/>
                </a:solidFill>
                <a:latin typeface="JRLKGN"/>
              </a:rPr>
              <a:t>16</a:t>
            </a:r>
            <a:endParaRPr/>
          </a:p>
        </p:txBody>
      </p:sp>
      <p:sp>
        <p:nvSpPr>
          <p:cNvPr id="36" name="TextBox 36"/>
          <p:cNvSpPr txBox="1"/>
          <p:nvPr/>
        </p:nvSpPr>
        <p:spPr>
          <a:xfrm>
            <a:off x="4998296" y="-3167128"/>
            <a:ext cx="76229" cy="152457"/>
          </a:xfrm>
          <a:prstGeom prst="rect">
            <a:avLst/>
          </a:prstGeom>
          <a:noFill/>
        </p:spPr>
        <p:txBody>
          <a:bodyPr wrap="none" anchor="t" anchorCtr="0"/>
          <a:lstStyle/>
          <a:p>
            <a:pPr algn="l"/>
            <a:r>
              <a:rPr sz="1200" b="0" i="0" u="none">
                <a:solidFill>
                  <a:srgbClr val="6E6E6E"/>
                </a:solidFill>
                <a:latin typeface="HUHQIP"/>
              </a:rPr>
              <a:t>3</a:t>
            </a:r>
            <a:endParaRPr/>
          </a:p>
        </p:txBody>
      </p:sp>
    </p:spTree>
  </p:cSld>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1" name="Shape 1"/>
          <p:cNvSpPr/>
          <p:nvPr/>
        </p:nvSpPr>
        <p:spPr>
          <a:xfrm>
            <a:off x="3734456" y="928789"/>
            <a:ext cx="152457" cy="142929"/>
          </a:xfrm>
          <a:prstGeom prst="rect">
            <a:avLst/>
          </a:prstGeom>
          <a:solidFill>
            <a:srgbClr val="EDEDED"/>
          </a:solidFill>
        </p:spPr>
      </p:sp>
      <p:sp>
        <p:nvSpPr>
          <p:cNvPr id="2" name="Shape 2"/>
          <p:cNvSpPr/>
          <p:nvPr/>
        </p:nvSpPr>
        <p:spPr>
          <a:xfrm>
            <a:off x="3944085" y="928789"/>
            <a:ext cx="152457" cy="142929"/>
          </a:xfrm>
          <a:prstGeom prst="rect">
            <a:avLst/>
          </a:prstGeom>
          <a:solidFill>
            <a:srgbClr val="EDEDED"/>
          </a:solidFill>
        </p:spPr>
      </p:sp>
      <p:sp>
        <p:nvSpPr>
          <p:cNvPr id="3" name="Shape 3"/>
          <p:cNvSpPr/>
          <p:nvPr/>
        </p:nvSpPr>
        <p:spPr>
          <a:xfrm>
            <a:off x="3604149" y="1276334"/>
            <a:ext cx="152457" cy="142929"/>
          </a:xfrm>
          <a:prstGeom prst="rect">
            <a:avLst/>
          </a:prstGeom>
          <a:solidFill>
            <a:srgbClr val="EDEDED"/>
          </a:solidFill>
        </p:spPr>
      </p:sp>
      <p:sp>
        <p:nvSpPr>
          <p:cNvPr id="4" name="Shape 4"/>
          <p:cNvSpPr/>
          <p:nvPr/>
        </p:nvSpPr>
        <p:spPr>
          <a:xfrm>
            <a:off x="3813778" y="1276334"/>
            <a:ext cx="152457" cy="142929"/>
          </a:xfrm>
          <a:prstGeom prst="rect">
            <a:avLst/>
          </a:prstGeom>
          <a:solidFill>
            <a:srgbClr val="EDEDED"/>
          </a:solidFill>
        </p:spPr>
      </p:sp>
      <p:sp>
        <p:nvSpPr>
          <p:cNvPr id="5" name="Shape 5"/>
          <p:cNvSpPr/>
          <p:nvPr/>
        </p:nvSpPr>
        <p:spPr>
          <a:xfrm>
            <a:off x="3947403" y="3500440"/>
            <a:ext cx="152457" cy="142929"/>
          </a:xfrm>
          <a:prstGeom prst="rect">
            <a:avLst/>
          </a:prstGeom>
          <a:solidFill>
            <a:srgbClr val="EDEDED"/>
          </a:solidFill>
        </p:spPr>
      </p:sp>
      <p:sp>
        <p:nvSpPr>
          <p:cNvPr id="6" name="Shape 6"/>
          <p:cNvSpPr/>
          <p:nvPr/>
        </p:nvSpPr>
        <p:spPr>
          <a:xfrm>
            <a:off x="5035886" y="3847985"/>
            <a:ext cx="152457" cy="142929"/>
          </a:xfrm>
          <a:prstGeom prst="rect">
            <a:avLst/>
          </a:prstGeom>
          <a:solidFill>
            <a:srgbClr val="EDEDED"/>
          </a:solidFill>
        </p:spPr>
      </p:sp>
      <p:sp>
        <p:nvSpPr>
          <p:cNvPr id="7" name="Shape 7"/>
          <p:cNvSpPr/>
          <p:nvPr/>
        </p:nvSpPr>
        <p:spPr>
          <a:xfrm>
            <a:off x="4721203" y="4195531"/>
            <a:ext cx="152457" cy="142929"/>
          </a:xfrm>
          <a:prstGeom prst="rect">
            <a:avLst/>
          </a:prstGeom>
          <a:solidFill>
            <a:srgbClr val="EDEDED"/>
          </a:solidFill>
        </p:spPr>
      </p:sp>
      <p:sp>
        <p:nvSpPr>
          <p:cNvPr id="8" name="Shape 8"/>
          <p:cNvSpPr/>
          <p:nvPr/>
        </p:nvSpPr>
        <p:spPr>
          <a:xfrm>
            <a:off x="5624318" y="4905162"/>
            <a:ext cx="152457" cy="142929"/>
          </a:xfrm>
          <a:prstGeom prst="rect">
            <a:avLst/>
          </a:prstGeom>
          <a:solidFill>
            <a:srgbClr val="EDEDED"/>
          </a:solidFill>
        </p:spPr>
      </p:sp>
      <p:sp>
        <p:nvSpPr>
          <p:cNvPr id="9" name="Shape 9"/>
          <p:cNvSpPr/>
          <p:nvPr/>
        </p:nvSpPr>
        <p:spPr>
          <a:xfrm>
            <a:off x="5833947" y="4905162"/>
            <a:ext cx="152457" cy="142929"/>
          </a:xfrm>
          <a:prstGeom prst="rect">
            <a:avLst/>
          </a:prstGeom>
          <a:solidFill>
            <a:srgbClr val="EDEDED"/>
          </a:solidFill>
        </p:spPr>
      </p:sp>
      <p:sp>
        <p:nvSpPr>
          <p:cNvPr id="10" name="Shape 10"/>
          <p:cNvSpPr/>
          <p:nvPr/>
        </p:nvSpPr>
        <p:spPr>
          <a:xfrm>
            <a:off x="4261348" y="5252707"/>
            <a:ext cx="152457" cy="142929"/>
          </a:xfrm>
          <a:prstGeom prst="rect">
            <a:avLst/>
          </a:prstGeom>
          <a:solidFill>
            <a:srgbClr val="EDEDED"/>
          </a:solidFill>
        </p:spPr>
      </p:sp>
      <p:sp>
        <p:nvSpPr>
          <p:cNvPr id="11" name="Shape 11"/>
          <p:cNvSpPr/>
          <p:nvPr/>
        </p:nvSpPr>
        <p:spPr>
          <a:xfrm>
            <a:off x="2815436" y="5771767"/>
            <a:ext cx="152457" cy="142929"/>
          </a:xfrm>
          <a:prstGeom prst="rect">
            <a:avLst/>
          </a:prstGeom>
          <a:solidFill>
            <a:srgbClr val="EDEDED"/>
          </a:solidFill>
        </p:spPr>
      </p:sp>
      <p:sp>
        <p:nvSpPr>
          <p:cNvPr id="12" name="Shape 12"/>
          <p:cNvSpPr/>
          <p:nvPr/>
        </p:nvSpPr>
        <p:spPr>
          <a:xfrm>
            <a:off x="4751095" y="6119312"/>
            <a:ext cx="152457" cy="142929"/>
          </a:xfrm>
          <a:prstGeom prst="rect">
            <a:avLst/>
          </a:prstGeom>
          <a:solidFill>
            <a:srgbClr val="EDEDED"/>
          </a:solidFill>
        </p:spPr>
      </p:sp>
      <p:sp>
        <p:nvSpPr>
          <p:cNvPr id="13" name="Shape 13"/>
          <p:cNvSpPr/>
          <p:nvPr/>
        </p:nvSpPr>
        <p:spPr>
          <a:xfrm>
            <a:off x="4960724" y="6119312"/>
            <a:ext cx="152457" cy="142929"/>
          </a:xfrm>
          <a:prstGeom prst="rect">
            <a:avLst/>
          </a:prstGeom>
          <a:solidFill>
            <a:srgbClr val="EDEDED"/>
          </a:solidFill>
        </p:spPr>
      </p:sp>
      <p:sp>
        <p:nvSpPr>
          <p:cNvPr id="14" name="Shape 14"/>
          <p:cNvSpPr/>
          <p:nvPr/>
        </p:nvSpPr>
        <p:spPr>
          <a:xfrm>
            <a:off x="4947399" y="7171973"/>
            <a:ext cx="152457" cy="142929"/>
          </a:xfrm>
          <a:prstGeom prst="rect">
            <a:avLst/>
          </a:prstGeom>
          <a:solidFill>
            <a:srgbClr val="EDEDED"/>
          </a:solidFill>
        </p:spPr>
      </p:sp>
      <p:sp>
        <p:nvSpPr>
          <p:cNvPr id="15" name="Shape 15"/>
          <p:cNvSpPr/>
          <p:nvPr/>
        </p:nvSpPr>
        <p:spPr>
          <a:xfrm>
            <a:off x="3398789" y="7519519"/>
            <a:ext cx="152457" cy="142929"/>
          </a:xfrm>
          <a:prstGeom prst="rect">
            <a:avLst/>
          </a:prstGeom>
          <a:solidFill>
            <a:srgbClr val="EDEDED"/>
          </a:solidFill>
        </p:spPr>
      </p:sp>
      <p:sp>
        <p:nvSpPr>
          <p:cNvPr id="16" name="Shape 16"/>
          <p:cNvSpPr/>
          <p:nvPr/>
        </p:nvSpPr>
        <p:spPr>
          <a:xfrm>
            <a:off x="1029088" y="9429753"/>
            <a:ext cx="152457" cy="142929"/>
          </a:xfrm>
          <a:prstGeom prst="rect">
            <a:avLst/>
          </a:prstGeom>
          <a:solidFill>
            <a:srgbClr val="EDEDED"/>
          </a:solidFill>
        </p:spPr>
      </p:sp>
      <p:sp>
        <p:nvSpPr>
          <p:cNvPr id="17" name="TextBox 17"/>
          <p:cNvSpPr txBox="1"/>
          <p:nvPr/>
        </p:nvSpPr>
        <p:spPr>
          <a:xfrm>
            <a:off x="5024498" y="9222755"/>
            <a:ext cx="381144" cy="101638"/>
          </a:xfrm>
          <a:prstGeom prst="rect">
            <a:avLst/>
          </a:prstGeom>
          <a:noFill/>
        </p:spPr>
        <p:txBody>
          <a:bodyPr wrap="none" anchor="t" anchorCtr="0"/>
          <a:lstStyle/>
          <a:p>
            <a:pPr algn="l"/>
            <a:r>
              <a:rPr sz="800" b="0" i="0" u="none">
                <a:solidFill>
                  <a:srgbClr val="333333"/>
                </a:solidFill>
                <a:latin typeface="JRLKGN"/>
              </a:rPr>
              <a:t>21 22</a:t>
            </a:r>
            <a:endParaRPr/>
          </a:p>
        </p:txBody>
      </p:sp>
      <p:sp>
        <p:nvSpPr>
          <p:cNvPr id="18" name="TextBox 18"/>
          <p:cNvSpPr txBox="1"/>
          <p:nvPr/>
        </p:nvSpPr>
        <p:spPr>
          <a:xfrm>
            <a:off x="1321298" y="-2191518"/>
            <a:ext cx="15877199" cy="11487075"/>
          </a:xfrm>
          <a:prstGeom prst="rect">
            <a:avLst/>
          </a:prstGeom>
          <a:noFill/>
        </p:spPr>
        <p:txBody>
          <a:bodyPr wrap="none" anchor="t" anchorCtr="0"/>
          <a:lstStyle/>
          <a:p>
            <a:pPr algn="l"/>
            <a:r>
              <a:rPr sz="1200" b="0" i="0" u="none">
                <a:solidFill>
                  <a:srgbClr val="000000"/>
                </a:solidFill>
                <a:latin typeface="JRLKGN"/>
              </a:rPr>
              <a:t>Minminzemi and Higurashi (evening cicada). The Pd model included a mix of an oscillatorcomponent (for tonal vibrations) and a noise component, plus resonant filters and envelopes tosimulate the timbral evolution of the call. For example, in his Minminzemi patch, one cancontrol the relative level of tonal hum vs. noise, the envelope shape of the “Meeen” vs “min-min”sections, and the center frequency of bandpass filters to match the insect’s 3–6 kHz energy band.Such research demonstrates that combining vibratory models (for periodic components) withprocedural noise (for dense clicks) is an effective strategy in cicada sound synthesis.Cicada Sound Production Mechanism: Biology and EngineeringInsightsUnderstanding how cicadas actually produce sound provides vital clues for modeling their calls. Cicadasuse a specialized organ called the tymbal, a stiff membrane with rib-like bands, to generate sound. Eachtymbal is a corrugated dome that buckles inward when a strong muscle in the cicada’s abdomencontracts, then pops back out when the muscle relaxes. This buckle–release cycle happens extremelyfast, producing a loud click each time. A male cicada has two tymbals (one on each side of the abdomen)that can buckle in rapid succession, yielding a high repetition rate of clicks. The series of clicks fromone muscle contraction is often called a “chirp” or pulse train. Notably, the inward buckle and theoutward snap both produce sound – effectively two clicks per cycle. When the cicada contracts itsmuscles in a steady rhythm, these clicks blur together into the continuous buzzy tone we recognize.However, the raw clicks alone are not the full story. Cicadas have an internal acoustic resonator: an air-filled abdominal cavity (air sac) that acts like a Helmholtz resonator or echo chamber. The rapidtymbal clicks drive this air cavity into vibration. The air sac is tuned to about the same natural frequencyas the tymbal itself, reinforcing the sound via resonance. In essence, the tymbal provides theexcitation (broadband impulses), and the abdominal cavity filters and amplifies those impulses into aringing tone. The coupling of two resonators – one mechanical (tymbal) and one acoustical (air sac) – iskey to cicadas’ sound production. Research by Young and Bennet-Clark showed that for loud cicadaspecies, the tymbal’s resonant frequency and the abdominal cavity’s resonant frequency are very close,yielding an efficient transfer of energy and a sharp, strong tonal peak. The result is a louder andmore pure tone than a click alone could produce.Additionally, cicadas have large tympana (eardrum membranes) on the sides of the abdomen that serveas sound radiators. These tympana (which in the living cicada are actually part of the hearing organ, butdouble as an “output speaker”) are much larger in area than the tymbal, and they effectively act as animpedance matching device to efficiently broadcast the sound into the air. Bennet-Clark (1999) notedthat the big, thin tympana give the abdominal cavity resonator a large opening to vent sound, making theinsect’s song extraordinarily loud for its size. The biological design is ingenious: a small mechanicaloscillator (tymbal ribs) generates high-frequency energy, an acoustic amplifier (air sac) boosts and tunesit, and a radiator (tympana aperture) projects it outward. This synergy explains how cicadas achievesound pressure levels around 100 dB SPL or more at close range – among the loudest of all insects.In summary, from an engineering perspective, a cicada is like a tiny electromechanical transducer: themuscle’s mechanical energy is transduced into sound through the tymbal (a ridged drum skin) andshaped by a resonant amplifier (abdominal cavity). Each species tweaks this basic design by varying thesize of the air sac, the stiffness and geometry of tymbal ribs, etc., thereby setting its unique songfrequency. For example, larger cicadas (like Kumazemi) tend to have slightly lower dominant frequencies(in the few kHz range) while smaller cicadas (like Niini-zemi) reach higher frequencies (8 kHz or more). But all share the same core mechanism of fast muscular actuation of a springy membrane coupled</a:t>
            </a:r>
            <a:endParaRPr/>
          </a:p>
        </p:txBody>
      </p:sp>
      <p:sp>
        <p:nvSpPr>
          <p:cNvPr id="19" name="TextBox 19"/>
          <p:cNvSpPr txBox="1"/>
          <p:nvPr/>
        </p:nvSpPr>
        <p:spPr>
          <a:xfrm>
            <a:off x="4850756" y="8759362"/>
            <a:ext cx="381144" cy="101638"/>
          </a:xfrm>
          <a:prstGeom prst="rect">
            <a:avLst/>
          </a:prstGeom>
          <a:noFill/>
        </p:spPr>
        <p:txBody>
          <a:bodyPr wrap="none" anchor="t" anchorCtr="0"/>
          <a:lstStyle/>
          <a:p>
            <a:pPr algn="l"/>
            <a:r>
              <a:rPr sz="800" b="0" i="0" u="none">
                <a:solidFill>
                  <a:srgbClr val="333333"/>
                </a:solidFill>
                <a:latin typeface="JRLKGN"/>
              </a:rPr>
              <a:t>21 23</a:t>
            </a:r>
            <a:endParaRPr/>
          </a:p>
        </p:txBody>
      </p:sp>
      <p:sp>
        <p:nvSpPr>
          <p:cNvPr id="20" name="TextBox 20"/>
          <p:cNvSpPr txBox="1"/>
          <p:nvPr/>
        </p:nvSpPr>
        <p:spPr>
          <a:xfrm>
            <a:off x="5308428" y="5793887"/>
            <a:ext cx="101638" cy="101638"/>
          </a:xfrm>
          <a:prstGeom prst="rect">
            <a:avLst/>
          </a:prstGeom>
          <a:noFill/>
        </p:spPr>
        <p:txBody>
          <a:bodyPr wrap="none" anchor="t" anchorCtr="0"/>
          <a:lstStyle/>
          <a:p>
            <a:pPr algn="l"/>
            <a:r>
              <a:rPr sz="800" b="0" i="0" u="none">
                <a:solidFill>
                  <a:srgbClr val="333333"/>
                </a:solidFill>
                <a:latin typeface="JRLKGN"/>
              </a:rPr>
              <a:t>24</a:t>
            </a:r>
            <a:endParaRPr/>
          </a:p>
        </p:txBody>
      </p:sp>
      <p:sp>
        <p:nvSpPr>
          <p:cNvPr id="21" name="TextBox 21"/>
          <p:cNvSpPr txBox="1"/>
          <p:nvPr/>
        </p:nvSpPr>
        <p:spPr>
          <a:xfrm>
            <a:off x="6759738" y="5330494"/>
            <a:ext cx="101638" cy="101638"/>
          </a:xfrm>
          <a:prstGeom prst="rect">
            <a:avLst/>
          </a:prstGeom>
          <a:noFill/>
        </p:spPr>
        <p:txBody>
          <a:bodyPr wrap="none" anchor="t" anchorCtr="0"/>
          <a:lstStyle/>
          <a:p>
            <a:pPr algn="l"/>
            <a:r>
              <a:rPr sz="800" b="0" i="0" u="none">
                <a:solidFill>
                  <a:srgbClr val="333333"/>
                </a:solidFill>
                <a:latin typeface="JRLKGN"/>
              </a:rPr>
              <a:t>14</a:t>
            </a:r>
            <a:endParaRPr/>
          </a:p>
        </p:txBody>
      </p:sp>
      <p:sp>
        <p:nvSpPr>
          <p:cNvPr id="22" name="TextBox 22"/>
          <p:cNvSpPr txBox="1"/>
          <p:nvPr/>
        </p:nvSpPr>
        <p:spPr>
          <a:xfrm>
            <a:off x="6340161" y="4867100"/>
            <a:ext cx="101638" cy="101638"/>
          </a:xfrm>
          <a:prstGeom prst="rect">
            <a:avLst/>
          </a:prstGeom>
          <a:noFill/>
        </p:spPr>
        <p:txBody>
          <a:bodyPr wrap="none" anchor="t" anchorCtr="0"/>
          <a:lstStyle/>
          <a:p>
            <a:pPr algn="l"/>
            <a:r>
              <a:rPr sz="800" b="0" i="0" u="none">
                <a:solidFill>
                  <a:srgbClr val="333333"/>
                </a:solidFill>
                <a:latin typeface="JRLKGN"/>
              </a:rPr>
              <a:t>24</a:t>
            </a:r>
            <a:endParaRPr/>
          </a:p>
        </p:txBody>
      </p:sp>
      <p:sp>
        <p:nvSpPr>
          <p:cNvPr id="23" name="TextBox 23"/>
          <p:cNvSpPr txBox="1"/>
          <p:nvPr/>
        </p:nvSpPr>
        <p:spPr>
          <a:xfrm>
            <a:off x="7544314" y="3920925"/>
            <a:ext cx="381144" cy="101638"/>
          </a:xfrm>
          <a:prstGeom prst="rect">
            <a:avLst/>
          </a:prstGeom>
          <a:noFill/>
        </p:spPr>
        <p:txBody>
          <a:bodyPr wrap="none" anchor="t" anchorCtr="0"/>
          <a:lstStyle/>
          <a:p>
            <a:pPr algn="l"/>
            <a:r>
              <a:rPr sz="800" b="0" i="0" u="none">
                <a:solidFill>
                  <a:srgbClr val="333333"/>
                </a:solidFill>
                <a:latin typeface="JRLKGN"/>
              </a:rPr>
              <a:t>11 12</a:t>
            </a:r>
            <a:endParaRPr/>
          </a:p>
        </p:txBody>
      </p:sp>
      <p:sp>
        <p:nvSpPr>
          <p:cNvPr id="24" name="TextBox 24"/>
          <p:cNvSpPr txBox="1"/>
          <p:nvPr/>
        </p:nvSpPr>
        <p:spPr>
          <a:xfrm>
            <a:off x="5727021" y="3457531"/>
            <a:ext cx="101638" cy="101638"/>
          </a:xfrm>
          <a:prstGeom prst="rect">
            <a:avLst/>
          </a:prstGeom>
          <a:noFill/>
        </p:spPr>
        <p:txBody>
          <a:bodyPr wrap="none" anchor="t" anchorCtr="0"/>
          <a:lstStyle/>
          <a:p>
            <a:pPr algn="l"/>
            <a:r>
              <a:rPr sz="800" b="0" i="0" u="none">
                <a:solidFill>
                  <a:srgbClr val="333333"/>
                </a:solidFill>
                <a:latin typeface="JRLKGN"/>
              </a:rPr>
              <a:t>12</a:t>
            </a:r>
            <a:endParaRPr/>
          </a:p>
        </p:txBody>
      </p:sp>
      <p:sp>
        <p:nvSpPr>
          <p:cNvPr id="25" name="TextBox 25"/>
          <p:cNvSpPr txBox="1"/>
          <p:nvPr/>
        </p:nvSpPr>
        <p:spPr>
          <a:xfrm>
            <a:off x="3799138" y="2765451"/>
            <a:ext cx="101638" cy="101638"/>
          </a:xfrm>
          <a:prstGeom prst="rect">
            <a:avLst/>
          </a:prstGeom>
          <a:noFill/>
        </p:spPr>
        <p:txBody>
          <a:bodyPr wrap="none" anchor="t" anchorCtr="0"/>
          <a:lstStyle/>
          <a:p>
            <a:pPr algn="l"/>
            <a:r>
              <a:rPr sz="800" b="0" i="0" u="none">
                <a:solidFill>
                  <a:srgbClr val="333333"/>
                </a:solidFill>
                <a:latin typeface="JRLKGN"/>
              </a:rPr>
              <a:t>25</a:t>
            </a:r>
            <a:endParaRPr/>
          </a:p>
        </p:txBody>
      </p:sp>
      <p:sp>
        <p:nvSpPr>
          <p:cNvPr id="26" name="TextBox 26"/>
          <p:cNvSpPr txBox="1"/>
          <p:nvPr/>
        </p:nvSpPr>
        <p:spPr>
          <a:xfrm>
            <a:off x="6380017" y="2302058"/>
            <a:ext cx="381144" cy="101638"/>
          </a:xfrm>
          <a:prstGeom prst="rect">
            <a:avLst/>
          </a:prstGeom>
          <a:noFill/>
        </p:spPr>
        <p:txBody>
          <a:bodyPr wrap="none" anchor="t" anchorCtr="0"/>
          <a:lstStyle/>
          <a:p>
            <a:pPr algn="l"/>
            <a:r>
              <a:rPr sz="800" b="0" i="0" u="none">
                <a:solidFill>
                  <a:srgbClr val="333333"/>
                </a:solidFill>
                <a:latin typeface="JRLKGN"/>
              </a:rPr>
              <a:t>11 12</a:t>
            </a:r>
            <a:endParaRPr/>
          </a:p>
        </p:txBody>
      </p:sp>
      <p:sp>
        <p:nvSpPr>
          <p:cNvPr id="27" name="TextBox 27"/>
          <p:cNvSpPr txBox="1"/>
          <p:nvPr/>
        </p:nvSpPr>
        <p:spPr>
          <a:xfrm>
            <a:off x="6641756" y="898510"/>
            <a:ext cx="101638" cy="101638"/>
          </a:xfrm>
          <a:prstGeom prst="rect">
            <a:avLst/>
          </a:prstGeom>
          <a:noFill/>
        </p:spPr>
        <p:txBody>
          <a:bodyPr wrap="none" anchor="t" anchorCtr="0"/>
          <a:lstStyle/>
          <a:p>
            <a:pPr algn="l"/>
            <a:r>
              <a:rPr sz="800" b="0" i="0" u="none">
                <a:solidFill>
                  <a:srgbClr val="333333"/>
                </a:solidFill>
                <a:latin typeface="JRLKGN"/>
              </a:rPr>
              <a:t>26</a:t>
            </a:r>
            <a:endParaRPr/>
          </a:p>
        </p:txBody>
      </p:sp>
      <p:sp>
        <p:nvSpPr>
          <p:cNvPr id="28" name="TextBox 28"/>
          <p:cNvSpPr txBox="1"/>
          <p:nvPr/>
        </p:nvSpPr>
        <p:spPr>
          <a:xfrm>
            <a:off x="4576942" y="435116"/>
            <a:ext cx="101638" cy="101638"/>
          </a:xfrm>
          <a:prstGeom prst="rect">
            <a:avLst/>
          </a:prstGeom>
          <a:noFill/>
        </p:spPr>
        <p:txBody>
          <a:bodyPr wrap="none" anchor="t" anchorCtr="0"/>
          <a:lstStyle/>
          <a:p>
            <a:pPr algn="l"/>
            <a:r>
              <a:rPr sz="800" b="0" i="0" u="none">
                <a:solidFill>
                  <a:srgbClr val="333333"/>
                </a:solidFill>
                <a:latin typeface="JRLKGN"/>
              </a:rPr>
              <a:t>26</a:t>
            </a:r>
            <a:endParaRPr/>
          </a:p>
        </p:txBody>
      </p:sp>
      <p:sp>
        <p:nvSpPr>
          <p:cNvPr id="29" name="TextBox 29"/>
          <p:cNvSpPr txBox="1"/>
          <p:nvPr/>
        </p:nvSpPr>
        <p:spPr>
          <a:xfrm>
            <a:off x="1417341" y="-2111862"/>
            <a:ext cx="101638" cy="101638"/>
          </a:xfrm>
          <a:prstGeom prst="rect">
            <a:avLst/>
          </a:prstGeom>
          <a:noFill/>
        </p:spPr>
        <p:txBody>
          <a:bodyPr wrap="none" anchor="t" anchorCtr="0"/>
          <a:lstStyle/>
          <a:p>
            <a:pPr algn="l"/>
            <a:r>
              <a:rPr sz="800" b="0" i="0" u="none">
                <a:solidFill>
                  <a:srgbClr val="333333"/>
                </a:solidFill>
                <a:latin typeface="JRLKGN"/>
              </a:rPr>
              <a:t>27</a:t>
            </a:r>
            <a:endParaRPr/>
          </a:p>
        </p:txBody>
      </p:sp>
      <p:sp>
        <p:nvSpPr>
          <p:cNvPr id="30" name="TextBox 30"/>
          <p:cNvSpPr txBox="1"/>
          <p:nvPr/>
        </p:nvSpPr>
        <p:spPr>
          <a:xfrm>
            <a:off x="4998296" y="-3167128"/>
            <a:ext cx="76229" cy="152457"/>
          </a:xfrm>
          <a:prstGeom prst="rect">
            <a:avLst/>
          </a:prstGeom>
          <a:noFill/>
        </p:spPr>
        <p:txBody>
          <a:bodyPr wrap="none" anchor="t" anchorCtr="0"/>
          <a:lstStyle/>
          <a:p>
            <a:pPr algn="l"/>
            <a:r>
              <a:rPr sz="1200" b="0" i="0" u="none">
                <a:solidFill>
                  <a:srgbClr val="6E6E6E"/>
                </a:solidFill>
                <a:latin typeface="HUHQIP"/>
              </a:rPr>
              <a:t>4</a:t>
            </a:r>
            <a:endParaRPr/>
          </a:p>
        </p:txBody>
      </p:sp>
    </p:spTree>
  </p:cSld>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1" name="Shape 1"/>
          <p:cNvSpPr/>
          <p:nvPr/>
        </p:nvSpPr>
        <p:spPr>
          <a:xfrm>
            <a:off x="1575622" y="4777271"/>
            <a:ext cx="781344" cy="209629"/>
          </a:xfrm>
          <a:custGeom>
            <a:avLst/>
            <a:gdLst/>
            <a:ahLst/>
            <a:cxnLst/>
            <a:pathLst>
              <a:path w="781344" h="209629" fill="norm" stroke="0" extrusionOk="0">
                <a:moveTo>
                  <a:pt x="38114" y="9529"/>
                </a:moveTo>
                <a:lnTo>
                  <a:pt x="743230" y="9529"/>
                </a:lnTo>
                <a:cubicBezTo>
                  <a:pt x="758952" y="9529"/>
                  <a:pt x="771816" y="22392"/>
                  <a:pt x="771816" y="38114"/>
                </a:cubicBezTo>
                <a:lnTo>
                  <a:pt x="771816" y="171515"/>
                </a:lnTo>
                <a:cubicBezTo>
                  <a:pt x="771816" y="187237"/>
                  <a:pt x="758952" y="200100"/>
                  <a:pt x="743230" y="200100"/>
                </a:cubicBezTo>
                <a:lnTo>
                  <a:pt x="38114" y="200100"/>
                </a:lnTo>
                <a:cubicBezTo>
                  <a:pt x="22392" y="200100"/>
                  <a:pt x="9529" y="187237"/>
                  <a:pt x="9529" y="171515"/>
                </a:cubicBezTo>
                <a:lnTo>
                  <a:pt x="9529" y="38114"/>
                </a:lnTo>
                <a:cubicBezTo>
                  <a:pt x="9529" y="22392"/>
                  <a:pt x="22392" y="9529"/>
                  <a:pt x="38114" y="9529"/>
                </a:cubicBezTo>
                <a:moveTo>
                  <a:pt x="38114" y="0"/>
                </a:moveTo>
                <a:lnTo>
                  <a:pt x="743230" y="0"/>
                </a:lnTo>
                <a:cubicBezTo>
                  <a:pt x="764193" y="0"/>
                  <a:pt x="781344" y="17151"/>
                  <a:pt x="781344" y="38114"/>
                </a:cubicBezTo>
                <a:lnTo>
                  <a:pt x="781344" y="171515"/>
                </a:lnTo>
                <a:cubicBezTo>
                  <a:pt x="781344" y="192478"/>
                  <a:pt x="764193" y="209629"/>
                  <a:pt x="743230" y="209629"/>
                </a:cubicBezTo>
                <a:lnTo>
                  <a:pt x="38114" y="209629"/>
                </a:lnTo>
                <a:cubicBezTo>
                  <a:pt x="17151" y="209629"/>
                  <a:pt x="0" y="192478"/>
                  <a:pt x="0" y="171515"/>
                </a:cubicBezTo>
                <a:lnTo>
                  <a:pt x="0" y="38114"/>
                </a:lnTo>
                <a:cubicBezTo>
                  <a:pt x="0" y="17151"/>
                  <a:pt x="17151" y="0"/>
                  <a:pt x="38114" y="0"/>
                </a:cubicBezTo>
              </a:path>
            </a:pathLst>
          </a:custGeom>
          <a:solidFill>
            <a:srgbClr val="BBBBBB"/>
          </a:solidFill>
        </p:spPr>
      </p:sp>
      <p:sp>
        <p:nvSpPr>
          <p:cNvPr id="2" name="Shape 2"/>
          <p:cNvSpPr/>
          <p:nvPr/>
        </p:nvSpPr>
        <p:spPr>
          <a:xfrm>
            <a:off x="3559712" y="6515991"/>
            <a:ext cx="895688" cy="209629"/>
          </a:xfrm>
          <a:custGeom>
            <a:avLst/>
            <a:gdLst/>
            <a:ahLst/>
            <a:cxnLst/>
            <a:pathLst>
              <a:path w="895688" h="209629" fill="norm" stroke="0" extrusionOk="0">
                <a:moveTo>
                  <a:pt x="38114" y="9529"/>
                </a:moveTo>
                <a:lnTo>
                  <a:pt x="857573" y="9529"/>
                </a:lnTo>
                <a:cubicBezTo>
                  <a:pt x="873295" y="9529"/>
                  <a:pt x="886159" y="22392"/>
                  <a:pt x="886159" y="38114"/>
                </a:cubicBezTo>
                <a:lnTo>
                  <a:pt x="886159" y="171515"/>
                </a:lnTo>
                <a:cubicBezTo>
                  <a:pt x="886159" y="187237"/>
                  <a:pt x="873295" y="200100"/>
                  <a:pt x="857573" y="200100"/>
                </a:cubicBezTo>
                <a:lnTo>
                  <a:pt x="38114" y="200100"/>
                </a:lnTo>
                <a:cubicBezTo>
                  <a:pt x="22392" y="200100"/>
                  <a:pt x="9529" y="187237"/>
                  <a:pt x="9529" y="171515"/>
                </a:cubicBezTo>
                <a:lnTo>
                  <a:pt x="9529" y="38114"/>
                </a:lnTo>
                <a:cubicBezTo>
                  <a:pt x="9529" y="22392"/>
                  <a:pt x="22392" y="9529"/>
                  <a:pt x="38114" y="9529"/>
                </a:cubicBezTo>
                <a:moveTo>
                  <a:pt x="38114" y="0"/>
                </a:moveTo>
                <a:lnTo>
                  <a:pt x="857573" y="0"/>
                </a:lnTo>
                <a:cubicBezTo>
                  <a:pt x="878536" y="0"/>
                  <a:pt x="895688" y="17151"/>
                  <a:pt x="895688" y="38114"/>
                </a:cubicBezTo>
                <a:lnTo>
                  <a:pt x="895688" y="171515"/>
                </a:lnTo>
                <a:cubicBezTo>
                  <a:pt x="895688" y="192478"/>
                  <a:pt x="878536" y="209629"/>
                  <a:pt x="857573" y="209629"/>
                </a:cubicBezTo>
                <a:lnTo>
                  <a:pt x="38114" y="209629"/>
                </a:lnTo>
                <a:cubicBezTo>
                  <a:pt x="17151" y="209629"/>
                  <a:pt x="0" y="192478"/>
                  <a:pt x="0" y="171515"/>
                </a:cubicBezTo>
                <a:lnTo>
                  <a:pt x="0" y="38114"/>
                </a:lnTo>
                <a:cubicBezTo>
                  <a:pt x="0" y="17151"/>
                  <a:pt x="17151" y="0"/>
                  <a:pt x="38114" y="0"/>
                </a:cubicBezTo>
              </a:path>
            </a:pathLst>
          </a:custGeom>
          <a:solidFill>
            <a:srgbClr val="BBBBBB"/>
          </a:solidFill>
        </p:spPr>
      </p:sp>
      <p:sp>
        <p:nvSpPr>
          <p:cNvPr id="3" name="Shape 3"/>
          <p:cNvSpPr/>
          <p:nvPr/>
        </p:nvSpPr>
        <p:spPr>
          <a:xfrm>
            <a:off x="4727958" y="6515991"/>
            <a:ext cx="1410231" cy="209629"/>
          </a:xfrm>
          <a:custGeom>
            <a:avLst/>
            <a:gdLst/>
            <a:ahLst/>
            <a:cxnLst/>
            <a:pathLst>
              <a:path w="1410231" h="209629" fill="norm" stroke="0" extrusionOk="0">
                <a:moveTo>
                  <a:pt x="38114" y="9529"/>
                </a:moveTo>
                <a:lnTo>
                  <a:pt x="1372117" y="9529"/>
                </a:lnTo>
                <a:cubicBezTo>
                  <a:pt x="1387839" y="9529"/>
                  <a:pt x="1400703" y="22392"/>
                  <a:pt x="1400703" y="38114"/>
                </a:cubicBezTo>
                <a:lnTo>
                  <a:pt x="1400703" y="171515"/>
                </a:lnTo>
                <a:cubicBezTo>
                  <a:pt x="1400703" y="187237"/>
                  <a:pt x="1387839" y="200100"/>
                  <a:pt x="1372117" y="200100"/>
                </a:cubicBezTo>
                <a:lnTo>
                  <a:pt x="38114" y="200100"/>
                </a:lnTo>
                <a:cubicBezTo>
                  <a:pt x="22392" y="200100"/>
                  <a:pt x="9529" y="187237"/>
                  <a:pt x="9529" y="171515"/>
                </a:cubicBezTo>
                <a:lnTo>
                  <a:pt x="9529" y="38114"/>
                </a:lnTo>
                <a:cubicBezTo>
                  <a:pt x="9529" y="22392"/>
                  <a:pt x="22392" y="9529"/>
                  <a:pt x="38114" y="9529"/>
                </a:cubicBezTo>
                <a:moveTo>
                  <a:pt x="38114" y="0"/>
                </a:moveTo>
                <a:lnTo>
                  <a:pt x="1372117" y="0"/>
                </a:lnTo>
                <a:cubicBezTo>
                  <a:pt x="1393080" y="0"/>
                  <a:pt x="1410231" y="17151"/>
                  <a:pt x="1410231" y="38114"/>
                </a:cubicBezTo>
                <a:lnTo>
                  <a:pt x="1410231" y="171515"/>
                </a:lnTo>
                <a:cubicBezTo>
                  <a:pt x="1410231" y="192478"/>
                  <a:pt x="1393080" y="209629"/>
                  <a:pt x="1372117" y="209629"/>
                </a:cubicBezTo>
                <a:lnTo>
                  <a:pt x="38114" y="209629"/>
                </a:lnTo>
                <a:cubicBezTo>
                  <a:pt x="17151" y="209629"/>
                  <a:pt x="0" y="192478"/>
                  <a:pt x="0" y="171515"/>
                </a:cubicBezTo>
                <a:lnTo>
                  <a:pt x="0" y="38114"/>
                </a:lnTo>
                <a:cubicBezTo>
                  <a:pt x="0" y="17151"/>
                  <a:pt x="17151" y="0"/>
                  <a:pt x="38114" y="0"/>
                </a:cubicBezTo>
              </a:path>
            </a:pathLst>
          </a:custGeom>
          <a:solidFill>
            <a:srgbClr val="BBBBBB"/>
          </a:solidFill>
        </p:spPr>
      </p:sp>
      <p:sp>
        <p:nvSpPr>
          <p:cNvPr id="4" name="Shape 4"/>
          <p:cNvSpPr/>
          <p:nvPr/>
        </p:nvSpPr>
        <p:spPr>
          <a:xfrm>
            <a:off x="4210170" y="7549595"/>
            <a:ext cx="495487" cy="209629"/>
          </a:xfrm>
          <a:custGeom>
            <a:avLst/>
            <a:gdLst/>
            <a:ahLst/>
            <a:cxnLst/>
            <a:pathLst>
              <a:path w="495487" h="209629" fill="norm" stroke="0" extrusionOk="0">
                <a:moveTo>
                  <a:pt x="38114" y="9529"/>
                </a:moveTo>
                <a:lnTo>
                  <a:pt x="457372" y="9529"/>
                </a:lnTo>
                <a:cubicBezTo>
                  <a:pt x="473095" y="9529"/>
                  <a:pt x="485958" y="22392"/>
                  <a:pt x="485958" y="38114"/>
                </a:cubicBezTo>
                <a:lnTo>
                  <a:pt x="485958" y="171515"/>
                </a:lnTo>
                <a:cubicBezTo>
                  <a:pt x="485958" y="187237"/>
                  <a:pt x="473095" y="200100"/>
                  <a:pt x="457372" y="200100"/>
                </a:cubicBezTo>
                <a:lnTo>
                  <a:pt x="38114" y="200100"/>
                </a:lnTo>
                <a:cubicBezTo>
                  <a:pt x="22392" y="200100"/>
                  <a:pt x="9529" y="187237"/>
                  <a:pt x="9529" y="171515"/>
                </a:cubicBezTo>
                <a:lnTo>
                  <a:pt x="9529" y="38114"/>
                </a:lnTo>
                <a:cubicBezTo>
                  <a:pt x="9529" y="22392"/>
                  <a:pt x="22392" y="9529"/>
                  <a:pt x="38114" y="9529"/>
                </a:cubicBezTo>
                <a:moveTo>
                  <a:pt x="38114" y="0"/>
                </a:moveTo>
                <a:lnTo>
                  <a:pt x="457372" y="0"/>
                </a:lnTo>
                <a:cubicBezTo>
                  <a:pt x="478335" y="0"/>
                  <a:pt x="495487" y="17151"/>
                  <a:pt x="495487" y="38114"/>
                </a:cubicBezTo>
                <a:lnTo>
                  <a:pt x="495487" y="171515"/>
                </a:lnTo>
                <a:cubicBezTo>
                  <a:pt x="495487" y="192478"/>
                  <a:pt x="478335" y="209629"/>
                  <a:pt x="457372" y="209629"/>
                </a:cubicBezTo>
                <a:lnTo>
                  <a:pt x="38114" y="209629"/>
                </a:lnTo>
                <a:cubicBezTo>
                  <a:pt x="17151" y="209629"/>
                  <a:pt x="0" y="192478"/>
                  <a:pt x="0" y="171515"/>
                </a:cubicBezTo>
                <a:lnTo>
                  <a:pt x="0" y="38114"/>
                </a:lnTo>
                <a:cubicBezTo>
                  <a:pt x="0" y="17151"/>
                  <a:pt x="17151" y="0"/>
                  <a:pt x="38114" y="0"/>
                </a:cubicBezTo>
              </a:path>
            </a:pathLst>
          </a:custGeom>
          <a:solidFill>
            <a:srgbClr val="BBBBBB"/>
          </a:solidFill>
        </p:spPr>
      </p:sp>
      <p:sp>
        <p:nvSpPr>
          <p:cNvPr id="5" name="Shape 5"/>
          <p:cNvSpPr/>
          <p:nvPr/>
        </p:nvSpPr>
        <p:spPr>
          <a:xfrm>
            <a:off x="4054551" y="3596223"/>
            <a:ext cx="152457" cy="142929"/>
          </a:xfrm>
          <a:prstGeom prst="rect">
            <a:avLst/>
          </a:prstGeom>
          <a:solidFill>
            <a:srgbClr val="EDEDED"/>
          </a:solidFill>
        </p:spPr>
      </p:sp>
      <p:sp>
        <p:nvSpPr>
          <p:cNvPr id="6" name="Shape 6"/>
          <p:cNvSpPr/>
          <p:nvPr/>
        </p:nvSpPr>
        <p:spPr>
          <a:xfrm>
            <a:off x="1827024" y="4286797"/>
            <a:ext cx="152457" cy="142929"/>
          </a:xfrm>
          <a:prstGeom prst="rect">
            <a:avLst/>
          </a:prstGeom>
          <a:solidFill>
            <a:srgbClr val="EDEDED"/>
          </a:solidFill>
        </p:spPr>
      </p:sp>
      <p:sp>
        <p:nvSpPr>
          <p:cNvPr id="7" name="Shape 7"/>
          <p:cNvSpPr/>
          <p:nvPr/>
        </p:nvSpPr>
        <p:spPr>
          <a:xfrm>
            <a:off x="3513467" y="4462828"/>
            <a:ext cx="152457" cy="142929"/>
          </a:xfrm>
          <a:prstGeom prst="rect">
            <a:avLst/>
          </a:prstGeom>
          <a:solidFill>
            <a:srgbClr val="EDEDED"/>
          </a:solidFill>
        </p:spPr>
      </p:sp>
      <p:sp>
        <p:nvSpPr>
          <p:cNvPr id="8" name="Shape 8"/>
          <p:cNvSpPr/>
          <p:nvPr/>
        </p:nvSpPr>
        <p:spPr>
          <a:xfrm>
            <a:off x="5526648" y="4981888"/>
            <a:ext cx="152457" cy="142929"/>
          </a:xfrm>
          <a:prstGeom prst="rect">
            <a:avLst/>
          </a:prstGeom>
          <a:solidFill>
            <a:srgbClr val="EDEDED"/>
          </a:solidFill>
        </p:spPr>
      </p:sp>
      <p:sp>
        <p:nvSpPr>
          <p:cNvPr id="9" name="Shape 9"/>
          <p:cNvSpPr/>
          <p:nvPr/>
        </p:nvSpPr>
        <p:spPr>
          <a:xfrm>
            <a:off x="6368575" y="7063636"/>
            <a:ext cx="152457" cy="142929"/>
          </a:xfrm>
          <a:prstGeom prst="rect">
            <a:avLst/>
          </a:prstGeom>
          <a:solidFill>
            <a:srgbClr val="EDEDED"/>
          </a:solidFill>
        </p:spPr>
      </p:sp>
      <p:sp>
        <p:nvSpPr>
          <p:cNvPr id="10" name="Shape 10"/>
          <p:cNvSpPr/>
          <p:nvPr/>
        </p:nvSpPr>
        <p:spPr>
          <a:xfrm>
            <a:off x="3494638" y="7925726"/>
            <a:ext cx="152457" cy="142929"/>
          </a:xfrm>
          <a:prstGeom prst="rect">
            <a:avLst/>
          </a:prstGeom>
          <a:solidFill>
            <a:srgbClr val="EDEDED"/>
          </a:solidFill>
        </p:spPr>
      </p:sp>
      <p:sp>
        <p:nvSpPr>
          <p:cNvPr id="11" name="Shape 11"/>
          <p:cNvSpPr/>
          <p:nvPr/>
        </p:nvSpPr>
        <p:spPr>
          <a:xfrm>
            <a:off x="5630727" y="9492930"/>
            <a:ext cx="152457" cy="142929"/>
          </a:xfrm>
          <a:prstGeom prst="rect">
            <a:avLst/>
          </a:prstGeom>
          <a:solidFill>
            <a:srgbClr val="EDEDED"/>
          </a:solidFill>
        </p:spPr>
      </p:sp>
      <p:sp>
        <p:nvSpPr>
          <p:cNvPr id="12" name="TextBox 12"/>
          <p:cNvSpPr txBox="1"/>
          <p:nvPr/>
        </p:nvSpPr>
        <p:spPr>
          <a:xfrm>
            <a:off x="1321298" y="3967655"/>
            <a:ext cx="15559503" cy="5327903"/>
          </a:xfrm>
          <a:prstGeom prst="rect">
            <a:avLst/>
          </a:prstGeom>
          <a:noFill/>
        </p:spPr>
        <p:txBody>
          <a:bodyPr wrap="none" anchor="t" anchorCtr="0"/>
          <a:lstStyle/>
          <a:p>
            <a:pPr algn="l"/>
            <a:r>
              <a:rPr sz="1200" b="0" i="0" u="none">
                <a:solidFill>
                  <a:srgbClr val="000000"/>
                </a:solidFill>
                <a:latin typeface="JRLKGN"/>
              </a:rPr>
              <a:t xml:space="preserve">to an acoustic cavity. Any successful synthesis should respect this two-stage sound production: anexcitation source (bunch of pulses) into a band-limited resonator.Applying Acoustic Analysis to WebAudio SynthesisRecreating cicada calls with the Web Audio API will leverage the above insights – we know the targetspectral profile and temporal pattern for each species, and we have clues from modeling research on howto synthesize such sounds. The Web Audio API provides tools like oscillators, noise sources (viaAudioBuffer or ScriptProcessor/AudioWorklet), filters, and envelope control (Gain nodes) which can becombined to simulate the cicada sound mechanism. Here are key considerations and techniques:Band-Limited Source (Oscillators vs Noise): Cicada calls are not pure tones; they contain abroad cluster of frequencies. A simple sine OscillatorNode would be insufficient. Instead, considerusing a noise source filtered to the appropriate band. For example, to mimic Minminzemi,generate white noise and run it through a band-pass BiquadFilter centered around ~4–5 kHz witha bandwidth of a few kHz (to cover 3–6 kHz). This creates a noisy signal with energydistributed like the cicada’s timbre. Farnell recommends heavily filtering the noise to confine it tothe insect’s frequency range (e.g. 5–8 kHz for many cicadas), because any excess low-frequencycontent can introduce rumbling or amplitude modulation artifacts that make the result lessrealistic. If a species has two distinct spectral peaks (e.g. Tsukutsukuboushi’s ~6 kHz and ~12kHz, or a bimodal spectrum with a gap), you might use two band-pass filters in parallel, or asingle band-pass with a higher Q that is swept during the call. In WebAudio, you can also utilizethe </a:t>
            </a:r>
            <a:endParaRPr/>
          </a:p>
        </p:txBody>
      </p:sp>
      <p:sp>
        <p:nvSpPr>
          <p:cNvPr id="13" name="TextBox 13"/>
          <p:cNvSpPr txBox="1"/>
          <p:nvPr/>
        </p:nvSpPr>
        <p:spPr>
          <a:xfrm>
            <a:off x="1829489" y="6501266"/>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14" name="TextBox 14"/>
          <p:cNvSpPr txBox="1"/>
          <p:nvPr/>
        </p:nvSpPr>
        <p:spPr>
          <a:xfrm>
            <a:off x="5479498" y="5666177"/>
            <a:ext cx="50819" cy="101638"/>
          </a:xfrm>
          <a:prstGeom prst="rect">
            <a:avLst/>
          </a:prstGeom>
          <a:noFill/>
        </p:spPr>
        <p:txBody>
          <a:bodyPr wrap="none" anchor="t" anchorCtr="0"/>
          <a:lstStyle/>
          <a:p>
            <a:pPr algn="l"/>
            <a:r>
              <a:rPr sz="800" b="0" i="0" u="none">
                <a:solidFill>
                  <a:srgbClr val="333333"/>
                </a:solidFill>
                <a:latin typeface="JRLKGN"/>
              </a:rPr>
              <a:t>1</a:t>
            </a:r>
            <a:endParaRPr/>
          </a:p>
        </p:txBody>
      </p:sp>
      <p:sp>
        <p:nvSpPr>
          <p:cNvPr id="15" name="TextBox 15"/>
          <p:cNvSpPr txBox="1"/>
          <p:nvPr/>
        </p:nvSpPr>
        <p:spPr>
          <a:xfrm>
            <a:off x="2481255" y="4745411"/>
            <a:ext cx="101638" cy="101638"/>
          </a:xfrm>
          <a:prstGeom prst="rect">
            <a:avLst/>
          </a:prstGeom>
          <a:noFill/>
        </p:spPr>
        <p:txBody>
          <a:bodyPr wrap="none" anchor="t" anchorCtr="0"/>
          <a:lstStyle/>
          <a:p>
            <a:pPr algn="l"/>
            <a:r>
              <a:rPr sz="800" b="0" i="0" u="none">
                <a:solidFill>
                  <a:srgbClr val="333333"/>
                </a:solidFill>
                <a:latin typeface="JRLKGN"/>
              </a:rPr>
              <a:t>18</a:t>
            </a:r>
            <a:endParaRPr/>
          </a:p>
        </p:txBody>
      </p:sp>
      <p:sp>
        <p:nvSpPr>
          <p:cNvPr id="16" name="TextBox 16"/>
          <p:cNvSpPr txBox="1"/>
          <p:nvPr/>
        </p:nvSpPr>
        <p:spPr>
          <a:xfrm>
            <a:off x="4758054" y="4510704"/>
            <a:ext cx="50819" cy="101638"/>
          </a:xfrm>
          <a:prstGeom prst="rect">
            <a:avLst/>
          </a:prstGeom>
          <a:noFill/>
        </p:spPr>
        <p:txBody>
          <a:bodyPr wrap="none" anchor="t" anchorCtr="0"/>
          <a:lstStyle/>
          <a:p>
            <a:pPr algn="l"/>
            <a:r>
              <a:rPr sz="800" b="0" i="0" u="none">
                <a:solidFill>
                  <a:srgbClr val="333333"/>
                </a:solidFill>
                <a:latin typeface="JRLKGN"/>
              </a:rPr>
              <a:t>2</a:t>
            </a:r>
            <a:endParaRPr/>
          </a:p>
        </p:txBody>
      </p:sp>
      <p:sp>
        <p:nvSpPr>
          <p:cNvPr id="17" name="TextBox 17"/>
          <p:cNvSpPr txBox="1"/>
          <p:nvPr/>
        </p:nvSpPr>
        <p:spPr>
          <a:xfrm>
            <a:off x="1829489" y="1649362"/>
            <a:ext cx="14742077" cy="2470750"/>
          </a:xfrm>
          <a:prstGeom prst="rect">
            <a:avLst/>
          </a:prstGeom>
          <a:noFill/>
        </p:spPr>
        <p:txBody>
          <a:bodyPr wrap="none" anchor="t" anchorCtr="0"/>
          <a:lstStyle/>
          <a:p>
            <a:pPr algn="l"/>
            <a:r>
              <a:rPr sz="1200" b="0" i="0" u="none">
                <a:solidFill>
                  <a:srgbClr val="000000"/>
                </a:solidFill>
                <a:latin typeface="GKFPRK"/>
              </a:rPr>
              <a:t xml:space="preserve">PeriodicWave or add multiple OscillatorNodes to approximate harmonic bands, but a filterednoise approach more naturally yields the raspy, dense quality of cicada sound.Amplitude Envelopes and Rhythm: The characteristic rhythm of each cicada must beprogrammed via gain envelopes or oscillator modulation. For continuous buzz species likeKumazemi, you might apply a subtle tremolo (amplitude modulation) at, say, 20–30 Hz tosimulate any fine flutter, but largely keep the Gain node open for a sustained “shaaa” duration. Forpulsed calls like Minminzemi, you can design a two-stage envelope: a longer attack-decay for theinitial “Meeen” (perhaps a few hundred milliseconds long) immediately followed by a loop orsequence of shorter bursts for the “min-min-min”. In WebAudio, this can be achieved byscheduling GainNode gain changes with </a:t>
            </a:r>
            <a:endParaRPr/>
          </a:p>
        </p:txBody>
      </p:sp>
      <p:sp>
        <p:nvSpPr>
          <p:cNvPr id="18" name="TextBox 18"/>
          <p:cNvSpPr txBox="1"/>
          <p:nvPr/>
        </p:nvSpPr>
        <p:spPr>
          <a:xfrm>
            <a:off x="7414087" y="3818624"/>
            <a:ext cx="101638" cy="101638"/>
          </a:xfrm>
          <a:prstGeom prst="rect">
            <a:avLst/>
          </a:prstGeom>
          <a:noFill/>
        </p:spPr>
        <p:txBody>
          <a:bodyPr wrap="none" anchor="t" anchorCtr="0"/>
          <a:lstStyle/>
          <a:p>
            <a:pPr algn="l"/>
            <a:r>
              <a:rPr sz="800" b="0" i="0" u="none">
                <a:solidFill>
                  <a:srgbClr val="333333"/>
                </a:solidFill>
                <a:latin typeface="JRLKGN"/>
              </a:rPr>
              <a:t>16</a:t>
            </a:r>
            <a:endParaRPr/>
          </a:p>
        </p:txBody>
      </p:sp>
      <p:sp>
        <p:nvSpPr>
          <p:cNvPr id="19" name="TextBox 19"/>
          <p:cNvSpPr txBox="1"/>
          <p:nvPr/>
        </p:nvSpPr>
        <p:spPr>
          <a:xfrm>
            <a:off x="1829489" y="3250165"/>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20" name="TextBox 20"/>
          <p:cNvSpPr txBox="1"/>
          <p:nvPr/>
        </p:nvSpPr>
        <p:spPr>
          <a:xfrm>
            <a:off x="1829489" y="271224"/>
            <a:ext cx="14901611" cy="1530596"/>
          </a:xfrm>
          <a:prstGeom prst="rect">
            <a:avLst/>
          </a:prstGeom>
          <a:noFill/>
        </p:spPr>
        <p:txBody>
          <a:bodyPr wrap="none" anchor="t" anchorCtr="0"/>
          <a:lstStyle/>
          <a:p>
            <a:pPr algn="l"/>
            <a:r>
              <a:rPr sz="1200" b="0" i="0" u="none">
                <a:solidFill>
                  <a:srgbClr val="000000"/>
                </a:solidFill>
                <a:latin typeface="GKFPRK"/>
              </a:rPr>
              <a:t xml:space="preserve">linearRampToValueAtTime to forma custom envelope, or by using a low-frequency OscillatorNode (set to a rhythmic frequency)connected to the gain. For example, Minminzemi’s repetition rate might be on the order of ~4–6cycles per second for the full call (each phrase ~0.2–0.3 s of sound followed by a pause).Tsukutsukuboushi’s call can be scripted as a series of distinct segments: an intro section with onerhythm and frequency, then a crescendo section with a faster, higher-pitched rhythm. You couldmanually trigger these segments via the WebAudio  setValueAtTime and </a:t>
            </a:r>
            <a:endParaRPr/>
          </a:p>
        </p:txBody>
      </p:sp>
      <p:sp>
        <p:nvSpPr>
          <p:cNvPr id="21" name="TextBox 21"/>
          <p:cNvSpPr txBox="1"/>
          <p:nvPr/>
        </p:nvSpPr>
        <p:spPr>
          <a:xfrm>
            <a:off x="8536657" y="1042959"/>
            <a:ext cx="101638" cy="101638"/>
          </a:xfrm>
          <a:prstGeom prst="rect">
            <a:avLst/>
          </a:prstGeom>
          <a:noFill/>
        </p:spPr>
        <p:txBody>
          <a:bodyPr wrap="none" anchor="t" anchorCtr="0"/>
          <a:lstStyle/>
          <a:p>
            <a:pPr algn="l"/>
            <a:r>
              <a:rPr sz="800" b="0" i="0" u="none">
                <a:solidFill>
                  <a:srgbClr val="333333"/>
                </a:solidFill>
                <a:latin typeface="JRLKGN"/>
              </a:rPr>
              <a:t>19</a:t>
            </a:r>
            <a:endParaRPr/>
          </a:p>
        </p:txBody>
      </p:sp>
      <p:sp>
        <p:nvSpPr>
          <p:cNvPr id="22" name="TextBox 22"/>
          <p:cNvSpPr txBox="1"/>
          <p:nvPr/>
        </p:nvSpPr>
        <p:spPr>
          <a:xfrm>
            <a:off x="1829489" y="-2275755"/>
            <a:ext cx="14504916" cy="2699436"/>
          </a:xfrm>
          <a:prstGeom prst="rect">
            <a:avLst/>
          </a:prstGeom>
          <a:noFill/>
        </p:spPr>
        <p:txBody>
          <a:bodyPr wrap="none" anchor="t" anchorCtr="0"/>
          <a:lstStyle/>
          <a:p>
            <a:pPr algn="l"/>
            <a:r>
              <a:rPr sz="1200" b="0" i="0" u="none">
                <a:solidFill>
                  <a:srgbClr val="000000"/>
                </a:solidFill>
                <a:latin typeface="GKFPRK"/>
              </a:rPr>
              <a:t>start() times or use a single longer Gainenvelope that changes shape. Farnell’s analysis indicated a roughly 25 Hz modulation inside somecicada calls (i.e. bursts every 40 ms) – if needed, one can add a high-rate oscillator tomodulate gain or use a patterned buffer to impart that buzzing microstructure within each chirp.The key is to reproduce both the macro structure (overall call length and phrasing) and the microstructure (the tremble or vibration within each phrase).Frequency Modulation and Sweeps: For species with changing pitch, like Tsukutsukuboushi,simply filtering noise may not capture the perceptible rise in pitch. In such cases, you mightintroduce an oscillator component mixed in or modulate the filter center frequency over time.For instance, during the “tsukutsukubōshi” call, you could start a bandpass filter at ~2 kHz andramp its center to ~8–10 kHz by the end of the call to mirror the spectrogram. Alternatively,</a:t>
            </a:r>
            <a:endParaRPr/>
          </a:p>
        </p:txBody>
      </p:sp>
      <p:sp>
        <p:nvSpPr>
          <p:cNvPr id="23" name="TextBox 23"/>
          <p:cNvSpPr txBox="1"/>
          <p:nvPr/>
        </p:nvSpPr>
        <p:spPr>
          <a:xfrm>
            <a:off x="4704741" y="-106493"/>
            <a:ext cx="101638" cy="101638"/>
          </a:xfrm>
          <a:prstGeom prst="rect">
            <a:avLst/>
          </a:prstGeom>
          <a:noFill/>
        </p:spPr>
        <p:txBody>
          <a:bodyPr wrap="none" anchor="t" anchorCtr="0"/>
          <a:lstStyle/>
          <a:p>
            <a:pPr algn="l"/>
            <a:r>
              <a:rPr sz="800" b="0" i="0" u="none">
                <a:solidFill>
                  <a:srgbClr val="333333"/>
                </a:solidFill>
                <a:latin typeface="JRLKGN"/>
              </a:rPr>
              <a:t>19</a:t>
            </a:r>
            <a:endParaRPr/>
          </a:p>
        </p:txBody>
      </p:sp>
      <p:sp>
        <p:nvSpPr>
          <p:cNvPr id="24" name="TextBox 24"/>
          <p:cNvSpPr txBox="1"/>
          <p:nvPr/>
        </p:nvSpPr>
        <p:spPr>
          <a:xfrm>
            <a:off x="1829489" y="-1361010"/>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25" name="TextBox 25"/>
          <p:cNvSpPr txBox="1"/>
          <p:nvPr/>
        </p:nvSpPr>
        <p:spPr>
          <a:xfrm>
            <a:off x="7581067" y="-2196099"/>
            <a:ext cx="50819" cy="101638"/>
          </a:xfrm>
          <a:prstGeom prst="rect">
            <a:avLst/>
          </a:prstGeom>
          <a:noFill/>
        </p:spPr>
        <p:txBody>
          <a:bodyPr wrap="none" anchor="t" anchorCtr="0"/>
          <a:lstStyle/>
          <a:p>
            <a:pPr algn="l"/>
            <a:r>
              <a:rPr sz="800" b="0" i="0" u="none">
                <a:solidFill>
                  <a:srgbClr val="333333"/>
                </a:solidFill>
                <a:latin typeface="JRLKGN"/>
              </a:rPr>
              <a:t>2</a:t>
            </a:r>
            <a:endParaRPr/>
          </a:p>
        </p:txBody>
      </p:sp>
      <p:sp>
        <p:nvSpPr>
          <p:cNvPr id="26" name="TextBox 26"/>
          <p:cNvSpPr txBox="1"/>
          <p:nvPr/>
        </p:nvSpPr>
        <p:spPr>
          <a:xfrm>
            <a:off x="4998296" y="-3167128"/>
            <a:ext cx="76229" cy="152457"/>
          </a:xfrm>
          <a:prstGeom prst="rect">
            <a:avLst/>
          </a:prstGeom>
          <a:noFill/>
        </p:spPr>
        <p:txBody>
          <a:bodyPr wrap="none" anchor="t" anchorCtr="0"/>
          <a:lstStyle/>
          <a:p>
            <a:pPr algn="l"/>
            <a:r>
              <a:rPr sz="1200" b="0" i="0" u="none">
                <a:solidFill>
                  <a:srgbClr val="6E6E6E"/>
                </a:solidFill>
                <a:latin typeface="HUHQIP"/>
              </a:rPr>
              <a:t>5</a:t>
            </a:r>
            <a:endParaRPr/>
          </a:p>
        </p:txBody>
      </p:sp>
    </p:spTree>
  </p:cSld>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1" name="Shape 1"/>
          <p:cNvSpPr/>
          <p:nvPr/>
        </p:nvSpPr>
        <p:spPr>
          <a:xfrm>
            <a:off x="4899018" y="1443333"/>
            <a:ext cx="152457" cy="142929"/>
          </a:xfrm>
          <a:prstGeom prst="rect">
            <a:avLst/>
          </a:prstGeom>
          <a:solidFill>
            <a:srgbClr val="EDEDED"/>
          </a:solidFill>
        </p:spPr>
      </p:sp>
      <p:sp>
        <p:nvSpPr>
          <p:cNvPr id="2" name="Shape 2"/>
          <p:cNvSpPr/>
          <p:nvPr/>
        </p:nvSpPr>
        <p:spPr>
          <a:xfrm>
            <a:off x="2384241" y="3182053"/>
            <a:ext cx="152457" cy="142929"/>
          </a:xfrm>
          <a:prstGeom prst="rect">
            <a:avLst/>
          </a:prstGeom>
          <a:solidFill>
            <a:srgbClr val="EDEDED"/>
          </a:solidFill>
        </p:spPr>
      </p:sp>
      <p:sp>
        <p:nvSpPr>
          <p:cNvPr id="3" name="Shape 3"/>
          <p:cNvSpPr/>
          <p:nvPr/>
        </p:nvSpPr>
        <p:spPr>
          <a:xfrm>
            <a:off x="5653815" y="4044142"/>
            <a:ext cx="152457" cy="142929"/>
          </a:xfrm>
          <a:prstGeom prst="rect">
            <a:avLst/>
          </a:prstGeom>
          <a:solidFill>
            <a:srgbClr val="EDEDED"/>
          </a:solidFill>
        </p:spPr>
      </p:sp>
      <p:sp>
        <p:nvSpPr>
          <p:cNvPr id="4" name="Shape 4"/>
          <p:cNvSpPr/>
          <p:nvPr/>
        </p:nvSpPr>
        <p:spPr>
          <a:xfrm>
            <a:off x="3622514" y="5611346"/>
            <a:ext cx="152457" cy="142929"/>
          </a:xfrm>
          <a:prstGeom prst="rect">
            <a:avLst/>
          </a:prstGeom>
          <a:solidFill>
            <a:srgbClr val="EDEDED"/>
          </a:solidFill>
        </p:spPr>
      </p:sp>
      <p:sp>
        <p:nvSpPr>
          <p:cNvPr id="5" name="Shape 5"/>
          <p:cNvSpPr/>
          <p:nvPr/>
        </p:nvSpPr>
        <p:spPr>
          <a:xfrm>
            <a:off x="3662041" y="7864610"/>
            <a:ext cx="152457" cy="142929"/>
          </a:xfrm>
          <a:prstGeom prst="rect">
            <a:avLst/>
          </a:prstGeom>
          <a:solidFill>
            <a:srgbClr val="EDEDED"/>
          </a:solidFill>
        </p:spPr>
      </p:sp>
      <p:sp>
        <p:nvSpPr>
          <p:cNvPr id="6" name="Shape 6"/>
          <p:cNvSpPr/>
          <p:nvPr/>
        </p:nvSpPr>
        <p:spPr>
          <a:xfrm>
            <a:off x="4226011" y="8212155"/>
            <a:ext cx="152457" cy="142929"/>
          </a:xfrm>
          <a:prstGeom prst="rect">
            <a:avLst/>
          </a:prstGeom>
          <a:solidFill>
            <a:srgbClr val="EDEDED"/>
          </a:solidFill>
        </p:spPr>
      </p:sp>
      <p:sp>
        <p:nvSpPr>
          <p:cNvPr id="7" name="Shape 7"/>
          <p:cNvSpPr/>
          <p:nvPr/>
        </p:nvSpPr>
        <p:spPr>
          <a:xfrm>
            <a:off x="5603267" y="8902729"/>
            <a:ext cx="152457" cy="142929"/>
          </a:xfrm>
          <a:prstGeom prst="rect">
            <a:avLst/>
          </a:prstGeom>
          <a:solidFill>
            <a:srgbClr val="EDEDED"/>
          </a:solidFill>
        </p:spPr>
      </p:sp>
      <p:sp>
        <p:nvSpPr>
          <p:cNvPr id="8" name="Shape 8"/>
          <p:cNvSpPr/>
          <p:nvPr/>
        </p:nvSpPr>
        <p:spPr>
          <a:xfrm>
            <a:off x="5812896" y="8902729"/>
            <a:ext cx="152457" cy="142929"/>
          </a:xfrm>
          <a:prstGeom prst="rect">
            <a:avLst/>
          </a:prstGeom>
          <a:solidFill>
            <a:srgbClr val="EDEDED"/>
          </a:solidFill>
        </p:spPr>
      </p:sp>
      <p:sp>
        <p:nvSpPr>
          <p:cNvPr id="9" name="TextBox 9"/>
          <p:cNvSpPr txBox="1"/>
          <p:nvPr/>
        </p:nvSpPr>
        <p:spPr>
          <a:xfrm>
            <a:off x="1321298" y="-1488820"/>
            <a:ext cx="15826405" cy="10784378"/>
          </a:xfrm>
          <a:prstGeom prst="rect">
            <a:avLst/>
          </a:prstGeom>
          <a:noFill/>
        </p:spPr>
        <p:txBody>
          <a:bodyPr wrap="none" anchor="t" anchorCtr="0"/>
          <a:lstStyle/>
          <a:p>
            <a:pPr algn="l"/>
            <a:r>
              <a:rPr sz="1200" b="0" i="0" u="none">
                <a:solidFill>
                  <a:srgbClr val="000000"/>
                </a:solidFill>
                <a:latin typeface="JRLKGN"/>
              </a:rPr>
              <a:t xml:space="preserve">use two oscillators an octave or two apart to emphasize the tonal rise, or use Frequency Paramautomation on an OscillatorNode if generating a tonal backbone. The Web Audio API allowssmooth automation of frequencies on Oscillators and BiquadFilter nodes, which is useful forimitating the frequency glide in Tsukutsukuboushi’s second half. Ensuring the timing of thissweep matches the natural call (a few seconds from start to finish) will make the synthetic callmore convincing.Resonance and Filtering (the “Resonator” stage): To incorporate the effect of the cicada’sabdominal resonator, you can use filters to shape the timbral envelope of each pulse. A shortimpulse through a band-pass filter will ring for a few cycles – analogous to the tymbal clickexciting the air sac resonance. In practice, your noise burst or oscillator burst can be sculpted byone or two BiquadFilterNodes (configured as band-pass or high-Q peaking filters) tuned to theprimary frequencies of the species. For example, if analysis shows peaks at 6 kHz and 15 kHz forTsukutsukuboushi, you might boost those frequencies with filter nodes. The filter Q (qualityfactor) can be adjusted to control how “sharp” or bell-like the resonance is. A higher Q yields amore tonal ring (but too high might sound artificial), whereas a lower Q gives a broader noise-likecharacter. You may also modulate the filter’s gain or frequency slightly during the call to simulatethe effect of the cicada dynamically opening its opercula (changing the acoustic coupling) – incicada physiology, movements of the abdominal plates can alter the tone color. For instance,closing the opercula might dampen high frequencies (akin to a VCF closing). In synthesis, thiscould be an envelope that slightly reduces a filter’s cutoff or gain toward the end of a callsegment.Synthesis Architecture (Oscillator → Filter → Amplifier): Interestingly, the cicada’s soundproduction chain maps well to a subtractive synthesis architecture. As noted by Matsumura, thecicada’s tymbal is like a VCO (oscillator) producing a rapid vibration, the abdominal cavity is like aVCA (amplifier/resonator) boosting the sound, and the adjustable abdominal openings functionakin to a VCF (filter) shaping the timbre. We can emulate this in WebAudio: The excitationsource can be an OscillatorNode generating a high-frequency click train or a noise burst (this isour “VCO”). This goes into one or more filters (band-pass filters simulating the resonant body –our “VCF”) to impose the tonal character. Finally, a GainNode acts as an amplitude envelope (the“VCA”), which we modulate to produce the call’s amplitude pattern. By separating these stages,you can fine-tune each: e.g. adjust the filter frequency to match the species (higher for smallercicadas, lower for large ones), and adjust the Gain envelope to get the right duty cycle (continuousvs. pulsed). This modular approach mirrors the physical reality and is supported by the Web Audiograph design.In conclusion, faithfully reproducing cicada calls with WebAudio is achievable by combining analysis-driven parameters with creative use of the API’s synthesis primitives. We use research data (frequencyspectra, pulse rates, envelope shapes) as a blueprint: for example, we know Minminzemi’s energy isfocused around 4 kHz with an on-off envelope, so we implement a 4 kHz-centered filter and amatching gain pattern. We know cicada chirps result from impulses at high rates, so we opt for noise-based excitation filtered into chirps rather than a single tone. By iterating with these building blocks –oscillators for any tonal components, noise for chaotic clicks, filters for resonance, and scheduled gainchanges for rhythm – one can synthesize remarkably life-like cicada songs in the browser. The key is torespect the natural structure (both spectral and temporal) that studies have identified for each species,thereby ensuring the essence of the cicada’s voice is captured in the synthetic version. </a:t>
            </a:r>
            <a:endParaRPr/>
          </a:p>
        </p:txBody>
      </p:sp>
      <p:sp>
        <p:nvSpPr>
          <p:cNvPr id="10" name="TextBox 10"/>
          <p:cNvSpPr txBox="1"/>
          <p:nvPr/>
        </p:nvSpPr>
        <p:spPr>
          <a:xfrm>
            <a:off x="6605455" y="8536697"/>
            <a:ext cx="50819" cy="101638"/>
          </a:xfrm>
          <a:prstGeom prst="rect">
            <a:avLst/>
          </a:prstGeom>
          <a:noFill/>
        </p:spPr>
        <p:txBody>
          <a:bodyPr wrap="none" anchor="t" anchorCtr="0"/>
          <a:lstStyle/>
          <a:p>
            <a:pPr algn="l"/>
            <a:r>
              <a:rPr sz="800" b="0" i="0" u="none">
                <a:solidFill>
                  <a:srgbClr val="333333"/>
                </a:solidFill>
                <a:latin typeface="JRLKGN"/>
              </a:rPr>
              <a:t>2</a:t>
            </a:r>
            <a:endParaRPr/>
          </a:p>
        </p:txBody>
      </p:sp>
      <p:sp>
        <p:nvSpPr>
          <p:cNvPr id="11" name="TextBox 11"/>
          <p:cNvSpPr txBox="1"/>
          <p:nvPr/>
        </p:nvSpPr>
        <p:spPr>
          <a:xfrm>
            <a:off x="1829489" y="7510866"/>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12" name="TextBox 12"/>
          <p:cNvSpPr txBox="1"/>
          <p:nvPr/>
        </p:nvSpPr>
        <p:spPr>
          <a:xfrm>
            <a:off x="3252419" y="6218404"/>
            <a:ext cx="50819" cy="101638"/>
          </a:xfrm>
          <a:prstGeom prst="rect">
            <a:avLst/>
          </a:prstGeom>
          <a:noFill/>
        </p:spPr>
        <p:txBody>
          <a:bodyPr wrap="none" anchor="t" anchorCtr="0"/>
          <a:lstStyle/>
          <a:p>
            <a:pPr algn="l"/>
            <a:r>
              <a:rPr sz="800" b="0" i="0" u="none">
                <a:solidFill>
                  <a:srgbClr val="333333"/>
                </a:solidFill>
                <a:latin typeface="JRLKGN"/>
              </a:rPr>
              <a:t>2</a:t>
            </a:r>
            <a:endParaRPr/>
          </a:p>
        </p:txBody>
      </p:sp>
      <p:sp>
        <p:nvSpPr>
          <p:cNvPr id="13" name="TextBox 13"/>
          <p:cNvSpPr txBox="1"/>
          <p:nvPr/>
        </p:nvSpPr>
        <p:spPr>
          <a:xfrm>
            <a:off x="7583644" y="5068952"/>
            <a:ext cx="101638" cy="101638"/>
          </a:xfrm>
          <a:prstGeom prst="rect">
            <a:avLst/>
          </a:prstGeom>
          <a:noFill/>
        </p:spPr>
        <p:txBody>
          <a:bodyPr wrap="none" anchor="t" anchorCtr="0"/>
          <a:lstStyle/>
          <a:p>
            <a:pPr algn="l"/>
            <a:r>
              <a:rPr sz="800" b="0" i="0" u="none">
                <a:solidFill>
                  <a:srgbClr val="333333"/>
                </a:solidFill>
                <a:latin typeface="JRLKGN"/>
              </a:rPr>
              <a:t>23</a:t>
            </a:r>
            <a:endParaRPr/>
          </a:p>
        </p:txBody>
      </p:sp>
      <p:sp>
        <p:nvSpPr>
          <p:cNvPr id="14" name="TextBox 14"/>
          <p:cNvSpPr txBox="1"/>
          <p:nvPr/>
        </p:nvSpPr>
        <p:spPr>
          <a:xfrm>
            <a:off x="1829489" y="3814435"/>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15" name="TextBox 15"/>
          <p:cNvSpPr txBox="1"/>
          <p:nvPr/>
        </p:nvSpPr>
        <p:spPr>
          <a:xfrm>
            <a:off x="4875242" y="2979346"/>
            <a:ext cx="101638" cy="101638"/>
          </a:xfrm>
          <a:prstGeom prst="rect">
            <a:avLst/>
          </a:prstGeom>
          <a:noFill/>
        </p:spPr>
        <p:txBody>
          <a:bodyPr wrap="none" anchor="t" anchorCtr="0"/>
          <a:lstStyle/>
          <a:p>
            <a:pPr algn="l"/>
            <a:r>
              <a:rPr sz="800" b="0" i="0" u="none">
                <a:solidFill>
                  <a:srgbClr val="333333"/>
                </a:solidFill>
                <a:latin typeface="JRLKGN"/>
              </a:rPr>
              <a:t>28</a:t>
            </a:r>
            <a:endParaRPr/>
          </a:p>
        </p:txBody>
      </p:sp>
      <p:sp>
        <p:nvSpPr>
          <p:cNvPr id="16" name="TextBox 16"/>
          <p:cNvSpPr txBox="1"/>
          <p:nvPr/>
        </p:nvSpPr>
        <p:spPr>
          <a:xfrm>
            <a:off x="4956152" y="-25005"/>
            <a:ext cx="50819" cy="101638"/>
          </a:xfrm>
          <a:prstGeom prst="rect">
            <a:avLst/>
          </a:prstGeom>
          <a:noFill/>
        </p:spPr>
        <p:txBody>
          <a:bodyPr wrap="none" anchor="t" anchorCtr="0"/>
          <a:lstStyle/>
          <a:p>
            <a:pPr algn="l"/>
            <a:r>
              <a:rPr sz="800" b="0" i="0" u="none">
                <a:solidFill>
                  <a:srgbClr val="333333"/>
                </a:solidFill>
                <a:latin typeface="JRLKGN"/>
              </a:rPr>
              <a:t>1</a:t>
            </a:r>
            <a:endParaRPr/>
          </a:p>
        </p:txBody>
      </p:sp>
      <p:sp>
        <p:nvSpPr>
          <p:cNvPr id="17" name="TextBox 17"/>
          <p:cNvSpPr txBox="1"/>
          <p:nvPr/>
        </p:nvSpPr>
        <p:spPr>
          <a:xfrm>
            <a:off x="5679904" y="-488399"/>
            <a:ext cx="101638" cy="101638"/>
          </a:xfrm>
          <a:prstGeom prst="rect">
            <a:avLst/>
          </a:prstGeom>
          <a:noFill/>
        </p:spPr>
        <p:txBody>
          <a:bodyPr wrap="none" anchor="t" anchorCtr="0"/>
          <a:lstStyle/>
          <a:p>
            <a:pPr algn="l"/>
            <a:r>
              <a:rPr sz="800" b="0" i="0" u="none">
                <a:solidFill>
                  <a:srgbClr val="333333"/>
                </a:solidFill>
                <a:latin typeface="JRLKGN"/>
              </a:rPr>
              <a:t>16</a:t>
            </a:r>
            <a:endParaRPr/>
          </a:p>
        </p:txBody>
      </p:sp>
      <p:sp>
        <p:nvSpPr>
          <p:cNvPr id="18" name="TextBox 18"/>
          <p:cNvSpPr txBox="1"/>
          <p:nvPr/>
        </p:nvSpPr>
        <p:spPr>
          <a:xfrm>
            <a:off x="7516247" y="-1409165"/>
            <a:ext cx="358532" cy="101638"/>
          </a:xfrm>
          <a:prstGeom prst="rect">
            <a:avLst/>
          </a:prstGeom>
          <a:noFill/>
        </p:spPr>
        <p:txBody>
          <a:bodyPr wrap="none" anchor="t" anchorCtr="0"/>
          <a:lstStyle/>
          <a:p>
            <a:pPr algn="l"/>
            <a:r>
              <a:rPr sz="800" b="0" i="0" u="none">
                <a:solidFill>
                  <a:srgbClr val="333333"/>
                </a:solidFill>
                <a:latin typeface="JRLKGN"/>
              </a:rPr>
              <a:t>19 2</a:t>
            </a:r>
            <a:endParaRPr/>
          </a:p>
        </p:txBody>
      </p:sp>
      <p:sp>
        <p:nvSpPr>
          <p:cNvPr id="19" name="TextBox 19"/>
          <p:cNvSpPr txBox="1"/>
          <p:nvPr/>
        </p:nvSpPr>
        <p:spPr>
          <a:xfrm>
            <a:off x="4998296" y="-3167128"/>
            <a:ext cx="76229" cy="152457"/>
          </a:xfrm>
          <a:prstGeom prst="rect">
            <a:avLst/>
          </a:prstGeom>
          <a:noFill/>
        </p:spPr>
        <p:txBody>
          <a:bodyPr wrap="none" anchor="t" anchorCtr="0"/>
          <a:lstStyle/>
          <a:p>
            <a:pPr algn="l"/>
            <a:r>
              <a:rPr sz="1200" b="0" i="0" u="none">
                <a:solidFill>
                  <a:srgbClr val="6E6E6E"/>
                </a:solidFill>
                <a:latin typeface="HUHQIP"/>
              </a:rPr>
              <a:t>6</a:t>
            </a:r>
            <a:endParaRPr/>
          </a:p>
        </p:txBody>
      </p:sp>
    </p:spTree>
  </p:cSld>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p:sp>
        <p:nvSpPr>
          <p:cNvPr id="1" name="Shape 1"/>
          <p:cNvSpPr/>
          <p:nvPr/>
        </p:nvSpPr>
        <p:spPr>
          <a:xfrm>
            <a:off x="990973" y="3518695"/>
            <a:ext cx="5580903" cy="9529"/>
          </a:xfrm>
          <a:custGeom>
            <a:avLst/>
            <a:gdLst/>
            <a:ahLst/>
            <a:cxnLst/>
            <a:pathLst>
              <a:path w="5580903" h="9529" fill="norm" stroke="0" extrusionOk="0">
                <a:moveTo>
                  <a:pt x="0" y="9529"/>
                </a:moveTo>
                <a:lnTo>
                  <a:pt x="5580903" y="9529"/>
                </a:lnTo>
                <a:lnTo>
                  <a:pt x="5580903" y="9529"/>
                </a:lnTo>
                <a:lnTo>
                  <a:pt x="0" y="9529"/>
                </a:lnTo>
                <a:close/>
                <a:moveTo>
                  <a:pt x="0" y="0"/>
                </a:moveTo>
                <a:lnTo>
                  <a:pt x="5580903" y="0"/>
                </a:lnTo>
                <a:lnTo>
                  <a:pt x="5580903" y="9529"/>
                </a:lnTo>
                <a:lnTo>
                  <a:pt x="0" y="9529"/>
                </a:lnTo>
                <a:close/>
              </a:path>
            </a:pathLst>
          </a:custGeom>
          <a:solidFill>
            <a:srgbClr val="BBBBBB"/>
          </a:solidFill>
        </p:spPr>
      </p:sp>
      <p:sp>
        <p:nvSpPr>
          <p:cNvPr id="2" name="Shape 2"/>
          <p:cNvSpPr/>
          <p:nvPr/>
        </p:nvSpPr>
        <p:spPr>
          <a:xfrm>
            <a:off x="5864513" y="1252380"/>
            <a:ext cx="152457" cy="142929"/>
          </a:xfrm>
          <a:prstGeom prst="rect">
            <a:avLst/>
          </a:prstGeom>
          <a:solidFill>
            <a:srgbClr val="EDEDED"/>
          </a:solidFill>
        </p:spPr>
      </p:sp>
      <p:sp>
        <p:nvSpPr>
          <p:cNvPr id="3" name="Shape 3"/>
          <p:cNvSpPr/>
          <p:nvPr/>
        </p:nvSpPr>
        <p:spPr>
          <a:xfrm>
            <a:off x="6074142" y="1252380"/>
            <a:ext cx="152457" cy="142929"/>
          </a:xfrm>
          <a:prstGeom prst="rect">
            <a:avLst/>
          </a:prstGeom>
          <a:solidFill>
            <a:srgbClr val="EDEDED"/>
          </a:solidFill>
        </p:spPr>
      </p:sp>
      <p:sp>
        <p:nvSpPr>
          <p:cNvPr id="4" name="Shape 4"/>
          <p:cNvSpPr/>
          <p:nvPr/>
        </p:nvSpPr>
        <p:spPr>
          <a:xfrm>
            <a:off x="6283771" y="1252380"/>
            <a:ext cx="152457" cy="142929"/>
          </a:xfrm>
          <a:prstGeom prst="rect">
            <a:avLst/>
          </a:prstGeom>
          <a:solidFill>
            <a:srgbClr val="EDEDED"/>
          </a:solidFill>
        </p:spPr>
      </p:sp>
      <p:sp>
        <p:nvSpPr>
          <p:cNvPr id="5" name="Shape 5"/>
          <p:cNvSpPr/>
          <p:nvPr/>
        </p:nvSpPr>
        <p:spPr>
          <a:xfrm>
            <a:off x="1410231" y="1428411"/>
            <a:ext cx="152457" cy="142929"/>
          </a:xfrm>
          <a:prstGeom prst="rect">
            <a:avLst/>
          </a:prstGeom>
          <a:solidFill>
            <a:srgbClr val="EDEDED"/>
          </a:solidFill>
        </p:spPr>
      </p:sp>
      <p:sp>
        <p:nvSpPr>
          <p:cNvPr id="6" name="Shape 6"/>
          <p:cNvSpPr/>
          <p:nvPr/>
        </p:nvSpPr>
        <p:spPr>
          <a:xfrm>
            <a:off x="1619860" y="1428411"/>
            <a:ext cx="152457" cy="142929"/>
          </a:xfrm>
          <a:prstGeom prst="rect">
            <a:avLst/>
          </a:prstGeom>
          <a:solidFill>
            <a:srgbClr val="EDEDED"/>
          </a:solidFill>
        </p:spPr>
      </p:sp>
      <p:sp>
        <p:nvSpPr>
          <p:cNvPr id="7" name="Shape 7"/>
          <p:cNvSpPr/>
          <p:nvPr/>
        </p:nvSpPr>
        <p:spPr>
          <a:xfrm>
            <a:off x="3262323" y="1775956"/>
            <a:ext cx="152457" cy="142929"/>
          </a:xfrm>
          <a:prstGeom prst="rect">
            <a:avLst/>
          </a:prstGeom>
          <a:solidFill>
            <a:srgbClr val="EDEDED"/>
          </a:solidFill>
        </p:spPr>
      </p:sp>
      <p:sp>
        <p:nvSpPr>
          <p:cNvPr id="8" name="Shape 8"/>
          <p:cNvSpPr/>
          <p:nvPr/>
        </p:nvSpPr>
        <p:spPr>
          <a:xfrm>
            <a:off x="3471952" y="1775956"/>
            <a:ext cx="152457" cy="142929"/>
          </a:xfrm>
          <a:prstGeom prst="rect">
            <a:avLst/>
          </a:prstGeom>
          <a:solidFill>
            <a:srgbClr val="EDEDED"/>
          </a:solidFill>
        </p:spPr>
      </p:sp>
      <p:sp>
        <p:nvSpPr>
          <p:cNvPr id="9" name="Shape 9"/>
          <p:cNvSpPr/>
          <p:nvPr/>
        </p:nvSpPr>
        <p:spPr>
          <a:xfrm>
            <a:off x="3275937" y="2123501"/>
            <a:ext cx="152457" cy="142929"/>
          </a:xfrm>
          <a:prstGeom prst="rect">
            <a:avLst/>
          </a:prstGeom>
          <a:solidFill>
            <a:srgbClr val="EDEDED"/>
          </a:solidFill>
        </p:spPr>
      </p:sp>
      <p:sp>
        <p:nvSpPr>
          <p:cNvPr id="10" name="Shape 10"/>
          <p:cNvSpPr/>
          <p:nvPr/>
        </p:nvSpPr>
        <p:spPr>
          <a:xfrm>
            <a:off x="3485566" y="2123501"/>
            <a:ext cx="152457" cy="142929"/>
          </a:xfrm>
          <a:prstGeom prst="rect">
            <a:avLst/>
          </a:prstGeom>
          <a:solidFill>
            <a:srgbClr val="EDEDED"/>
          </a:solidFill>
        </p:spPr>
      </p:sp>
      <p:sp>
        <p:nvSpPr>
          <p:cNvPr id="11" name="Shape 11"/>
          <p:cNvSpPr/>
          <p:nvPr/>
        </p:nvSpPr>
        <p:spPr>
          <a:xfrm>
            <a:off x="3920280" y="2471046"/>
            <a:ext cx="152457" cy="142929"/>
          </a:xfrm>
          <a:prstGeom prst="rect">
            <a:avLst/>
          </a:prstGeom>
          <a:solidFill>
            <a:srgbClr val="EDEDED"/>
          </a:solidFill>
        </p:spPr>
      </p:sp>
      <p:sp>
        <p:nvSpPr>
          <p:cNvPr id="12" name="Shape 12"/>
          <p:cNvSpPr/>
          <p:nvPr/>
        </p:nvSpPr>
        <p:spPr>
          <a:xfrm>
            <a:off x="4129909" y="2471046"/>
            <a:ext cx="152457" cy="142929"/>
          </a:xfrm>
          <a:prstGeom prst="rect">
            <a:avLst/>
          </a:prstGeom>
          <a:solidFill>
            <a:srgbClr val="EDEDED"/>
          </a:solidFill>
        </p:spPr>
      </p:sp>
      <p:sp>
        <p:nvSpPr>
          <p:cNvPr id="13" name="Shape 13"/>
          <p:cNvSpPr/>
          <p:nvPr/>
        </p:nvSpPr>
        <p:spPr>
          <a:xfrm>
            <a:off x="4274299" y="2818591"/>
            <a:ext cx="152457" cy="142929"/>
          </a:xfrm>
          <a:prstGeom prst="rect">
            <a:avLst/>
          </a:prstGeom>
          <a:solidFill>
            <a:srgbClr val="EDEDED"/>
          </a:solidFill>
        </p:spPr>
      </p:sp>
      <p:sp>
        <p:nvSpPr>
          <p:cNvPr id="14" name="Shape 14"/>
          <p:cNvSpPr/>
          <p:nvPr/>
        </p:nvSpPr>
        <p:spPr>
          <a:xfrm>
            <a:off x="4483928" y="2818591"/>
            <a:ext cx="152457" cy="142929"/>
          </a:xfrm>
          <a:prstGeom prst="rect">
            <a:avLst/>
          </a:prstGeom>
          <a:solidFill>
            <a:srgbClr val="EDEDED"/>
          </a:solidFill>
        </p:spPr>
      </p:sp>
      <p:sp>
        <p:nvSpPr>
          <p:cNvPr id="15" name="Shape 15"/>
          <p:cNvSpPr/>
          <p:nvPr/>
        </p:nvSpPr>
        <p:spPr>
          <a:xfrm>
            <a:off x="4209692" y="3166137"/>
            <a:ext cx="152457" cy="142929"/>
          </a:xfrm>
          <a:prstGeom prst="rect">
            <a:avLst/>
          </a:prstGeom>
          <a:solidFill>
            <a:srgbClr val="EDEDED"/>
          </a:solidFill>
        </p:spPr>
      </p:sp>
      <p:sp>
        <p:nvSpPr>
          <p:cNvPr id="16" name="Shape 16"/>
          <p:cNvSpPr/>
          <p:nvPr/>
        </p:nvSpPr>
        <p:spPr>
          <a:xfrm>
            <a:off x="990973" y="3732839"/>
            <a:ext cx="152457" cy="142929"/>
          </a:xfrm>
          <a:prstGeom prst="rect">
            <a:avLst/>
          </a:prstGeom>
          <a:solidFill>
            <a:srgbClr val="EDEDED"/>
          </a:solidFill>
        </p:spPr>
      </p:sp>
      <p:sp>
        <p:nvSpPr>
          <p:cNvPr id="17" name="Shape 17"/>
          <p:cNvSpPr/>
          <p:nvPr/>
        </p:nvSpPr>
        <p:spPr>
          <a:xfrm>
            <a:off x="1178577" y="3732839"/>
            <a:ext cx="152457" cy="142929"/>
          </a:xfrm>
          <a:prstGeom prst="rect">
            <a:avLst/>
          </a:prstGeom>
          <a:solidFill>
            <a:srgbClr val="EDEDED"/>
          </a:solidFill>
        </p:spPr>
      </p:sp>
      <p:sp>
        <p:nvSpPr>
          <p:cNvPr id="18" name="Shape 18"/>
          <p:cNvSpPr/>
          <p:nvPr/>
        </p:nvSpPr>
        <p:spPr>
          <a:xfrm>
            <a:off x="1366180" y="3732839"/>
            <a:ext cx="152457" cy="142929"/>
          </a:xfrm>
          <a:prstGeom prst="rect">
            <a:avLst/>
          </a:prstGeom>
          <a:solidFill>
            <a:srgbClr val="EDEDED"/>
          </a:solidFill>
        </p:spPr>
      </p:sp>
      <p:sp>
        <p:nvSpPr>
          <p:cNvPr id="19" name="Shape 19"/>
          <p:cNvSpPr/>
          <p:nvPr/>
        </p:nvSpPr>
        <p:spPr>
          <a:xfrm>
            <a:off x="990973" y="4358114"/>
            <a:ext cx="152457" cy="142929"/>
          </a:xfrm>
          <a:prstGeom prst="rect">
            <a:avLst/>
          </a:prstGeom>
          <a:solidFill>
            <a:srgbClr val="EDEDED"/>
          </a:solidFill>
        </p:spPr>
      </p:sp>
      <p:sp>
        <p:nvSpPr>
          <p:cNvPr id="20" name="Shape 20"/>
          <p:cNvSpPr/>
          <p:nvPr/>
        </p:nvSpPr>
        <p:spPr>
          <a:xfrm>
            <a:off x="1178577" y="4358114"/>
            <a:ext cx="152457" cy="142929"/>
          </a:xfrm>
          <a:prstGeom prst="rect">
            <a:avLst/>
          </a:prstGeom>
          <a:solidFill>
            <a:srgbClr val="EDEDED"/>
          </a:solidFill>
        </p:spPr>
      </p:sp>
      <p:sp>
        <p:nvSpPr>
          <p:cNvPr id="21" name="Shape 21"/>
          <p:cNvSpPr/>
          <p:nvPr/>
        </p:nvSpPr>
        <p:spPr>
          <a:xfrm>
            <a:off x="1366180" y="4358114"/>
            <a:ext cx="152457" cy="142929"/>
          </a:xfrm>
          <a:prstGeom prst="rect">
            <a:avLst/>
          </a:prstGeom>
          <a:solidFill>
            <a:srgbClr val="EDEDED"/>
          </a:solidFill>
        </p:spPr>
      </p:sp>
      <p:sp>
        <p:nvSpPr>
          <p:cNvPr id="22" name="Shape 22"/>
          <p:cNvSpPr/>
          <p:nvPr/>
        </p:nvSpPr>
        <p:spPr>
          <a:xfrm>
            <a:off x="990973" y="4794999"/>
            <a:ext cx="152457" cy="142929"/>
          </a:xfrm>
          <a:prstGeom prst="rect">
            <a:avLst/>
          </a:prstGeom>
          <a:solidFill>
            <a:srgbClr val="EDEDED"/>
          </a:solidFill>
        </p:spPr>
      </p:sp>
      <p:sp>
        <p:nvSpPr>
          <p:cNvPr id="23" name="Shape 23"/>
          <p:cNvSpPr/>
          <p:nvPr/>
        </p:nvSpPr>
        <p:spPr>
          <a:xfrm>
            <a:off x="990973" y="5231884"/>
            <a:ext cx="152457" cy="142929"/>
          </a:xfrm>
          <a:prstGeom prst="rect">
            <a:avLst/>
          </a:prstGeom>
          <a:solidFill>
            <a:srgbClr val="EDEDED"/>
          </a:solidFill>
        </p:spPr>
      </p:sp>
      <p:sp>
        <p:nvSpPr>
          <p:cNvPr id="24" name="Shape 24"/>
          <p:cNvSpPr/>
          <p:nvPr/>
        </p:nvSpPr>
        <p:spPr>
          <a:xfrm>
            <a:off x="990973" y="5668769"/>
            <a:ext cx="152457" cy="142929"/>
          </a:xfrm>
          <a:prstGeom prst="rect">
            <a:avLst/>
          </a:prstGeom>
          <a:solidFill>
            <a:srgbClr val="EDEDED"/>
          </a:solidFill>
        </p:spPr>
      </p:sp>
      <p:sp>
        <p:nvSpPr>
          <p:cNvPr id="25" name="Shape 25"/>
          <p:cNvSpPr/>
          <p:nvPr/>
        </p:nvSpPr>
        <p:spPr>
          <a:xfrm>
            <a:off x="990973" y="6277169"/>
            <a:ext cx="152457" cy="142929"/>
          </a:xfrm>
          <a:prstGeom prst="rect">
            <a:avLst/>
          </a:prstGeom>
          <a:solidFill>
            <a:srgbClr val="EDEDED"/>
          </a:solidFill>
        </p:spPr>
      </p:sp>
      <p:sp>
        <p:nvSpPr>
          <p:cNvPr id="26" name="Shape 26"/>
          <p:cNvSpPr/>
          <p:nvPr/>
        </p:nvSpPr>
        <p:spPr>
          <a:xfrm>
            <a:off x="1178577" y="6277169"/>
            <a:ext cx="152457" cy="142929"/>
          </a:xfrm>
          <a:prstGeom prst="rect">
            <a:avLst/>
          </a:prstGeom>
          <a:solidFill>
            <a:srgbClr val="EDEDED"/>
          </a:solidFill>
        </p:spPr>
      </p:sp>
      <p:sp>
        <p:nvSpPr>
          <p:cNvPr id="27" name="Shape 27"/>
          <p:cNvSpPr/>
          <p:nvPr/>
        </p:nvSpPr>
        <p:spPr>
          <a:xfrm>
            <a:off x="1366180" y="6277169"/>
            <a:ext cx="152457" cy="142929"/>
          </a:xfrm>
          <a:prstGeom prst="rect">
            <a:avLst/>
          </a:prstGeom>
          <a:solidFill>
            <a:srgbClr val="EDEDED"/>
          </a:solidFill>
        </p:spPr>
      </p:sp>
      <p:sp>
        <p:nvSpPr>
          <p:cNvPr id="28" name="Shape 28"/>
          <p:cNvSpPr/>
          <p:nvPr/>
        </p:nvSpPr>
        <p:spPr>
          <a:xfrm>
            <a:off x="1553784" y="6277169"/>
            <a:ext cx="152457" cy="142929"/>
          </a:xfrm>
          <a:prstGeom prst="rect">
            <a:avLst/>
          </a:prstGeom>
          <a:solidFill>
            <a:srgbClr val="EDEDED"/>
          </a:solidFill>
        </p:spPr>
      </p:sp>
      <p:sp>
        <p:nvSpPr>
          <p:cNvPr id="29" name="Shape 29"/>
          <p:cNvSpPr/>
          <p:nvPr/>
        </p:nvSpPr>
        <p:spPr>
          <a:xfrm>
            <a:off x="1741387" y="6277169"/>
            <a:ext cx="152457" cy="142929"/>
          </a:xfrm>
          <a:prstGeom prst="rect">
            <a:avLst/>
          </a:prstGeom>
          <a:solidFill>
            <a:srgbClr val="EDEDED"/>
          </a:solidFill>
        </p:spPr>
      </p:sp>
      <p:sp>
        <p:nvSpPr>
          <p:cNvPr id="30" name="Shape 30"/>
          <p:cNvSpPr/>
          <p:nvPr/>
        </p:nvSpPr>
        <p:spPr>
          <a:xfrm>
            <a:off x="1928991" y="6277169"/>
            <a:ext cx="152457" cy="142929"/>
          </a:xfrm>
          <a:prstGeom prst="rect">
            <a:avLst/>
          </a:prstGeom>
          <a:solidFill>
            <a:srgbClr val="EDEDED"/>
          </a:solidFill>
        </p:spPr>
      </p:sp>
      <p:sp>
        <p:nvSpPr>
          <p:cNvPr id="31" name="Shape 31"/>
          <p:cNvSpPr/>
          <p:nvPr/>
        </p:nvSpPr>
        <p:spPr>
          <a:xfrm>
            <a:off x="2116594" y="6277169"/>
            <a:ext cx="152457" cy="142929"/>
          </a:xfrm>
          <a:prstGeom prst="rect">
            <a:avLst/>
          </a:prstGeom>
          <a:solidFill>
            <a:srgbClr val="EDEDED"/>
          </a:solidFill>
        </p:spPr>
      </p:sp>
      <p:sp>
        <p:nvSpPr>
          <p:cNvPr id="32" name="Shape 32"/>
          <p:cNvSpPr/>
          <p:nvPr/>
        </p:nvSpPr>
        <p:spPr>
          <a:xfrm>
            <a:off x="990973" y="6879623"/>
            <a:ext cx="152457" cy="142929"/>
          </a:xfrm>
          <a:prstGeom prst="rect">
            <a:avLst/>
          </a:prstGeom>
          <a:solidFill>
            <a:srgbClr val="EDEDED"/>
          </a:solidFill>
        </p:spPr>
      </p:sp>
      <p:sp>
        <p:nvSpPr>
          <p:cNvPr id="33" name="Shape 33"/>
          <p:cNvSpPr/>
          <p:nvPr/>
        </p:nvSpPr>
        <p:spPr>
          <a:xfrm>
            <a:off x="1178577" y="6879623"/>
            <a:ext cx="152457" cy="142929"/>
          </a:xfrm>
          <a:prstGeom prst="rect">
            <a:avLst/>
          </a:prstGeom>
          <a:solidFill>
            <a:srgbClr val="EDEDED"/>
          </a:solidFill>
        </p:spPr>
      </p:sp>
      <p:sp>
        <p:nvSpPr>
          <p:cNvPr id="34" name="Shape 34"/>
          <p:cNvSpPr/>
          <p:nvPr/>
        </p:nvSpPr>
        <p:spPr>
          <a:xfrm>
            <a:off x="1366180" y="6879623"/>
            <a:ext cx="152457" cy="142929"/>
          </a:xfrm>
          <a:prstGeom prst="rect">
            <a:avLst/>
          </a:prstGeom>
          <a:solidFill>
            <a:srgbClr val="EDEDED"/>
          </a:solidFill>
        </p:spPr>
      </p:sp>
      <p:sp>
        <p:nvSpPr>
          <p:cNvPr id="35" name="Shape 35"/>
          <p:cNvSpPr/>
          <p:nvPr/>
        </p:nvSpPr>
        <p:spPr>
          <a:xfrm>
            <a:off x="1553784" y="6879623"/>
            <a:ext cx="152457" cy="142929"/>
          </a:xfrm>
          <a:prstGeom prst="rect">
            <a:avLst/>
          </a:prstGeom>
          <a:solidFill>
            <a:srgbClr val="EDEDED"/>
          </a:solidFill>
        </p:spPr>
      </p:sp>
      <p:sp>
        <p:nvSpPr>
          <p:cNvPr id="36" name="Shape 36"/>
          <p:cNvSpPr/>
          <p:nvPr/>
        </p:nvSpPr>
        <p:spPr>
          <a:xfrm>
            <a:off x="1741387" y="6879623"/>
            <a:ext cx="152457" cy="142929"/>
          </a:xfrm>
          <a:prstGeom prst="rect">
            <a:avLst/>
          </a:prstGeom>
          <a:solidFill>
            <a:srgbClr val="EDEDED"/>
          </a:solidFill>
        </p:spPr>
      </p:sp>
      <p:sp>
        <p:nvSpPr>
          <p:cNvPr id="37" name="Shape 37"/>
          <p:cNvSpPr/>
          <p:nvPr/>
        </p:nvSpPr>
        <p:spPr>
          <a:xfrm>
            <a:off x="990973" y="7316508"/>
            <a:ext cx="152457" cy="142929"/>
          </a:xfrm>
          <a:prstGeom prst="rect">
            <a:avLst/>
          </a:prstGeom>
          <a:solidFill>
            <a:srgbClr val="EDEDED"/>
          </a:solidFill>
        </p:spPr>
      </p:sp>
      <p:sp>
        <p:nvSpPr>
          <p:cNvPr id="38" name="Shape 38"/>
          <p:cNvSpPr/>
          <p:nvPr/>
        </p:nvSpPr>
        <p:spPr>
          <a:xfrm>
            <a:off x="1178577" y="7316508"/>
            <a:ext cx="152457" cy="142929"/>
          </a:xfrm>
          <a:prstGeom prst="rect">
            <a:avLst/>
          </a:prstGeom>
          <a:solidFill>
            <a:srgbClr val="EDEDED"/>
          </a:solidFill>
        </p:spPr>
      </p:sp>
      <p:sp>
        <p:nvSpPr>
          <p:cNvPr id="39" name="Shape 39"/>
          <p:cNvSpPr/>
          <p:nvPr/>
        </p:nvSpPr>
        <p:spPr>
          <a:xfrm>
            <a:off x="1366180" y="7316508"/>
            <a:ext cx="152457" cy="142929"/>
          </a:xfrm>
          <a:prstGeom prst="rect">
            <a:avLst/>
          </a:prstGeom>
          <a:solidFill>
            <a:srgbClr val="EDEDED"/>
          </a:solidFill>
        </p:spPr>
      </p:sp>
      <p:sp>
        <p:nvSpPr>
          <p:cNvPr id="40" name="Shape 40"/>
          <p:cNvSpPr/>
          <p:nvPr/>
        </p:nvSpPr>
        <p:spPr>
          <a:xfrm>
            <a:off x="1553784" y="7316508"/>
            <a:ext cx="152457" cy="142929"/>
          </a:xfrm>
          <a:prstGeom prst="rect">
            <a:avLst/>
          </a:prstGeom>
          <a:solidFill>
            <a:srgbClr val="EDEDED"/>
          </a:solidFill>
        </p:spPr>
      </p:sp>
      <p:sp>
        <p:nvSpPr>
          <p:cNvPr id="41" name="Shape 41"/>
          <p:cNvSpPr/>
          <p:nvPr/>
        </p:nvSpPr>
        <p:spPr>
          <a:xfrm>
            <a:off x="1741387" y="7316508"/>
            <a:ext cx="152457" cy="142929"/>
          </a:xfrm>
          <a:prstGeom prst="rect">
            <a:avLst/>
          </a:prstGeom>
          <a:solidFill>
            <a:srgbClr val="EDEDED"/>
          </a:solidFill>
        </p:spPr>
      </p:sp>
      <p:sp>
        <p:nvSpPr>
          <p:cNvPr id="42" name="Shape 42"/>
          <p:cNvSpPr/>
          <p:nvPr/>
        </p:nvSpPr>
        <p:spPr>
          <a:xfrm>
            <a:off x="1928991" y="7316508"/>
            <a:ext cx="152457" cy="142929"/>
          </a:xfrm>
          <a:prstGeom prst="rect">
            <a:avLst/>
          </a:prstGeom>
          <a:solidFill>
            <a:srgbClr val="EDEDED"/>
          </a:solidFill>
        </p:spPr>
      </p:sp>
      <p:sp>
        <p:nvSpPr>
          <p:cNvPr id="43" name="Shape 43"/>
          <p:cNvSpPr/>
          <p:nvPr/>
        </p:nvSpPr>
        <p:spPr>
          <a:xfrm>
            <a:off x="2116594" y="7316508"/>
            <a:ext cx="152457" cy="142929"/>
          </a:xfrm>
          <a:prstGeom prst="rect">
            <a:avLst/>
          </a:prstGeom>
          <a:solidFill>
            <a:srgbClr val="EDEDED"/>
          </a:solidFill>
        </p:spPr>
      </p:sp>
      <p:sp>
        <p:nvSpPr>
          <p:cNvPr id="44" name="Shape 44"/>
          <p:cNvSpPr/>
          <p:nvPr/>
        </p:nvSpPr>
        <p:spPr>
          <a:xfrm>
            <a:off x="990973" y="7753393"/>
            <a:ext cx="152457" cy="142929"/>
          </a:xfrm>
          <a:prstGeom prst="rect">
            <a:avLst/>
          </a:prstGeom>
          <a:solidFill>
            <a:srgbClr val="EDEDED"/>
          </a:solidFill>
        </p:spPr>
      </p:sp>
      <p:sp>
        <p:nvSpPr>
          <p:cNvPr id="45" name="TextBox 45"/>
          <p:cNvSpPr txBox="1"/>
          <p:nvPr/>
        </p:nvSpPr>
        <p:spPr>
          <a:xfrm>
            <a:off x="1321298" y="5147159"/>
            <a:ext cx="14940729" cy="4148399"/>
          </a:xfrm>
          <a:prstGeom prst="rect">
            <a:avLst/>
          </a:prstGeom>
          <a:noFill/>
        </p:spPr>
        <p:txBody>
          <a:bodyPr wrap="none" anchor="t" anchorCtr="0"/>
          <a:lstStyle/>
          <a:p>
            <a:pPr algn="l"/>
            <a:r>
              <a:rPr sz="1200" b="0" i="0" u="none">
                <a:solidFill>
                  <a:srgbClr val="000000"/>
                </a:solidFill>
                <a:latin typeface="XGIAKD"/>
              </a:rPr>
              <a:t>Sources:Acoustic analyses of Japanese cicada calls (spectrogram data and frequency ranges)Smyth, T. &amp; Smith, J. “A Musical Instrument Based on a Bioacoustic Model of a Cicada” – physicalmodel of cicada sound mechanismMatsumura, S. (2022). Physical Modeling Synthesis of Cicada Chirping – Pd implementation andanalogy to synthesizer architectureFarnell, A. Designing Sound (2010), Ch. 50 “Insects” – procedural synthesis of insect sounds;cicada noise-band model and modulation ratesBennet-Clark, H. C. &amp; Young, D. (1994, 1999) – Bioacoustic studies on cicada tymbal mechanismand resonance (as cited in Smyth’s and Farnell’s work)Kyushu Univ. News (2023) “Biological meaning hidden in the key change of Tsukutsukuboushi’scall” – ecological significance of two-part call pattern夏の風物詩、セミの鳴き声を科学する！アブラゼミ,ミンミンゼミ,ツクツクボウシの“音を見える化”してみた❣｜Sound One</a:t>
            </a:r>
            <a:endParaRPr/>
          </a:p>
        </p:txBody>
      </p:sp>
      <p:sp>
        <p:nvSpPr>
          <p:cNvPr id="46" name="TextBox 46"/>
          <p:cNvSpPr txBox="1"/>
          <p:nvPr/>
        </p:nvSpPr>
        <p:spPr>
          <a:xfrm>
            <a:off x="7892781" y="8791301"/>
            <a:ext cx="609830" cy="101638"/>
          </a:xfrm>
          <a:prstGeom prst="rect">
            <a:avLst/>
          </a:prstGeom>
          <a:noFill/>
        </p:spPr>
        <p:txBody>
          <a:bodyPr wrap="none" anchor="t" anchorCtr="0"/>
          <a:lstStyle/>
          <a:p>
            <a:pPr algn="l"/>
            <a:r>
              <a:rPr sz="800" b="0" i="0" u="none">
                <a:solidFill>
                  <a:srgbClr val="333333"/>
                </a:solidFill>
                <a:latin typeface="JRLKGN"/>
              </a:rPr>
              <a:t>1 2 8</a:t>
            </a:r>
            <a:endParaRPr/>
          </a:p>
        </p:txBody>
      </p:sp>
      <p:sp>
        <p:nvSpPr>
          <p:cNvPr id="47" name="TextBox 47"/>
          <p:cNvSpPr txBox="1"/>
          <p:nvPr/>
        </p:nvSpPr>
        <p:spPr>
          <a:xfrm>
            <a:off x="1829489" y="8711645"/>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48" name="TextBox 48"/>
          <p:cNvSpPr txBox="1"/>
          <p:nvPr/>
        </p:nvSpPr>
        <p:spPr>
          <a:xfrm>
            <a:off x="1953740" y="8556593"/>
            <a:ext cx="330324" cy="101638"/>
          </a:xfrm>
          <a:prstGeom prst="rect">
            <a:avLst/>
          </a:prstGeom>
          <a:noFill/>
        </p:spPr>
        <p:txBody>
          <a:bodyPr wrap="none" anchor="t" anchorCtr="0"/>
          <a:lstStyle/>
          <a:p>
            <a:pPr algn="l"/>
            <a:r>
              <a:rPr sz="800" b="0" i="0" u="none">
                <a:solidFill>
                  <a:srgbClr val="333333"/>
                </a:solidFill>
                <a:latin typeface="JRLKGN"/>
              </a:rPr>
              <a:t>7 6</a:t>
            </a:r>
            <a:endParaRPr/>
          </a:p>
        </p:txBody>
      </p:sp>
      <p:sp>
        <p:nvSpPr>
          <p:cNvPr id="49" name="TextBox 49"/>
          <p:cNvSpPr txBox="1"/>
          <p:nvPr/>
        </p:nvSpPr>
        <p:spPr>
          <a:xfrm>
            <a:off x="1829489" y="8242231"/>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50" name="TextBox 50"/>
          <p:cNvSpPr txBox="1"/>
          <p:nvPr/>
        </p:nvSpPr>
        <p:spPr>
          <a:xfrm>
            <a:off x="4394988" y="8093200"/>
            <a:ext cx="381144" cy="101638"/>
          </a:xfrm>
          <a:prstGeom prst="rect">
            <a:avLst/>
          </a:prstGeom>
          <a:noFill/>
        </p:spPr>
        <p:txBody>
          <a:bodyPr wrap="none" anchor="t" anchorCtr="0"/>
          <a:lstStyle/>
          <a:p>
            <a:pPr algn="l"/>
            <a:r>
              <a:rPr sz="800" b="0" i="0" u="none">
                <a:solidFill>
                  <a:srgbClr val="333333"/>
                </a:solidFill>
                <a:latin typeface="JRLKGN"/>
              </a:rPr>
              <a:t>11 12</a:t>
            </a:r>
            <a:endParaRPr/>
          </a:p>
        </p:txBody>
      </p:sp>
      <p:sp>
        <p:nvSpPr>
          <p:cNvPr id="51" name="TextBox 51"/>
          <p:cNvSpPr txBox="1"/>
          <p:nvPr/>
        </p:nvSpPr>
        <p:spPr>
          <a:xfrm>
            <a:off x="1829489" y="7778837"/>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52" name="TextBox 52"/>
          <p:cNvSpPr txBox="1"/>
          <p:nvPr/>
        </p:nvSpPr>
        <p:spPr>
          <a:xfrm>
            <a:off x="4413140" y="7629806"/>
            <a:ext cx="381144" cy="101638"/>
          </a:xfrm>
          <a:prstGeom prst="rect">
            <a:avLst/>
          </a:prstGeom>
          <a:noFill/>
        </p:spPr>
        <p:txBody>
          <a:bodyPr wrap="none" anchor="t" anchorCtr="0"/>
          <a:lstStyle/>
          <a:p>
            <a:pPr algn="l"/>
            <a:r>
              <a:rPr sz="800" b="0" i="0" u="none">
                <a:solidFill>
                  <a:srgbClr val="333333"/>
                </a:solidFill>
                <a:latin typeface="JRLKGN"/>
              </a:rPr>
              <a:t>28 22</a:t>
            </a:r>
            <a:endParaRPr/>
          </a:p>
        </p:txBody>
      </p:sp>
      <p:sp>
        <p:nvSpPr>
          <p:cNvPr id="53" name="TextBox 53"/>
          <p:cNvSpPr txBox="1"/>
          <p:nvPr/>
        </p:nvSpPr>
        <p:spPr>
          <a:xfrm>
            <a:off x="1829489" y="7315443"/>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54" name="TextBox 54"/>
          <p:cNvSpPr txBox="1"/>
          <p:nvPr/>
        </p:nvSpPr>
        <p:spPr>
          <a:xfrm>
            <a:off x="5272264" y="7166413"/>
            <a:ext cx="381144" cy="101638"/>
          </a:xfrm>
          <a:prstGeom prst="rect">
            <a:avLst/>
          </a:prstGeom>
          <a:noFill/>
        </p:spPr>
        <p:txBody>
          <a:bodyPr wrap="none" anchor="t" anchorCtr="0"/>
          <a:lstStyle/>
          <a:p>
            <a:pPr algn="l"/>
            <a:r>
              <a:rPr sz="800" b="0" i="0" u="none">
                <a:solidFill>
                  <a:srgbClr val="333333"/>
                </a:solidFill>
                <a:latin typeface="JRLKGN"/>
              </a:rPr>
              <a:t>29 16</a:t>
            </a:r>
            <a:endParaRPr/>
          </a:p>
        </p:txBody>
      </p:sp>
      <p:sp>
        <p:nvSpPr>
          <p:cNvPr id="55" name="TextBox 55"/>
          <p:cNvSpPr txBox="1"/>
          <p:nvPr/>
        </p:nvSpPr>
        <p:spPr>
          <a:xfrm>
            <a:off x="1829489" y="6852050"/>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56" name="TextBox 56"/>
          <p:cNvSpPr txBox="1"/>
          <p:nvPr/>
        </p:nvSpPr>
        <p:spPr>
          <a:xfrm>
            <a:off x="5744289" y="6703019"/>
            <a:ext cx="381144" cy="101638"/>
          </a:xfrm>
          <a:prstGeom prst="rect">
            <a:avLst/>
          </a:prstGeom>
          <a:noFill/>
        </p:spPr>
        <p:txBody>
          <a:bodyPr wrap="none" anchor="t" anchorCtr="0"/>
          <a:lstStyle/>
          <a:p>
            <a:pPr algn="l"/>
            <a:r>
              <a:rPr sz="800" b="0" i="0" u="none">
                <a:solidFill>
                  <a:srgbClr val="333333"/>
                </a:solidFill>
                <a:latin typeface="JRLKGN"/>
              </a:rPr>
              <a:t>11 26</a:t>
            </a:r>
            <a:endParaRPr/>
          </a:p>
        </p:txBody>
      </p:sp>
      <p:sp>
        <p:nvSpPr>
          <p:cNvPr id="57" name="TextBox 57"/>
          <p:cNvSpPr txBox="1"/>
          <p:nvPr/>
        </p:nvSpPr>
        <p:spPr>
          <a:xfrm>
            <a:off x="1829489" y="6388656"/>
            <a:ext cx="152457" cy="152457"/>
          </a:xfrm>
          <a:prstGeom prst="rect">
            <a:avLst/>
          </a:prstGeom>
          <a:noFill/>
        </p:spPr>
        <p:txBody>
          <a:bodyPr wrap="none" anchor="t" anchorCtr="0"/>
          <a:lstStyle/>
          <a:p>
            <a:pPr algn="l"/>
            <a:r>
              <a:rPr sz="1200" b="0" i="0" u="none">
                <a:solidFill>
                  <a:srgbClr val="000000"/>
                </a:solidFill>
                <a:latin typeface="JRLKGN"/>
              </a:rPr>
              <a:t xml:space="preserve">• </a:t>
            </a:r>
            <a:endParaRPr/>
          </a:p>
        </p:txBody>
      </p:sp>
      <p:sp>
        <p:nvSpPr>
          <p:cNvPr id="58" name="TextBox 58"/>
          <p:cNvSpPr txBox="1"/>
          <p:nvPr/>
        </p:nvSpPr>
        <p:spPr>
          <a:xfrm>
            <a:off x="5686354" y="6239625"/>
            <a:ext cx="50819" cy="101638"/>
          </a:xfrm>
          <a:prstGeom prst="rect">
            <a:avLst/>
          </a:prstGeom>
          <a:noFill/>
        </p:spPr>
        <p:txBody>
          <a:bodyPr wrap="none" anchor="t" anchorCtr="0"/>
          <a:lstStyle/>
          <a:p>
            <a:pPr algn="l"/>
            <a:r>
              <a:rPr sz="800" b="0" i="0" u="none">
                <a:solidFill>
                  <a:srgbClr val="333333"/>
                </a:solidFill>
                <a:latin typeface="JRLKGN"/>
              </a:rPr>
              <a:t>5</a:t>
            </a:r>
            <a:endParaRPr/>
          </a:p>
        </p:txBody>
      </p:sp>
      <p:sp>
        <p:nvSpPr>
          <p:cNvPr id="59" name="TextBox 59"/>
          <p:cNvSpPr txBox="1"/>
          <p:nvPr/>
        </p:nvSpPr>
        <p:spPr>
          <a:xfrm>
            <a:off x="1394729" y="5484022"/>
            <a:ext cx="551095" cy="101638"/>
          </a:xfrm>
          <a:prstGeom prst="rect">
            <a:avLst/>
          </a:prstGeom>
          <a:noFill/>
        </p:spPr>
        <p:txBody>
          <a:bodyPr wrap="none" anchor="t" anchorCtr="0"/>
          <a:lstStyle/>
          <a:p>
            <a:pPr algn="l"/>
            <a:r>
              <a:rPr sz="800" b="0" i="0" u="none">
                <a:solidFill>
                  <a:srgbClr val="333333"/>
                </a:solidFill>
                <a:latin typeface="JRLKGN"/>
              </a:rPr>
              <a:t>1 2 4</a:t>
            </a:r>
            <a:endParaRPr/>
          </a:p>
        </p:txBody>
      </p:sp>
      <p:sp>
        <p:nvSpPr>
          <p:cNvPr id="60" name="TextBox 60"/>
          <p:cNvSpPr txBox="1"/>
          <p:nvPr/>
        </p:nvSpPr>
        <p:spPr>
          <a:xfrm>
            <a:off x="1321298" y="4947846"/>
            <a:ext cx="3545652" cy="127048"/>
          </a:xfrm>
          <a:prstGeom prst="rect">
            <a:avLst/>
          </a:prstGeom>
          <a:noFill/>
        </p:spPr>
        <p:txBody>
          <a:bodyPr wrap="none" anchor="t" anchorCtr="0"/>
          <a:lstStyle/>
          <a:p>
            <a:pPr algn="l"/>
            <a:r>
              <a:rPr sz="1000" b="0" i="0" u="none">
                <a:solidFill>
                  <a:srgbClr val="5D5D5D"/>
                </a:solidFill>
                <a:latin typeface="JRLKGN"/>
              </a:rPr>
              <a:t>https://note.com/sound_one/n/n855133c10b73</a:t>
            </a:r>
            <a:endParaRPr/>
          </a:p>
        </p:txBody>
      </p:sp>
      <p:sp>
        <p:nvSpPr>
          <p:cNvPr id="61" name="TextBox 61"/>
          <p:cNvSpPr txBox="1"/>
          <p:nvPr/>
        </p:nvSpPr>
        <p:spPr>
          <a:xfrm>
            <a:off x="1394729" y="4650322"/>
            <a:ext cx="573707" cy="101638"/>
          </a:xfrm>
          <a:prstGeom prst="rect">
            <a:avLst/>
          </a:prstGeom>
          <a:noFill/>
        </p:spPr>
        <p:txBody>
          <a:bodyPr wrap="none" anchor="t" anchorCtr="0"/>
          <a:lstStyle/>
          <a:p>
            <a:pPr algn="l"/>
            <a:r>
              <a:rPr sz="800" b="0" i="0" u="none">
                <a:solidFill>
                  <a:srgbClr val="333333"/>
                </a:solidFill>
                <a:latin typeface="JRLKGN"/>
              </a:rPr>
              <a:t>3 6 27</a:t>
            </a:r>
            <a:endParaRPr/>
          </a:p>
        </p:txBody>
      </p:sp>
      <p:sp>
        <p:nvSpPr>
          <p:cNvPr id="62" name="TextBox 62"/>
          <p:cNvSpPr txBox="1"/>
          <p:nvPr/>
        </p:nvSpPr>
        <p:spPr>
          <a:xfrm>
            <a:off x="2071712" y="4570667"/>
            <a:ext cx="5630406" cy="152457"/>
          </a:xfrm>
          <a:prstGeom prst="rect">
            <a:avLst/>
          </a:prstGeom>
          <a:noFill/>
        </p:spPr>
        <p:txBody>
          <a:bodyPr wrap="none" anchor="t" anchorCtr="0"/>
          <a:lstStyle/>
          <a:p>
            <a:pPr algn="l"/>
            <a:r>
              <a:rPr sz="1200" b="0" i="0" u="none">
                <a:solidFill>
                  <a:srgbClr val="000000"/>
                </a:solidFill>
                <a:latin typeface="JRLKGN"/>
              </a:rPr>
              <a:t>セミの声の自由研究：スペクトルで見る暑苦しさと涼しさ | のんびりポタ・ランニング</a:t>
            </a:r>
            <a:endParaRPr/>
          </a:p>
        </p:txBody>
      </p:sp>
      <p:sp>
        <p:nvSpPr>
          <p:cNvPr id="63" name="TextBox 63"/>
          <p:cNvSpPr txBox="1"/>
          <p:nvPr/>
        </p:nvSpPr>
        <p:spPr>
          <a:xfrm>
            <a:off x="1321298" y="4365333"/>
            <a:ext cx="6335115" cy="127048"/>
          </a:xfrm>
          <a:prstGeom prst="rect">
            <a:avLst/>
          </a:prstGeom>
          <a:noFill/>
        </p:spPr>
        <p:txBody>
          <a:bodyPr wrap="none" anchor="t" anchorCtr="0"/>
          <a:lstStyle/>
          <a:p>
            <a:pPr algn="l"/>
            <a:r>
              <a:rPr sz="1000" b="0" i="0" u="none">
                <a:solidFill>
                  <a:srgbClr val="5D5D5D"/>
                </a:solidFill>
                <a:latin typeface="JRLKGN"/>
              </a:rPr>
              <a:t>https://pota-run.blogspot.com/2013/08/blog-post_3.html</a:t>
            </a:r>
            <a:endParaRPr/>
          </a:p>
        </p:txBody>
      </p:sp>
      <p:sp>
        <p:nvSpPr>
          <p:cNvPr id="64" name="TextBox 64"/>
          <p:cNvSpPr txBox="1"/>
          <p:nvPr/>
        </p:nvSpPr>
        <p:spPr>
          <a:xfrm>
            <a:off x="1394729" y="4067809"/>
            <a:ext cx="50819" cy="101638"/>
          </a:xfrm>
          <a:prstGeom prst="rect">
            <a:avLst/>
          </a:prstGeom>
          <a:noFill/>
        </p:spPr>
        <p:txBody>
          <a:bodyPr wrap="none" anchor="t" anchorCtr="0"/>
          <a:lstStyle/>
          <a:p>
            <a:pPr algn="l"/>
            <a:r>
              <a:rPr sz="800" b="0" i="0" u="none">
                <a:solidFill>
                  <a:srgbClr val="333333"/>
                </a:solidFill>
                <a:latin typeface="JRLKGN"/>
              </a:rPr>
              <a:t>5</a:t>
            </a:r>
            <a:endParaRPr/>
          </a:p>
        </p:txBody>
      </p:sp>
      <p:sp>
        <p:nvSpPr>
          <p:cNvPr id="65" name="TextBox 65"/>
          <p:cNvSpPr txBox="1"/>
          <p:nvPr/>
        </p:nvSpPr>
        <p:spPr>
          <a:xfrm>
            <a:off x="1571436" y="3988153"/>
            <a:ext cx="4802410" cy="152457"/>
          </a:xfrm>
          <a:prstGeom prst="rect">
            <a:avLst/>
          </a:prstGeom>
          <a:noFill/>
        </p:spPr>
        <p:txBody>
          <a:bodyPr wrap="none" anchor="t" anchorCtr="0"/>
          <a:lstStyle/>
          <a:p>
            <a:pPr algn="l"/>
            <a:r>
              <a:rPr sz="1200" b="0" i="0" u="none">
                <a:solidFill>
                  <a:srgbClr val="000000"/>
                </a:solidFill>
                <a:latin typeface="JRLKGN"/>
              </a:rPr>
              <a:t>ツクツクボウシの鳴き声の転調部に潜む生物学的意味 | 九州大学 理学研究院 理学府 理学部</a:t>
            </a:r>
            <a:endParaRPr/>
          </a:p>
        </p:txBody>
      </p:sp>
      <p:sp>
        <p:nvSpPr>
          <p:cNvPr id="66" name="TextBox 66"/>
          <p:cNvSpPr txBox="1"/>
          <p:nvPr/>
        </p:nvSpPr>
        <p:spPr>
          <a:xfrm>
            <a:off x="1321298" y="3782819"/>
            <a:ext cx="7099689" cy="127048"/>
          </a:xfrm>
          <a:prstGeom prst="rect">
            <a:avLst/>
          </a:prstGeom>
          <a:noFill/>
        </p:spPr>
        <p:txBody>
          <a:bodyPr wrap="none" anchor="t" anchorCtr="0"/>
          <a:lstStyle/>
          <a:p>
            <a:pPr algn="l"/>
            <a:r>
              <a:rPr sz="1000" b="0" i="0" u="none">
                <a:solidFill>
                  <a:srgbClr val="5D5D5D"/>
                </a:solidFill>
                <a:latin typeface="JRLKGN"/>
              </a:rPr>
              <a:t>https://www.sci.kyushu-u.ac.jp/koho/qrinews/qrinews_230908.html</a:t>
            </a:r>
            <a:endParaRPr/>
          </a:p>
        </p:txBody>
      </p:sp>
      <p:sp>
        <p:nvSpPr>
          <p:cNvPr id="67" name="TextBox 67"/>
          <p:cNvSpPr txBox="1"/>
          <p:nvPr/>
        </p:nvSpPr>
        <p:spPr>
          <a:xfrm>
            <a:off x="1394729" y="3485295"/>
            <a:ext cx="50819" cy="101638"/>
          </a:xfrm>
          <a:prstGeom prst="rect">
            <a:avLst/>
          </a:prstGeom>
          <a:noFill/>
        </p:spPr>
        <p:txBody>
          <a:bodyPr wrap="none" anchor="t" anchorCtr="0"/>
          <a:lstStyle/>
          <a:p>
            <a:pPr algn="l"/>
            <a:r>
              <a:rPr sz="800" b="0" i="0" u="none">
                <a:solidFill>
                  <a:srgbClr val="333333"/>
                </a:solidFill>
                <a:latin typeface="JRLKGN"/>
              </a:rPr>
              <a:t>7</a:t>
            </a:r>
            <a:endParaRPr/>
          </a:p>
        </p:txBody>
      </p:sp>
      <p:sp>
        <p:nvSpPr>
          <p:cNvPr id="68" name="TextBox 68"/>
          <p:cNvSpPr txBox="1"/>
          <p:nvPr/>
        </p:nvSpPr>
        <p:spPr>
          <a:xfrm>
            <a:off x="1571436" y="3405640"/>
            <a:ext cx="2811468" cy="152457"/>
          </a:xfrm>
          <a:prstGeom prst="rect">
            <a:avLst/>
          </a:prstGeom>
          <a:noFill/>
        </p:spPr>
        <p:txBody>
          <a:bodyPr wrap="none" anchor="t" anchorCtr="0"/>
          <a:lstStyle/>
          <a:p>
            <a:pPr algn="l"/>
            <a:r>
              <a:rPr sz="1200" b="0" i="0" u="none">
                <a:solidFill>
                  <a:srgbClr val="000000"/>
                </a:solidFill>
                <a:latin typeface="JRLKGN"/>
              </a:rPr>
              <a:t>セミの声 | 岩永補聴器グループのブログ</a:t>
            </a:r>
            <a:endParaRPr/>
          </a:p>
        </p:txBody>
      </p:sp>
      <p:sp>
        <p:nvSpPr>
          <p:cNvPr id="69" name="TextBox 69"/>
          <p:cNvSpPr txBox="1"/>
          <p:nvPr/>
        </p:nvSpPr>
        <p:spPr>
          <a:xfrm>
            <a:off x="1321298" y="3200306"/>
            <a:ext cx="5195242" cy="127048"/>
          </a:xfrm>
          <a:prstGeom prst="rect">
            <a:avLst/>
          </a:prstGeom>
          <a:noFill/>
        </p:spPr>
        <p:txBody>
          <a:bodyPr wrap="none" anchor="t" anchorCtr="0"/>
          <a:lstStyle/>
          <a:p>
            <a:pPr algn="l"/>
            <a:r>
              <a:rPr sz="1000" b="0" i="0" u="none">
                <a:solidFill>
                  <a:srgbClr val="5D5D5D"/>
                </a:solidFill>
                <a:latin typeface="JRLKGN"/>
              </a:rPr>
              <a:t>https://www.iwanaga-co.com/blog/isahaya/4206</a:t>
            </a:r>
            <a:endParaRPr/>
          </a:p>
        </p:txBody>
      </p:sp>
      <p:sp>
        <p:nvSpPr>
          <p:cNvPr id="70" name="TextBox 70"/>
          <p:cNvSpPr txBox="1"/>
          <p:nvPr/>
        </p:nvSpPr>
        <p:spPr>
          <a:xfrm>
            <a:off x="1394729" y="2902782"/>
            <a:ext cx="50819" cy="101638"/>
          </a:xfrm>
          <a:prstGeom prst="rect">
            <a:avLst/>
          </a:prstGeom>
          <a:noFill/>
        </p:spPr>
        <p:txBody>
          <a:bodyPr wrap="none" anchor="t" anchorCtr="0"/>
          <a:lstStyle/>
          <a:p>
            <a:pPr algn="l"/>
            <a:r>
              <a:rPr sz="800" b="0" i="0" u="none">
                <a:solidFill>
                  <a:srgbClr val="333333"/>
                </a:solidFill>
                <a:latin typeface="JRLKGN"/>
              </a:rPr>
              <a:t>8</a:t>
            </a:r>
            <a:endParaRPr/>
          </a:p>
        </p:txBody>
      </p:sp>
      <p:sp>
        <p:nvSpPr>
          <p:cNvPr id="71" name="TextBox 71"/>
          <p:cNvSpPr txBox="1"/>
          <p:nvPr/>
        </p:nvSpPr>
        <p:spPr>
          <a:xfrm>
            <a:off x="1321298" y="2588419"/>
            <a:ext cx="8787755" cy="387165"/>
          </a:xfrm>
          <a:prstGeom prst="rect">
            <a:avLst/>
          </a:prstGeom>
          <a:noFill/>
        </p:spPr>
        <p:txBody>
          <a:bodyPr wrap="none" anchor="t" anchorCtr="0"/>
          <a:lstStyle/>
          <a:p>
            <a:pPr algn="l"/>
            <a:r>
              <a:rPr sz="1200" b="0" i="0" u="none">
                <a:solidFill>
                  <a:srgbClr val="000000"/>
                </a:solidFill>
                <a:latin typeface="JRLKGN"/>
              </a:rPr>
              <a:t>計測情報メールマガジン 2020/08/31号 身の回りの音の可視化① セミの鳴き声と虫の声 | ペリテック 製品販売・サービス</a:t>
            </a:r>
            <a:endParaRPr/>
          </a:p>
        </p:txBody>
      </p:sp>
      <p:sp>
        <p:nvSpPr>
          <p:cNvPr id="72" name="TextBox 72"/>
          <p:cNvSpPr txBox="1"/>
          <p:nvPr/>
        </p:nvSpPr>
        <p:spPr>
          <a:xfrm>
            <a:off x="1321298" y="2389107"/>
            <a:ext cx="4754640" cy="127048"/>
          </a:xfrm>
          <a:prstGeom prst="rect">
            <a:avLst/>
          </a:prstGeom>
          <a:noFill/>
        </p:spPr>
        <p:txBody>
          <a:bodyPr wrap="none" anchor="t" anchorCtr="0"/>
          <a:lstStyle/>
          <a:p>
            <a:pPr algn="l"/>
            <a:r>
              <a:rPr sz="1000" b="0" i="0" u="none">
                <a:solidFill>
                  <a:srgbClr val="5D5D5D"/>
                </a:solidFill>
                <a:latin typeface="JRLKGN"/>
              </a:rPr>
              <a:t>https://peritec-sales.com/news/news-917/</a:t>
            </a:r>
            <a:endParaRPr/>
          </a:p>
        </p:txBody>
      </p:sp>
      <p:sp>
        <p:nvSpPr>
          <p:cNvPr id="73" name="TextBox 73"/>
          <p:cNvSpPr txBox="1"/>
          <p:nvPr/>
        </p:nvSpPr>
        <p:spPr>
          <a:xfrm>
            <a:off x="1394729" y="2091582"/>
            <a:ext cx="1574258" cy="101638"/>
          </a:xfrm>
          <a:prstGeom prst="rect">
            <a:avLst/>
          </a:prstGeom>
          <a:noFill/>
        </p:spPr>
        <p:txBody>
          <a:bodyPr wrap="none" anchor="t" anchorCtr="0"/>
          <a:lstStyle/>
          <a:p>
            <a:pPr algn="l"/>
            <a:r>
              <a:rPr sz="800" b="0" i="0" u="none">
                <a:solidFill>
                  <a:srgbClr val="333333"/>
                </a:solidFill>
                <a:latin typeface="JRLKGN"/>
              </a:rPr>
              <a:t>9 10 11 12 14 15 26</a:t>
            </a:r>
            <a:endParaRPr/>
          </a:p>
        </p:txBody>
      </p:sp>
      <p:sp>
        <p:nvSpPr>
          <p:cNvPr id="74" name="TextBox 74"/>
          <p:cNvSpPr txBox="1"/>
          <p:nvPr/>
        </p:nvSpPr>
        <p:spPr>
          <a:xfrm>
            <a:off x="3072263" y="2011927"/>
            <a:ext cx="9055973" cy="152457"/>
          </a:xfrm>
          <a:prstGeom prst="rect">
            <a:avLst/>
          </a:prstGeom>
          <a:noFill/>
        </p:spPr>
        <p:txBody>
          <a:bodyPr wrap="none" anchor="t" anchorCtr="0"/>
          <a:lstStyle/>
          <a:p>
            <a:pPr algn="l"/>
            <a:r>
              <a:rPr sz="1200" b="0" i="0" u="none">
                <a:solidFill>
                  <a:srgbClr val="000000"/>
                </a:solidFill>
                <a:latin typeface="JRLKGN"/>
              </a:rPr>
              <a:t>A Musical Instrument Based on a Bioacoustic Model of a Cicada</a:t>
            </a:r>
            <a:endParaRPr/>
          </a:p>
        </p:txBody>
      </p:sp>
      <p:sp>
        <p:nvSpPr>
          <p:cNvPr id="75" name="TextBox 75"/>
          <p:cNvSpPr txBox="1"/>
          <p:nvPr/>
        </p:nvSpPr>
        <p:spPr>
          <a:xfrm>
            <a:off x="1321298" y="1585835"/>
            <a:ext cx="13744420" cy="347806"/>
          </a:xfrm>
          <a:prstGeom prst="rect">
            <a:avLst/>
          </a:prstGeom>
          <a:noFill/>
        </p:spPr>
        <p:txBody>
          <a:bodyPr wrap="none" anchor="t" anchorCtr="0"/>
          <a:lstStyle/>
          <a:p>
            <a:pPr algn="l"/>
            <a:r>
              <a:rPr sz="1000" b="0" i="0" u="none">
                <a:solidFill>
                  <a:srgbClr val="5D5D5D"/>
                </a:solidFill>
                <a:latin typeface="JRLKGN"/>
              </a:rPr>
              <a:t>https://quod.lib.umich.edu/cgi/p/pod/dod-idx/musical-instrument-based-on-a-bioacoustic-model-of-a-cicada.pdf?c=icmc;idno=bbp2372.2001.063;format=pdf</a:t>
            </a:r>
            <a:endParaRPr/>
          </a:p>
        </p:txBody>
      </p:sp>
      <p:sp>
        <p:nvSpPr>
          <p:cNvPr id="76" name="TextBox 76"/>
          <p:cNvSpPr txBox="1"/>
          <p:nvPr/>
        </p:nvSpPr>
        <p:spPr>
          <a:xfrm>
            <a:off x="1366522" y="1288311"/>
            <a:ext cx="1102190" cy="101638"/>
          </a:xfrm>
          <a:prstGeom prst="rect">
            <a:avLst/>
          </a:prstGeom>
          <a:noFill/>
        </p:spPr>
        <p:txBody>
          <a:bodyPr wrap="none" anchor="t" anchorCtr="0"/>
          <a:lstStyle/>
          <a:p>
            <a:pPr algn="l"/>
            <a:r>
              <a:rPr sz="800" b="0" i="0" u="none">
                <a:solidFill>
                  <a:srgbClr val="333333"/>
                </a:solidFill>
                <a:latin typeface="JRLKGN"/>
              </a:rPr>
              <a:t>13 21 22 23 28</a:t>
            </a:r>
            <a:endParaRPr/>
          </a:p>
        </p:txBody>
      </p:sp>
      <p:sp>
        <p:nvSpPr>
          <p:cNvPr id="77" name="TextBox 77"/>
          <p:cNvSpPr txBox="1"/>
          <p:nvPr/>
        </p:nvSpPr>
        <p:spPr>
          <a:xfrm>
            <a:off x="2571987" y="1208656"/>
            <a:ext cx="2055279" cy="152457"/>
          </a:xfrm>
          <a:prstGeom prst="rect">
            <a:avLst/>
          </a:prstGeom>
          <a:noFill/>
        </p:spPr>
        <p:txBody>
          <a:bodyPr wrap="none" anchor="t" anchorCtr="0"/>
          <a:lstStyle/>
          <a:p>
            <a:pPr algn="l"/>
            <a:r>
              <a:rPr sz="1200" b="0" i="0" u="none">
                <a:solidFill>
                  <a:srgbClr val="000000"/>
                </a:solidFill>
                <a:latin typeface="JRLKGN"/>
              </a:rPr>
              <a:t>data.jssa.info</a:t>
            </a:r>
            <a:endParaRPr/>
          </a:p>
        </p:txBody>
      </p:sp>
      <p:sp>
        <p:nvSpPr>
          <p:cNvPr id="78" name="TextBox 78"/>
          <p:cNvSpPr txBox="1"/>
          <p:nvPr/>
        </p:nvSpPr>
        <p:spPr>
          <a:xfrm>
            <a:off x="1321298" y="1003322"/>
            <a:ext cx="6646891" cy="127048"/>
          </a:xfrm>
          <a:prstGeom prst="rect">
            <a:avLst/>
          </a:prstGeom>
          <a:noFill/>
        </p:spPr>
        <p:txBody>
          <a:bodyPr wrap="none" anchor="t" anchorCtr="0"/>
          <a:lstStyle/>
          <a:p>
            <a:pPr algn="l"/>
            <a:r>
              <a:rPr sz="1000" b="0" i="0" u="none">
                <a:solidFill>
                  <a:srgbClr val="5D5D5D"/>
                </a:solidFill>
                <a:latin typeface="JRLKGN"/>
              </a:rPr>
              <a:t>https://data.jssa.info/paper/2022v14n02/2.Matsumura.pdf</a:t>
            </a:r>
            <a:endParaRPr/>
          </a:p>
        </p:txBody>
      </p:sp>
      <p:sp>
        <p:nvSpPr>
          <p:cNvPr id="79" name="TextBox 79"/>
          <p:cNvSpPr txBox="1"/>
          <p:nvPr/>
        </p:nvSpPr>
        <p:spPr>
          <a:xfrm>
            <a:off x="1366522" y="705798"/>
            <a:ext cx="1602466" cy="101638"/>
          </a:xfrm>
          <a:prstGeom prst="rect">
            <a:avLst/>
          </a:prstGeom>
          <a:noFill/>
        </p:spPr>
        <p:txBody>
          <a:bodyPr wrap="none" anchor="t" anchorCtr="0"/>
          <a:lstStyle/>
          <a:p>
            <a:pPr algn="l"/>
            <a:r>
              <a:rPr sz="800" b="0" i="0" u="none">
                <a:solidFill>
                  <a:srgbClr val="333333"/>
                </a:solidFill>
                <a:latin typeface="JRLKGN"/>
              </a:rPr>
              <a:t>16 17 18 19 20 24 29</a:t>
            </a:r>
            <a:endParaRPr/>
          </a:p>
        </p:txBody>
      </p:sp>
      <p:sp>
        <p:nvSpPr>
          <p:cNvPr id="80" name="TextBox 80"/>
          <p:cNvSpPr txBox="1"/>
          <p:nvPr/>
        </p:nvSpPr>
        <p:spPr>
          <a:xfrm>
            <a:off x="3072263" y="626142"/>
            <a:ext cx="7453645" cy="152457"/>
          </a:xfrm>
          <a:prstGeom prst="rect">
            <a:avLst/>
          </a:prstGeom>
          <a:noFill/>
        </p:spPr>
        <p:txBody>
          <a:bodyPr wrap="none" anchor="t" anchorCtr="0"/>
          <a:lstStyle/>
          <a:p>
            <a:pPr algn="l"/>
            <a:r>
              <a:rPr sz="1200" b="0" i="0" u="none">
                <a:solidFill>
                  <a:srgbClr val="000000"/>
                </a:solidFill>
                <a:latin typeface="JRLKGN"/>
              </a:rPr>
              <a:t>Designing Sound - Andy Farnell.pdf - PDFCOFFEE.COM</a:t>
            </a:r>
            <a:endParaRPr/>
          </a:p>
        </p:txBody>
      </p:sp>
      <p:sp>
        <p:nvSpPr>
          <p:cNvPr id="81" name="TextBox 81"/>
          <p:cNvSpPr txBox="1"/>
          <p:nvPr/>
        </p:nvSpPr>
        <p:spPr>
          <a:xfrm>
            <a:off x="1321298" y="420808"/>
            <a:ext cx="7915083" cy="127048"/>
          </a:xfrm>
          <a:prstGeom prst="rect">
            <a:avLst/>
          </a:prstGeom>
          <a:noFill/>
        </p:spPr>
        <p:txBody>
          <a:bodyPr wrap="none" anchor="t" anchorCtr="0"/>
          <a:lstStyle/>
          <a:p>
            <a:pPr algn="l"/>
            <a:r>
              <a:rPr sz="1000" b="0" i="0" u="none">
                <a:solidFill>
                  <a:srgbClr val="5D5D5D"/>
                </a:solidFill>
                <a:latin typeface="JRLKGN"/>
              </a:rPr>
              <a:t>https://pdfcoffee.com/designing-sound-andy-farnellpdf-pdf-free.html</a:t>
            </a:r>
            <a:endParaRPr/>
          </a:p>
        </p:txBody>
      </p:sp>
      <p:sp>
        <p:nvSpPr>
          <p:cNvPr id="82" name="TextBox 82"/>
          <p:cNvSpPr txBox="1"/>
          <p:nvPr/>
        </p:nvSpPr>
        <p:spPr>
          <a:xfrm>
            <a:off x="1366522" y="123284"/>
            <a:ext cx="101638" cy="101638"/>
          </a:xfrm>
          <a:prstGeom prst="rect">
            <a:avLst/>
          </a:prstGeom>
          <a:noFill/>
        </p:spPr>
        <p:txBody>
          <a:bodyPr wrap="none" anchor="t" anchorCtr="0"/>
          <a:lstStyle/>
          <a:p>
            <a:pPr algn="l"/>
            <a:r>
              <a:rPr sz="800" b="0" i="0" u="none">
                <a:solidFill>
                  <a:srgbClr val="333333"/>
                </a:solidFill>
                <a:latin typeface="JRLKGN"/>
              </a:rPr>
              <a:t>25</a:t>
            </a:r>
            <a:endParaRPr/>
          </a:p>
        </p:txBody>
      </p:sp>
      <p:sp>
        <p:nvSpPr>
          <p:cNvPr id="83" name="TextBox 83"/>
          <p:cNvSpPr txBox="1"/>
          <p:nvPr/>
        </p:nvSpPr>
        <p:spPr>
          <a:xfrm>
            <a:off x="1571436" y="43629"/>
            <a:ext cx="8075671" cy="152457"/>
          </a:xfrm>
          <a:prstGeom prst="rect">
            <a:avLst/>
          </a:prstGeom>
          <a:noFill/>
        </p:spPr>
        <p:txBody>
          <a:bodyPr wrap="none" anchor="t" anchorCtr="0"/>
          <a:lstStyle/>
          <a:p>
            <a:pPr algn="l"/>
            <a:r>
              <a:rPr sz="1200" b="0" i="0" u="none">
                <a:solidFill>
                  <a:srgbClr val="000000"/>
                </a:solidFill>
                <a:latin typeface="JRLKGN"/>
              </a:rPr>
              <a:t>a model of the mechanism of sound production in cicadas</a:t>
            </a:r>
            <a:endParaRPr/>
          </a:p>
        </p:txBody>
      </p:sp>
      <p:sp>
        <p:nvSpPr>
          <p:cNvPr id="84" name="TextBox 84"/>
          <p:cNvSpPr txBox="1"/>
          <p:nvPr/>
        </p:nvSpPr>
        <p:spPr>
          <a:xfrm>
            <a:off x="1321298" y="-382463"/>
            <a:ext cx="13212090" cy="347806"/>
          </a:xfrm>
          <a:prstGeom prst="rect">
            <a:avLst/>
          </a:prstGeom>
          <a:noFill/>
        </p:spPr>
        <p:txBody>
          <a:bodyPr wrap="none" anchor="t" anchorCtr="0"/>
          <a:lstStyle/>
          <a:p>
            <a:pPr algn="l"/>
            <a:r>
              <a:rPr sz="1000" b="0" i="0" u="none">
                <a:solidFill>
                  <a:srgbClr val="5D5D5D"/>
                </a:solidFill>
                <a:latin typeface="JRLKGN"/>
              </a:rPr>
              <a:t>https://www.semanticscholar.org/paper/A-MODEL-OF-THE-MECHANISM-OF-SOUND-PRODUCTION-IN-Bennet-Clark-Young/7c7b0869efb30e14a78f619158679cf18e03a1f7/figure/14</a:t>
            </a:r>
            <a:endParaRPr/>
          </a:p>
        </p:txBody>
      </p:sp>
      <p:sp>
        <p:nvSpPr>
          <p:cNvPr id="85" name="TextBox 85"/>
          <p:cNvSpPr txBox="1"/>
          <p:nvPr/>
        </p:nvSpPr>
        <p:spPr>
          <a:xfrm>
            <a:off x="4998296" y="-3167128"/>
            <a:ext cx="76229" cy="152457"/>
          </a:xfrm>
          <a:prstGeom prst="rect">
            <a:avLst/>
          </a:prstGeom>
          <a:noFill/>
        </p:spPr>
        <p:txBody>
          <a:bodyPr wrap="none" anchor="t" anchorCtr="0"/>
          <a:lstStyle/>
          <a:p>
            <a:pPr algn="l"/>
            <a:r>
              <a:rPr sz="1200" b="0" i="0" u="none">
                <a:solidFill>
                  <a:srgbClr val="6E6E6E"/>
                </a:solidFill>
                <a:latin typeface="HUHQIP"/>
              </a:rPr>
              <a:t>7</a:t>
            </a:r>
            <a:endParaRPr/>
          </a:p>
        </p:txBody>
      </p:sp>
    </p:spTree>
  </p:cSld>
</p:sld>
</file>

<file path=ppt/theme/theme1.xml><?xml version="1.0" encoding="utf-8"?>
<a:theme xmlns:a="http://schemas.openxmlformats.org/drawingml/2006/main" name="WebPptx PDF Import">
  <a:themeElements>
    <a:clrScheme name="WebPptx">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ebPptx">
      <a:majorFont>
        <a:latin typeface="Calibri"/>
      </a:majorFont>
      <a:minorFont>
        <a:latin typeface="Calibri"/>
      </a:minorFont>
    </a:fontScheme>
    <a:fmtScheme name="WebPptx">
      <a:fillStyleLst>
        <a:solidFill>
          <a:schemeClr val="phClr"/>
        </a:solidFill>
      </a:fillStyleLst>
      <a:lnStyleLst>
        <a:ln w="6350">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AppVersion>16.0</AppVersion>
</Properties>
</file>