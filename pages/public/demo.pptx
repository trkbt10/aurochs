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4"/>
  </p:notesMasterIdLst>
  <p:sldIdLst>
    <p:sldId id="256" r:id="rId2"/>
    <p:sldId id="262" r:id="rId13"/>
    <p:sldId id="261" r:id="rId12"/>
    <p:sldId id="260" r:id="rId11"/>
    <p:sldId id="259" r:id="rId10"/>
    <p:sldId id="258" r:id="rId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-55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chart1.xml><?xml version="1.0" encoding="utf-8"?>
<c:chartSpace xmlns:c="http://schemas.openxmlformats.org/drawingml/2006/chart" xmlns:a="http://schemas.openxmlformats.org/drawingml/2006/main">
  <c:chart>
    <c:plotArea>
      <c:barChart>
        <c:barDir val="col"/>
        <c:grouping val="clustered"/>
        <c:ser>
          <c:idx val="0"/>
          <c:order val="0"/>
          <c:tx>
            <c:v>SVG</c:v>
          </c:tx>
          <c:cat>
            <c:strLit>
              <c:ptCount val="3"/>
              <c:pt idx="0">
                <c:v>10 slides</c:v>
              </c:pt>
              <c:pt idx="1">
                <c:v>50 slides</c:v>
              </c:pt>
              <c:pt idx="2">
                <c:v>100 slides</c:v>
              </c:pt>
            </c:strLit>
          </c:cat>
          <c:val>
            <c:numLit>
              <c:ptCount val="3"/>
              <c:pt idx="0">
                <c:v>45</c:v>
              </c:pt>
              <c:pt idx="1">
                <c:v>180</c:v>
              </c:pt>
              <c:pt idx="2">
                <c:v>340</c:v>
              </c:pt>
            </c:numLit>
          </c:val>
        </c:ser>
        <c:ser>
          <c:idx val="1"/>
          <c:order val="1"/>
          <c:tx>
            <c:v>ASCII</c:v>
          </c:tx>
          <c:cat>
            <c:strLit>
              <c:ptCount val="3"/>
              <c:pt idx="0">
                <c:v>10 slides</c:v>
              </c:pt>
              <c:pt idx="1">
                <c:v>50 slides</c:v>
              </c:pt>
              <c:pt idx="2">
                <c:v>100 slides</c:v>
              </c:pt>
            </c:strLit>
          </c:cat>
          <c:val>
            <c:numLit>
              <c:ptCount val="3"/>
              <c:pt idx="0">
                <c:v>12</c:v>
              </c:pt>
              <c:pt idx="1">
                <c:v>48</c:v>
              </c:pt>
              <c:pt idx="2">
                <c:v>92</c:v>
              </c:pt>
            </c:numLit>
          </c:val>
        </c:ser>
        <c:ser>
          <c:idx val="2"/>
          <c:order val="2"/>
          <c:tx>
            <c:v>WebGL</c:v>
          </c:tx>
          <c:cat>
            <c:strLit>
              <c:ptCount val="3"/>
              <c:pt idx="0">
                <c:v>10 slides</c:v>
              </c:pt>
              <c:pt idx="1">
                <c:v>50 slides</c:v>
              </c:pt>
              <c:pt idx="2">
                <c:v>100 slides</c:v>
              </c:pt>
            </c:strLit>
          </c:cat>
          <c:val>
            <c:numLit>
              <c:ptCount val="3"/>
              <c:pt idx="0">
                <c:v>28</c:v>
              </c:pt>
              <c:pt idx="1">
                <c:v>95</c:v>
              </c:pt>
              <c:pt idx="2">
                <c:v>165</c:v>
              </c:pt>
            </c:numLit>
          </c:val>
        </c:ser>
      </c:barChart>
    </c:plotArea>
    <c:title>
      <c:tx>
        <c:rich>
          <a:bodyPr/>
          <a:lstStyle/>
          <a:p>
            <a:r>
              <a:t>Render Time (ms)</a:t>
            </a:r>
          </a:p>
        </c:rich>
      </c:tx>
      <c:layout/>
      <c:overlay val="0"/>
    </c:title>
  </c:chart>
</c:chartSpace>
</file>

<file path=ppt/charts/chart2.xml><?xml version="1.0" encoding="utf-8"?>
<c:chartSpace xmlns:c="http://schemas.openxmlformats.org/drawingml/2006/chart" xmlns:a="http://schemas.openxmlformats.org/drawingml/2006/main">
  <c:chart>
    <c:plotArea>
      <c:lineChart>
        <c:grouping val="standard"/>
        <c:ser>
          <c:idx val="0"/>
          <c:order val="0"/>
          <c:tx>
            <c:v>Parse</c:v>
          </c:tx>
          <c:cat>
            <c:strLit>
              <c:ptCount val="5"/>
              <c:pt idx="0">
                <c:v>10</c:v>
              </c:pt>
              <c:pt idx="1">
                <c:v>50</c:v>
              </c:pt>
              <c:pt idx="2">
                <c:v>100</c:v>
              </c:pt>
              <c:pt idx="3">
                <c:v>200</c:v>
              </c:pt>
              <c:pt idx="4">
                <c:v>500</c:v>
              </c:pt>
            </c:strLit>
          </c:cat>
          <c:val>
            <c:numLit>
              <c:ptCount val="5"/>
              <c:pt idx="0">
                <c:v>8</c:v>
              </c:pt>
              <c:pt idx="1">
                <c:v>22</c:v>
              </c:pt>
              <c:pt idx="2">
                <c:v>38</c:v>
              </c:pt>
              <c:pt idx="3">
                <c:v>65</c:v>
              </c:pt>
              <c:pt idx="4">
                <c:v>140</c:v>
              </c:pt>
            </c:numLit>
          </c:val>
        </c:ser>
        <c:ser>
          <c:idx val="1"/>
          <c:order val="1"/>
          <c:tx>
            <c:v>Render</c:v>
          </c:tx>
          <c:cat>
            <c:strLit>
              <c:ptCount val="5"/>
              <c:pt idx="0">
                <c:v>10</c:v>
              </c:pt>
              <c:pt idx="1">
                <c:v>50</c:v>
              </c:pt>
              <c:pt idx="2">
                <c:v>100</c:v>
              </c:pt>
              <c:pt idx="3">
                <c:v>200</c:v>
              </c:pt>
              <c:pt idx="4">
                <c:v>500</c:v>
              </c:pt>
            </c:strLit>
          </c:cat>
          <c:val>
            <c:numLit>
              <c:ptCount val="5"/>
              <c:pt idx="0">
                <c:v>12</c:v>
              </c:pt>
              <c:pt idx="1">
                <c:v>35</c:v>
              </c:pt>
              <c:pt idx="2">
                <c:v>58</c:v>
              </c:pt>
              <c:pt idx="3">
                <c:v>95</c:v>
              </c:pt>
              <c:pt idx="4">
                <c:v>195</c:v>
              </c:pt>
            </c:numLit>
          </c:val>
        </c:ser>
      </c:lineChart>
    </c:plotArea>
    <c:title>
      <c:tx>
        <c:rich>
          <a:bodyPr/>
          <a:lstStyle/>
          <a:p>
            <a:r>
              <a:t>Memory Usage (MB)</a:t>
            </a:r>
          </a:p>
        </c:rich>
      </c:tx>
      <c:layout/>
      <c:overlay val="0"/>
    </c:title>
  </c:char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596784-F094-4B17-8B83-AE23BC19E6E8}" type="datetimeFigureOut">
              <a:rPr lang="en-US" smtClean="0"/>
              <a:t>8/14/2007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5BB87B-4768-4521-991C-A3C89D1764D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5BB87B-4768-4521-991C-A3C89D1764D9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5BB87B-4768-4521-991C-A3C89D1764D9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5BB87B-4768-4521-991C-A3C89D1764D9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5BB87B-4768-4521-991C-A3C89D1764D9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5BB87B-4768-4521-991C-A3C89D1764D9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5BB87B-4768-4521-991C-A3C89D1764D9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5" name="Rectangle 3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5" name="Rectangle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/>
          <a:effectLst/>
        </p:spPr>
        <p:txBody>
          <a:bodyPr/>
          <a:lstStyle>
            <a:lvl1pPr eaLnBrk="1" fontAlgn="auto">
              <a:spcBef>
                <a:spcPts val="0"/>
              </a:spcBef>
              <a:spcAft>
                <a:spcPts val="0"/>
              </a:spcAft>
              <a:defRPr kern="0">
                <a:latin typeface="+mn-lt"/>
              </a:defRPr>
            </a:lvl1pPr>
          </a:lstStyle>
          <a:p>
            <a:pPr>
              <a:defRPr/>
            </a:pPr>
            <a:fld id="{8E4C7396-2819-4CD4-A770-B073660FAD0A}" type="datetimeFigureOut">
              <a:rPr lang="en-US"/>
              <a:pPr>
                <a:defRPr/>
              </a:pPr>
              <a:t>8/14/2007</a:t>
            </a:fld>
            <a:endParaRPr lang="en-US"/>
          </a:p>
        </p:txBody>
      </p:sp>
      <p:sp>
        <p:nvSpPr>
          <p:cNvPr id="29" name="Rectangle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/>
          <a:effectLst/>
        </p:spPr>
        <p:txBody>
          <a:bodyPr/>
          <a:lstStyle>
            <a:lvl1pPr eaLnBrk="1" fontAlgn="auto">
              <a:spcBef>
                <a:spcPts val="0"/>
              </a:spcBef>
              <a:spcAft>
                <a:spcPts val="0"/>
              </a:spcAft>
              <a:defRPr kern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" name="Rectangle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/>
          <a:effectLst/>
        </p:spPr>
        <p:txBody>
          <a:bodyPr/>
          <a:lstStyle>
            <a:lvl1pPr eaLnBrk="1" fontAlgn="auto">
              <a:spcBef>
                <a:spcPts val="0"/>
              </a:spcBef>
              <a:spcAft>
                <a:spcPts val="0"/>
              </a:spcAft>
              <a:defRPr kern="0">
                <a:latin typeface="+mn-lt"/>
              </a:defRPr>
            </a:lvl1pPr>
          </a:lstStyle>
          <a:p>
            <a:pPr>
              <a:defRPr/>
            </a:pPr>
            <a:fld id="{3B4D0F41-D1C5-4A25-8660-AA0785337E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4"/>
          <p:cNvSpPr>
            <a:spLocks noGrp="1"/>
          </p:cNvSpPr>
          <p:nvPr>
            <p:ph type="dt" sz="half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CFDADFA-EB9D-4010-884E-0ED9201A937C}" type="datetime1">
              <a:rPr lang="en-US"/>
              <a:pPr/>
              <a:t>8/14/2007</a:t>
            </a:fld>
            <a:endParaRPr lang="en-US"/>
          </a:p>
        </p:txBody>
      </p:sp>
      <p:sp>
        <p:nvSpPr>
          <p:cNvPr id="8" name="Rectangle 5"/>
          <p:cNvSpPr>
            <a:spLocks noGrp="1"/>
          </p:cNvSpPr>
          <p:nvPr>
            <p:ph type="ftr" sz="quarter" idx="14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/>
          </p:cNvSpPr>
          <p:nvPr>
            <p:ph type="sldNum" sz="quarter" idx="15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2AE073D-4521-409C-8D84-0C71158ECE2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" name="Rectangle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6" name="Rectangle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/>
          <a:effectLst/>
        </p:spPr>
        <p:txBody>
          <a:bodyPr/>
          <a:lstStyle>
            <a:lvl1pPr eaLnBrk="1" fontAlgn="auto">
              <a:spcBef>
                <a:spcPts val="0"/>
              </a:spcBef>
              <a:spcAft>
                <a:spcPts val="0"/>
              </a:spcAft>
              <a:defRPr kern="0">
                <a:latin typeface="+mn-lt"/>
              </a:defRPr>
            </a:lvl1pPr>
          </a:lstStyle>
          <a:p>
            <a:pPr>
              <a:defRPr/>
            </a:pPr>
            <a:fld id="{8E4C7396-2819-4CD4-A770-B073660FAD0A}" type="datetimeFigureOut">
              <a:rPr lang="en-US"/>
              <a:pPr>
                <a:defRPr/>
              </a:pPr>
              <a:t>8/14/2007</a:t>
            </a:fld>
            <a:endParaRPr lang="en-US"/>
          </a:p>
        </p:txBody>
      </p:sp>
      <p:sp>
        <p:nvSpPr>
          <p:cNvPr id="5" name="Rectangle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/>
          <a:effectLst/>
        </p:spPr>
        <p:txBody>
          <a:bodyPr/>
          <a:lstStyle>
            <a:lvl1pPr eaLnBrk="1" fontAlgn="auto">
              <a:spcBef>
                <a:spcPts val="0"/>
              </a:spcBef>
              <a:spcAft>
                <a:spcPts val="0"/>
              </a:spcAft>
              <a:defRPr kern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" name="Rectangle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/>
          <a:effectLst/>
        </p:spPr>
        <p:txBody>
          <a:bodyPr/>
          <a:lstStyle>
            <a:lvl1pPr eaLnBrk="1" fontAlgn="auto">
              <a:spcBef>
                <a:spcPts val="0"/>
              </a:spcBef>
              <a:spcAft>
                <a:spcPts val="0"/>
              </a:spcAft>
              <a:defRPr kern="0">
                <a:latin typeface="+mn-lt"/>
              </a:defRPr>
            </a:lvl1pPr>
          </a:lstStyle>
          <a:p>
            <a:pPr>
              <a:defRPr/>
            </a:pPr>
            <a:fld id="{5FA7539F-09F7-47AD-9E45-105E9BA605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4"/>
          <p:cNvSpPr>
            <a:spLocks noGrp="1"/>
          </p:cNvSpPr>
          <p:nvPr>
            <p:ph type="dt" sz="half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CFDADFA-EB9D-4010-884E-0ED9201A937C}" type="datetime1">
              <a:rPr lang="en-US"/>
              <a:pPr/>
              <a:t>8/14/2007</a:t>
            </a:fld>
            <a:endParaRPr lang="en-US"/>
          </a:p>
        </p:txBody>
      </p:sp>
      <p:sp>
        <p:nvSpPr>
          <p:cNvPr id="8" name="Rectangle 5"/>
          <p:cNvSpPr>
            <a:spLocks noGrp="1"/>
          </p:cNvSpPr>
          <p:nvPr>
            <p:ph type="ftr" sz="quarter" idx="14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/>
          </p:cNvSpPr>
          <p:nvPr>
            <p:ph type="sldNum" sz="quarter" idx="15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D2542E0-BC0C-4AF8-B34C-7B878494113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4" name="Rectangle 3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/>
          <a:effectLst/>
        </p:spPr>
        <p:txBody>
          <a:bodyPr/>
          <a:lstStyle>
            <a:lvl1pPr eaLnBrk="1" fontAlgn="auto">
              <a:spcBef>
                <a:spcPts val="0"/>
              </a:spcBef>
              <a:spcAft>
                <a:spcPts val="0"/>
              </a:spcAft>
              <a:defRPr kern="0">
                <a:latin typeface="+mn-lt"/>
              </a:defRPr>
            </a:lvl1pPr>
          </a:lstStyle>
          <a:p>
            <a:pPr>
              <a:defRPr/>
            </a:pPr>
            <a:fld id="{8E4C7396-2819-4CD4-A770-B073660FAD0A}" type="datetimeFigureOut">
              <a:rPr lang="en-US"/>
              <a:pPr>
                <a:defRPr/>
              </a:pPr>
              <a:t>8/14/2007</a:t>
            </a:fld>
            <a:endParaRPr lang="en-US"/>
          </a:p>
        </p:txBody>
      </p:sp>
      <p:sp>
        <p:nvSpPr>
          <p:cNvPr id="25" name="Rectangle 4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/>
          <a:effectLst/>
        </p:spPr>
        <p:txBody>
          <a:bodyPr/>
          <a:lstStyle>
            <a:lvl1pPr eaLnBrk="1" fontAlgn="auto">
              <a:spcBef>
                <a:spcPts val="0"/>
              </a:spcBef>
              <a:spcAft>
                <a:spcPts val="0"/>
              </a:spcAft>
              <a:defRPr kern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5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/>
          <a:effectLst/>
        </p:spPr>
        <p:txBody>
          <a:bodyPr/>
          <a:lstStyle>
            <a:lvl1pPr eaLnBrk="1" fontAlgn="auto">
              <a:spcBef>
                <a:spcPts val="0"/>
              </a:spcBef>
              <a:spcAft>
                <a:spcPts val="0"/>
              </a:spcAft>
              <a:defRPr kern="0">
                <a:latin typeface="+mn-lt"/>
              </a:defRPr>
            </a:lvl1pPr>
          </a:lstStyle>
          <a:p>
            <a:pPr>
              <a:defRPr/>
            </a:pPr>
            <a:fld id="{C738CC58-ABD2-43E4-9B74-CD33CA1A03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4"/>
          <p:cNvSpPr>
            <a:spLocks noGrp="1"/>
          </p:cNvSpPr>
          <p:nvPr>
            <p:ph type="dt" sz="half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CFDADFA-EB9D-4010-884E-0ED9201A937C}" type="datetime1">
              <a:rPr lang="en-US"/>
              <a:pPr/>
              <a:t>8/14/2007</a:t>
            </a:fld>
            <a:endParaRPr lang="en-US"/>
          </a:p>
        </p:txBody>
      </p:sp>
      <p:sp>
        <p:nvSpPr>
          <p:cNvPr id="7" name="Rectangle 5"/>
          <p:cNvSpPr>
            <a:spLocks noGrp="1"/>
          </p:cNvSpPr>
          <p:nvPr>
            <p:ph type="ftr" sz="quarter" idx="14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6"/>
          <p:cNvSpPr>
            <a:spLocks noGrp="1"/>
          </p:cNvSpPr>
          <p:nvPr>
            <p:ph type="sldNum" sz="quarter" idx="15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65542C1-2346-48A4-8E1D-0697BB01988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/>
          <a:effectLst/>
        </p:spPr>
        <p:txBody>
          <a:bodyPr/>
          <a:lstStyle>
            <a:lvl1pPr eaLnBrk="1" fontAlgn="auto">
              <a:spcBef>
                <a:spcPts val="0"/>
              </a:spcBef>
              <a:spcAft>
                <a:spcPts val="0"/>
              </a:spcAft>
              <a:defRPr kern="0">
                <a:latin typeface="+mn-lt"/>
              </a:defRPr>
            </a:lvl1pPr>
          </a:lstStyle>
          <a:p>
            <a:pPr>
              <a:defRPr/>
            </a:pPr>
            <a:fld id="{8E4C7396-2819-4CD4-A770-B073660FAD0A}" type="datetimeFigureOut">
              <a:rPr lang="en-US"/>
              <a:pPr>
                <a:defRPr/>
              </a:pPr>
              <a:t>8/14/2007</a:t>
            </a:fld>
            <a:endParaRPr lang="en-US"/>
          </a:p>
        </p:txBody>
      </p:sp>
      <p:sp>
        <p:nvSpPr>
          <p:cNvPr id="31" name="Rectangle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/>
          <a:effectLst/>
        </p:spPr>
        <p:txBody>
          <a:bodyPr/>
          <a:lstStyle>
            <a:lvl1pPr eaLnBrk="1" fontAlgn="auto">
              <a:spcBef>
                <a:spcPts val="0"/>
              </a:spcBef>
              <a:spcAft>
                <a:spcPts val="0"/>
              </a:spcAft>
              <a:defRPr kern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" name="Rectangle 4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/>
          <a:effectLst/>
        </p:spPr>
        <p:txBody>
          <a:bodyPr/>
          <a:lstStyle>
            <a:lvl1pPr eaLnBrk="1" fontAlgn="auto">
              <a:spcBef>
                <a:spcPts val="0"/>
              </a:spcBef>
              <a:spcAft>
                <a:spcPts val="0"/>
              </a:spcAft>
              <a:defRPr kern="0">
                <a:latin typeface="+mn-lt"/>
              </a:defRPr>
            </a:lvl1pPr>
          </a:lstStyle>
          <a:p>
            <a:pPr>
              <a:defRPr/>
            </a:pPr>
            <a:fld id="{33FF3C73-1782-4D24-98F9-D463D7C280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4"/>
          <p:cNvSpPr>
            <a:spLocks noGrp="1"/>
          </p:cNvSpPr>
          <p:nvPr>
            <p:ph type="dt" sz="half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CFDADFA-EB9D-4010-884E-0ED9201A937C}" type="datetime1">
              <a:rPr lang="en-US"/>
              <a:pPr/>
              <a:t>8/14/2007</a:t>
            </a:fld>
            <a:endParaRPr lang="en-US"/>
          </a:p>
        </p:txBody>
      </p:sp>
      <p:sp>
        <p:nvSpPr>
          <p:cNvPr id="6" name="Rectangle 5"/>
          <p:cNvSpPr>
            <a:spLocks noGrp="1"/>
          </p:cNvSpPr>
          <p:nvPr>
            <p:ph type="ftr" sz="quarter" idx="14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5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F3CCF7-7DDD-4309-A484-4757746B24B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5" name="Rectangle 3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8" name="Rectangle 4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26" name="Rectangle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/>
          <a:effectLst/>
        </p:spPr>
        <p:txBody>
          <a:bodyPr/>
          <a:lstStyle>
            <a:lvl1pPr eaLnBrk="1" fontAlgn="auto">
              <a:spcBef>
                <a:spcPts val="0"/>
              </a:spcBef>
              <a:spcAft>
                <a:spcPts val="0"/>
              </a:spcAft>
              <a:defRPr kern="0">
                <a:latin typeface="+mn-lt"/>
              </a:defRPr>
            </a:lvl1pPr>
          </a:lstStyle>
          <a:p>
            <a:pPr>
              <a:defRPr/>
            </a:pPr>
            <a:fld id="{8E4C7396-2819-4CD4-A770-B073660FAD0A}" type="datetimeFigureOut">
              <a:rPr lang="en-US"/>
              <a:pPr>
                <a:defRPr/>
              </a:pPr>
              <a:t>8/14/2007</a:t>
            </a:fld>
            <a:endParaRPr lang="en-US"/>
          </a:p>
        </p:txBody>
      </p:sp>
      <p:sp>
        <p:nvSpPr>
          <p:cNvPr id="22" name="Rectangle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/>
          <a:effectLst/>
        </p:spPr>
        <p:txBody>
          <a:bodyPr/>
          <a:lstStyle>
            <a:lvl1pPr eaLnBrk="1" fontAlgn="auto">
              <a:spcBef>
                <a:spcPts val="0"/>
              </a:spcBef>
              <a:spcAft>
                <a:spcPts val="0"/>
              </a:spcAft>
              <a:defRPr kern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8" name="Rectangle 7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/>
          <a:effectLst/>
        </p:spPr>
        <p:txBody>
          <a:bodyPr/>
          <a:lstStyle>
            <a:lvl1pPr eaLnBrk="1" fontAlgn="auto">
              <a:spcBef>
                <a:spcPts val="0"/>
              </a:spcBef>
              <a:spcAft>
                <a:spcPts val="0"/>
              </a:spcAft>
              <a:defRPr kern="0">
                <a:latin typeface="+mn-lt"/>
              </a:defRPr>
            </a:lvl1pPr>
          </a:lstStyle>
          <a:p>
            <a:pPr>
              <a:defRPr/>
            </a:pPr>
            <a:fld id="{33095D0D-EA5D-47FC-839A-8678A04B98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8" name="Rectangle 4"/>
          <p:cNvSpPr>
            <a:spLocks noGrp="1"/>
          </p:cNvSpPr>
          <p:nvPr>
            <p:ph type="dt" sz="half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CFDADFA-EB9D-4010-884E-0ED9201A937C}" type="datetime1">
              <a:rPr lang="en-US"/>
              <a:pPr/>
              <a:t>8/14/2007</a:t>
            </a:fld>
            <a:endParaRPr lang="en-US"/>
          </a:p>
        </p:txBody>
      </p:sp>
      <p:sp>
        <p:nvSpPr>
          <p:cNvPr id="9" name="Rectangle 5"/>
          <p:cNvSpPr>
            <a:spLocks noGrp="1"/>
          </p:cNvSpPr>
          <p:nvPr>
            <p:ph type="ftr" sz="quarter" idx="14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0" name="Rectangle 6"/>
          <p:cNvSpPr>
            <a:spLocks noGrp="1"/>
          </p:cNvSpPr>
          <p:nvPr>
            <p:ph type="sldNum" sz="quarter" idx="15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2D47FF6-4A28-4488-8B1D-202C72B75D5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8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2" name="Rectangle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/>
          <a:effectLst/>
        </p:spPr>
        <p:txBody>
          <a:bodyPr/>
          <a:lstStyle>
            <a:lvl1pPr eaLnBrk="1" fontAlgn="auto">
              <a:spcBef>
                <a:spcPts val="0"/>
              </a:spcBef>
              <a:spcAft>
                <a:spcPts val="0"/>
              </a:spcAft>
              <a:defRPr kern="0">
                <a:latin typeface="+mn-lt"/>
              </a:defRPr>
            </a:lvl1pPr>
          </a:lstStyle>
          <a:p>
            <a:pPr>
              <a:defRPr/>
            </a:pPr>
            <a:fld id="{8E4C7396-2819-4CD4-A770-B073660FAD0A}" type="datetimeFigureOut">
              <a:rPr lang="en-US"/>
              <a:pPr>
                <a:defRPr/>
              </a:pPr>
              <a:t>8/14/2007</a:t>
            </a:fld>
            <a:endParaRPr lang="en-US"/>
          </a:p>
        </p:txBody>
      </p:sp>
      <p:sp>
        <p:nvSpPr>
          <p:cNvPr id="3" name="Rectangle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/>
          <a:effectLst/>
        </p:spPr>
        <p:txBody>
          <a:bodyPr/>
          <a:lstStyle>
            <a:lvl1pPr eaLnBrk="1" fontAlgn="auto">
              <a:spcBef>
                <a:spcPts val="0"/>
              </a:spcBef>
              <a:spcAft>
                <a:spcPts val="0"/>
              </a:spcAft>
              <a:defRPr kern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1" name="Rectangle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/>
          <a:effectLst/>
        </p:spPr>
        <p:txBody>
          <a:bodyPr/>
          <a:lstStyle>
            <a:lvl1pPr eaLnBrk="1" fontAlgn="auto">
              <a:spcBef>
                <a:spcPts val="0"/>
              </a:spcBef>
              <a:spcAft>
                <a:spcPts val="0"/>
              </a:spcAft>
              <a:defRPr kern="0">
                <a:latin typeface="+mn-lt"/>
              </a:defRPr>
            </a:lvl1pPr>
          </a:lstStyle>
          <a:p>
            <a:pPr>
              <a:defRPr/>
            </a:pPr>
            <a:fld id="{B9A37EA7-9360-4B84-A612-359AA9F63F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4"/>
          <p:cNvSpPr>
            <a:spLocks noGrp="1"/>
          </p:cNvSpPr>
          <p:nvPr>
            <p:ph type="dt" sz="half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CFDADFA-EB9D-4010-884E-0ED9201A937C}" type="datetime1">
              <a:rPr lang="en-US"/>
              <a:pPr/>
              <a:t>8/14/2007</a:t>
            </a:fld>
            <a:endParaRPr lang="en-US"/>
          </a:p>
        </p:txBody>
      </p:sp>
      <p:sp>
        <p:nvSpPr>
          <p:cNvPr id="8" name="Rectangle 5"/>
          <p:cNvSpPr>
            <a:spLocks noGrp="1"/>
          </p:cNvSpPr>
          <p:nvPr>
            <p:ph type="ftr" sz="quarter" idx="14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/>
          </p:cNvSpPr>
          <p:nvPr>
            <p:ph type="sldNum" sz="quarter" idx="15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FEB45FB-2AD7-44BE-8130-8972D151B84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preserve="1">
  <p:cSld name="Title and 2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3" name="Rectangle 3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9" name="Rectangle 4"/>
          <p:cNvSpPr>
            <a:spLocks noGrp="1"/>
          </p:cNvSpPr>
          <p:nvPr>
            <p:ph type="body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/>
          <a:effectLst/>
        </p:spPr>
        <p:txBody>
          <a:bodyPr/>
          <a:lstStyle>
            <a:lvl1pPr eaLnBrk="1" fontAlgn="auto">
              <a:spcBef>
                <a:spcPts val="0"/>
              </a:spcBef>
              <a:spcAft>
                <a:spcPts val="0"/>
              </a:spcAft>
              <a:defRPr kern="0">
                <a:latin typeface="+mn-lt"/>
              </a:defRPr>
            </a:lvl1pPr>
          </a:lstStyle>
          <a:p>
            <a:pPr>
              <a:defRPr/>
            </a:pPr>
            <a:fld id="{8E4C7396-2819-4CD4-A770-B073660FAD0A}" type="datetimeFigureOut">
              <a:rPr lang="en-US"/>
              <a:pPr>
                <a:defRPr/>
              </a:pPr>
              <a:t>8/14/2007</a:t>
            </a:fld>
            <a:endParaRPr lang="en-US"/>
          </a:p>
        </p:txBody>
      </p:sp>
      <p:sp>
        <p:nvSpPr>
          <p:cNvPr id="3" name="Rectangle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/>
          <a:effectLst/>
        </p:spPr>
        <p:txBody>
          <a:bodyPr/>
          <a:lstStyle>
            <a:lvl1pPr eaLnBrk="1" fontAlgn="auto">
              <a:spcBef>
                <a:spcPts val="0"/>
              </a:spcBef>
              <a:spcAft>
                <a:spcPts val="0"/>
              </a:spcAft>
              <a:defRPr kern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" name="Rectangle 7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/>
          <a:effectLst/>
        </p:spPr>
        <p:txBody>
          <a:bodyPr/>
          <a:lstStyle>
            <a:lvl1pPr eaLnBrk="1" fontAlgn="auto">
              <a:spcBef>
                <a:spcPts val="0"/>
              </a:spcBef>
              <a:spcAft>
                <a:spcPts val="0"/>
              </a:spcAft>
              <a:defRPr kern="0">
                <a:latin typeface="+mn-lt"/>
              </a:defRPr>
            </a:lvl1pPr>
          </a:lstStyle>
          <a:p>
            <a:pPr>
              <a:defRPr/>
            </a:pPr>
            <a:fld id="{ECA37C99-C515-4ABD-A43D-A9DF776BCB9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8" name="Rectangle 4"/>
          <p:cNvSpPr>
            <a:spLocks noGrp="1"/>
          </p:cNvSpPr>
          <p:nvPr>
            <p:ph type="dt" sz="half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CFDADFA-EB9D-4010-884E-0ED9201A937C}" type="datetime1">
              <a:rPr lang="en-US"/>
              <a:pPr/>
              <a:t>8/14/2007</a:t>
            </a:fld>
            <a:endParaRPr lang="en-US"/>
          </a:p>
        </p:txBody>
      </p:sp>
      <p:sp>
        <p:nvSpPr>
          <p:cNvPr id="10" name="Rectangle 5"/>
          <p:cNvSpPr>
            <a:spLocks noGrp="1"/>
          </p:cNvSpPr>
          <p:nvPr>
            <p:ph type="ftr" sz="quarter" idx="14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6"/>
          <p:cNvSpPr>
            <a:spLocks noGrp="1"/>
          </p:cNvSpPr>
          <p:nvPr>
            <p:ph type="sldNum" sz="quarter" idx="15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4EEF794-2E34-4F46-AFB6-4B05B6BA16A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>
              <a:defRPr>
                <a:latin typeface="Calibri" pitchFamily="34" charset="0"/>
              </a:defRPr>
            </a:lvl1pPr>
          </a:lstStyle>
          <a:p>
            <a:fld id="{FCFDADFA-EB9D-4010-884E-0ED9201A937C}" type="datetime1">
              <a:rPr lang="en-US"/>
              <a:pPr/>
              <a:t>8/14/2007</a:t>
            </a:fld>
            <a:endParaRPr lang="en-US"/>
          </a:p>
        </p:txBody>
      </p:sp>
      <p:sp>
        <p:nvSpPr>
          <p:cNvPr id="1029" name="Rectangle 5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>
              <a:defRPr>
                <a:latin typeface="Calibri" pitchFamily="34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>
              <a:defRPr>
                <a:latin typeface="Calibri" pitchFamily="34" charset="0"/>
              </a:defRPr>
            </a:lvl1pPr>
          </a:lstStyle>
          <a:p>
            <a:fld id="{6074AD92-7231-4B06-8A02-4F89A5B96111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Calibri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Calibri" pitchFamily="34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Calibri" pitchFamily="34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Calibri" pitchFamily="34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Calibri" pitchFamily="34" charset="0"/>
        </a:defRPr>
      </a:lvl9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/Relationships>
</file>

<file path=ppt/slides/_rels/slide6.xml.rels><?xml version="1.0" encoding="UTF-8" standalone="yes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Shape 1"/>
          <p:cNvSpPr/>
          <p:nvPr/>
        </p:nvSpPr>
        <p:spPr>
          <a:xfrm>
            <a:off x="762000" y="1714500"/>
            <a:ext cx="571500" cy="38100"/>
          </a:xfrm>
          <a:prstGeom prst="rect">
            <a:avLst/>
          </a:prstGeom>
          <a:solidFill>
            <a:srgbClr val="D4A853"/>
          </a:solidFill>
        </p:spPr>
      </p:sp>
      <p:sp>
        <p:nvSpPr>
          <p:cNvPr id="2" name="Shape 2"/>
          <p:cNvSpPr/>
          <p:nvPr/>
        </p:nvSpPr>
        <p:spPr>
          <a:xfrm>
            <a:off x="762000" y="1905000"/>
            <a:ext cx="6667500" cy="1905000"/>
          </a:xfrm>
          <a:prstGeom prst="rect">
            <a:avLst/>
          </a:prstGeom>
          <a:solidFill>
            <a:srgbClr val="000000"/>
          </a:solidFill>
        </p:spPr>
        <p:txBody>
          <a:bodyPr anchor="t"/>
          <a:lstStyle/>
          <a:p>
            <a:pPr algn="l"/>
            <a:r>
              <a:rPr sz="6000" b="1">
                <a:solidFill>
                  <a:srgbClr val="F0F0F0"/>
                </a:solidFill>
              </a:rPr>
              <a:t>Aurochs</a:t>
            </a:r>
          </a:p>
          <a:p>
            <a:pPr algn="l"/>
            <a:r>
              <a:rPr sz="2000">
                <a:solidFill>
                  <a:srgbClr val="8890A0"/>
                </a:solidFill>
              </a:rPr>
              <a:t>Office Document Toolkit</a:t>
            </a:r>
          </a:p>
        </p:txBody>
      </p:sp>
      <p:sp>
        <p:nvSpPr>
          <p:cNvPr id="3" name="Shape 3"/>
          <p:cNvSpPr/>
          <p:nvPr/>
        </p:nvSpPr>
        <p:spPr>
          <a:xfrm>
            <a:off x="762000" y="4191000"/>
            <a:ext cx="6667500" cy="285750"/>
          </a:xfrm>
          <a:prstGeom prst="rect">
            <a:avLst/>
          </a:prstGeom>
          <a:solidFill>
            <a:srgbClr val="000000"/>
          </a:solidFill>
        </p:spPr>
        <p:txBody>
          <a:bodyPr/>
          <a:lstStyle/>
          <a:p>
            <a:pPr algn="l"/>
            <a:r>
              <a:rPr sz="1300">
                <a:solidFill>
                  <a:srgbClr val="D4A853"/>
                </a:solidFill>
              </a:rPr>
              <a:t>Build</a:t>
            </a:r>
            <a:r>
              <a:rPr sz="1300">
                <a:solidFill>
                  <a:srgbClr val="505872"/>
                </a:solidFill>
              </a:rPr>
              <a:t xml:space="preserve">  /  </a:t>
            </a:r>
            <a:r>
              <a:rPr sz="1300">
                <a:solidFill>
                  <a:srgbClr val="D4A853"/>
                </a:solidFill>
              </a:rPr>
              <a:t>Render</a:t>
            </a:r>
            <a:r>
              <a:rPr sz="1300">
                <a:solidFill>
                  <a:srgbClr val="505872"/>
                </a:solidFill>
              </a:rPr>
              <a:t xml:space="preserve">  /  </a:t>
            </a:r>
            <a:r>
              <a:rPr sz="1300">
                <a:solidFill>
                  <a:srgbClr val="D4A853"/>
                </a:solidFill>
              </a:rPr>
              <a:t>Edit</a:t>
            </a:r>
            <a:r>
              <a:rPr sz="1300">
                <a:solidFill>
                  <a:srgbClr val="505872"/>
                </a:solidFill>
              </a:rPr>
              <a:t xml:space="preserve">  /  </a:t>
            </a:r>
            <a:r>
              <a:rPr sz="1300">
                <a:solidFill>
                  <a:srgbClr val="D4A853"/>
                </a:solidFill>
              </a:rPr>
              <a:t>Convert</a:t>
            </a:r>
          </a:p>
        </p:txBody>
      </p:sp>
      <p:sp>
        <p:nvSpPr>
          <p:cNvPr id="4" name="Shape 4"/>
          <p:cNvSpPr/>
          <p:nvPr/>
        </p:nvSpPr>
        <p:spPr>
          <a:xfrm>
            <a:off x="8191500" y="0"/>
            <a:ext cx="38100" cy="6858000"/>
          </a:xfrm>
          <a:prstGeom prst="rect">
            <a:avLst/>
          </a:prstGeom>
          <a:solidFill>
            <a:srgbClr val="D4A853"/>
          </a:solidFill>
        </p:spPr>
      </p:sp>
      <p:sp>
        <p:nvSpPr>
          <p:cNvPr id="5" name="Shape 5"/>
          <p:cNvSpPr/>
          <p:nvPr/>
        </p:nvSpPr>
        <p:spPr>
          <a:xfrm>
            <a:off x="8286750" y="1524000"/>
            <a:ext cx="571500" cy="1524000"/>
          </a:xfrm>
          <a:prstGeom prst="rect">
            <a:avLst/>
          </a:prstGeom>
          <a:gradFill rotWithShape="1">
            <a:gsLst>
              <a:gs pos="0">
                <a:srgbClr val="D4A853"/>
              </a:gs>
              <a:gs pos="100000000000">
                <a:srgbClr val="C49340"/>
              </a:gs>
            </a:gsLst>
            <a:path path="rect"/>
          </a:gradFill>
        </p:spPr>
      </p:sp>
      <p:sp>
        <p:nvSpPr>
          <p:cNvPr id="6" name="Shape 6"/>
          <p:cNvSpPr/>
          <p:nvPr/>
        </p:nvSpPr>
        <p:spPr>
          <a:xfrm>
            <a:off x="8286750" y="3238500"/>
            <a:ext cx="571500" cy="762000"/>
          </a:xfrm>
          <a:prstGeom prst="rect">
            <a:avLst/>
          </a:prstGeom>
          <a:solidFill>
            <a:srgbClr val="161B2E"/>
          </a:solidFill>
        </p:spPr>
      </p:sp>
      <p:sp>
        <p:nvSpPr>
          <p:cNvPr id="7" name="Shape 7"/>
          <p:cNvSpPr/>
          <p:nvPr/>
        </p:nvSpPr>
        <p:spPr>
          <a:xfrm>
            <a:off x="762000" y="4953000"/>
            <a:ext cx="1524000" cy="304800"/>
          </a:xfrm>
          <a:prstGeom prst="rect">
            <a:avLst/>
          </a:prstGeom>
          <a:solidFill>
            <a:srgbClr val="161B2E"/>
          </a:solidFill>
          <a:ln w="9525" cap="flat" cmpd="sng" algn="ctr">
            <a:solidFill>
              <a:srgbClr val="1E2540"/>
            </a:solidFill>
            <a:prstDash val="solid"/>
            <a:round/>
          </a:ln>
        </p:spPr>
        <p:txBody>
          <a:bodyPr anchor="ctr"/>
          <a:lstStyle/>
          <a:p>
            <a:pPr algn="ctr"/>
            <a:r>
              <a:rPr sz="900">
                <a:solidFill>
                  <a:srgbClr val="8890A0"/>
                </a:solidFill>
              </a:rPr>
              <a:t>TypeScript-native</a:t>
            </a:r>
          </a:p>
        </p:txBody>
      </p:sp>
      <p:sp>
        <p:nvSpPr>
          <p:cNvPr id="8" name="Shape 8"/>
          <p:cNvSpPr/>
          <p:nvPr/>
        </p:nvSpPr>
        <p:spPr>
          <a:xfrm>
            <a:off x="2476500" y="4953000"/>
            <a:ext cx="1905000" cy="304800"/>
          </a:xfrm>
          <a:prstGeom prst="rect">
            <a:avLst/>
          </a:prstGeom>
          <a:solidFill>
            <a:srgbClr val="161B2E"/>
          </a:solidFill>
          <a:ln w="9525" cap="flat" cmpd="sng" algn="ctr">
            <a:solidFill>
              <a:srgbClr val="1E2540"/>
            </a:solidFill>
            <a:prstDash val="solid"/>
            <a:round/>
          </a:ln>
        </p:spPr>
        <p:txBody>
          <a:bodyPr anchor="ctr"/>
          <a:lstStyle/>
          <a:p>
            <a:pPr algn="ctr"/>
            <a:r>
              <a:rPr sz="900">
                <a:solidFill>
                  <a:srgbClr val="8890A0"/>
                </a:solidFill>
              </a:rPr>
              <a:t>Browser &amp; Node.js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Shape 1"/>
          <p:cNvSpPr/>
          <p:nvPr/>
        </p:nvSpPr>
        <p:spPr>
          <a:xfrm>
            <a:off x="3619500" y="2095500"/>
            <a:ext cx="1905000" cy="28575"/>
          </a:xfrm>
          <a:prstGeom prst="rect">
            <a:avLst/>
          </a:prstGeom>
          <a:solidFill>
            <a:srgbClr val="D4A853"/>
          </a:solidFill>
        </p:spPr>
      </p:sp>
      <p:sp>
        <p:nvSpPr>
          <p:cNvPr id="2" name="Shape 2"/>
          <p:cNvSpPr/>
          <p:nvPr/>
        </p:nvSpPr>
        <p:spPr>
          <a:xfrm>
            <a:off x="952500" y="2286000"/>
            <a:ext cx="7429500" cy="2476500"/>
          </a:xfrm>
          <a:prstGeom prst="rect">
            <a:avLst/>
          </a:prstGeom>
          <a:solidFill>
            <a:srgbClr val="000000"/>
          </a:solidFill>
        </p:spPr>
        <p:txBody>
          <a:bodyPr anchor="t"/>
          <a:lstStyle/>
          <a:p>
            <a:pPr algn="ctr"/>
            <a:r>
              <a:rPr sz="4800" b="1">
                <a:solidFill>
                  <a:srgbClr val="F0F0F0"/>
                </a:solidFill>
              </a:rPr>
              <a:t>Thank you.</a:t>
            </a:r>
          </a:p>
          <a:p>
            <a:pPr algn="ctr"/>
            <a:r>
              <a:rPr sz="2000"/>
              <a:t xml:space="preserve"> </a:t>
            </a:r>
          </a:p>
          <a:p>
            <a:pPr algn="ctr"/>
            <a:r>
              <a:rPr sz="1400">
                <a:solidFill>
                  <a:srgbClr val="5B8DEF"/>
                </a:solidFill>
              </a:rPr>
              <a:t>github.com/trkbt10/aurochs</a:t>
            </a:r>
          </a:p>
          <a:p>
            <a:pPr algn="ctr"/>
            <a:r>
              <a:rPr sz="1600"/>
              <a:t xml:space="preserve"> </a:t>
            </a:r>
          </a:p>
          <a:p>
            <a:pPr algn="ctr"/>
            <a:r>
              <a:rPr sz="1000" i="1">
                <a:solidFill>
                  <a:srgbClr val="505872"/>
                </a:solidFill>
              </a:rPr>
              <a:t>Built with the Aurochs PPTX Builder API</a:t>
            </a:r>
          </a:p>
        </p:txBody>
      </p:sp>
      <p:sp>
        <p:nvSpPr>
          <p:cNvPr id="3" name="Shape 3"/>
          <p:cNvSpPr/>
          <p:nvPr/>
        </p:nvSpPr>
        <p:spPr>
          <a:xfrm>
            <a:off x="0" y="6572250"/>
            <a:ext cx="9144000" cy="285750"/>
          </a:xfrm>
          <a:prstGeom prst="rect">
            <a:avLst/>
          </a:prstGeom>
          <a:gradFill rotWithShape="1">
            <a:gsLst>
              <a:gs pos="0">
                <a:srgbClr val="C49340"/>
              </a:gs>
              <a:gs pos="100000000000">
                <a:srgbClr val="D4A853"/>
              </a:gs>
            </a:gsLst>
            <a:path path="rect"/>
          </a:gradFill>
        </p:spPr>
      </p:sp>
    </p:spTree>
  </p:cSld>
  <p:clrMapOvr>
    <a:masterClrMapping/>
  </p:clrMapOvr>
  <p:transition spd="fast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Shape 1"/>
          <p:cNvSpPr/>
          <p:nvPr/>
        </p:nvSpPr>
        <p:spPr>
          <a:xfrm>
            <a:off x="571500" y="428625"/>
            <a:ext cx="571500" cy="28575"/>
          </a:xfrm>
          <a:prstGeom prst="rect">
            <a:avLst/>
          </a:prstGeom>
          <a:solidFill>
            <a:srgbClr val="D4A853"/>
          </a:solidFill>
        </p:spPr>
      </p:sp>
      <p:sp>
        <p:nvSpPr>
          <p:cNvPr id="2" name="Shape 2"/>
          <p:cNvSpPr/>
          <p:nvPr/>
        </p:nvSpPr>
        <p:spPr>
          <a:xfrm>
            <a:off x="571500" y="533400"/>
            <a:ext cx="3810000" cy="381000"/>
          </a:xfrm>
          <a:prstGeom prst="rect">
            <a:avLst/>
          </a:prstGeom>
          <a:solidFill>
            <a:srgbClr val="000000"/>
          </a:solidFill>
        </p:spPr>
        <p:txBody>
          <a:bodyPr/>
          <a:lstStyle/>
          <a:p>
            <a:pPr algn="l"/>
            <a:r>
              <a:rPr sz="2800" b="1">
                <a:solidFill>
                  <a:srgbClr val="F0F0F0"/>
                </a:solidFill>
              </a:rPr>
              <a:t>Getting Started</a:t>
            </a:r>
          </a:p>
        </p:txBody>
      </p:sp>
      <p:sp>
        <p:nvSpPr>
          <p:cNvPr id="3" name="Shape 3"/>
          <p:cNvSpPr/>
          <p:nvPr/>
        </p:nvSpPr>
        <p:spPr>
          <a:xfrm>
            <a:off x="381000" y="1143000"/>
            <a:ext cx="5143500" cy="2476500"/>
          </a:xfrm>
          <a:prstGeom prst="rect">
            <a:avLst/>
          </a:prstGeom>
          <a:solidFill>
            <a:srgbClr val="0D1117"/>
          </a:solidFill>
          <a:ln w="9525" cap="flat" cmpd="sng" algn="ctr">
            <a:solidFill>
              <a:srgbClr val="21262D"/>
            </a:solidFill>
            <a:prstDash val="solid"/>
            <a:round/>
          </a:ln>
        </p:spPr>
      </p:sp>
      <p:sp>
        <p:nvSpPr>
          <p:cNvPr id="4" name="Shape 4"/>
          <p:cNvSpPr/>
          <p:nvPr/>
        </p:nvSpPr>
        <p:spPr>
          <a:xfrm>
            <a:off x="381000" y="1143000"/>
            <a:ext cx="5143500" cy="266700"/>
          </a:xfrm>
          <a:prstGeom prst="rect">
            <a:avLst/>
          </a:prstGeom>
          <a:solidFill>
            <a:srgbClr val="161B22"/>
          </a:solidFill>
        </p:spPr>
      </p:sp>
      <p:sp>
        <p:nvSpPr>
          <p:cNvPr id="5" name="Shape 5"/>
          <p:cNvSpPr/>
          <p:nvPr/>
        </p:nvSpPr>
        <p:spPr>
          <a:xfrm>
            <a:off x="381000" y="1409700"/>
            <a:ext cx="5143500" cy="9525"/>
          </a:xfrm>
          <a:prstGeom prst="rect">
            <a:avLst/>
          </a:prstGeom>
          <a:solidFill>
            <a:srgbClr val="21262D"/>
          </a:solidFill>
        </p:spPr>
      </p:sp>
      <p:sp>
        <p:nvSpPr>
          <p:cNvPr id="6" name="Shape 6"/>
          <p:cNvSpPr/>
          <p:nvPr/>
        </p:nvSpPr>
        <p:spPr>
          <a:xfrm>
            <a:off x="533400" y="1524000"/>
            <a:ext cx="4857750" cy="1905000"/>
          </a:xfrm>
          <a:prstGeom prst="rect">
            <a:avLst/>
          </a:prstGeom>
          <a:solidFill>
            <a:srgbClr val="000000"/>
          </a:solidFill>
        </p:spPr>
        <p:txBody>
          <a:bodyPr anchor="t"/>
          <a:lstStyle/>
          <a:p>
            <a:pPr algn="l"/>
            <a:r>
              <a:rPr sz="1100">
                <a:solidFill>
                  <a:srgbClr val="505872"/>
                </a:solidFill>
              </a:rPr>
              <a:t xml:space="preserve">$ </a:t>
            </a:r>
            <a:r>
              <a:rPr sz="1100">
                <a:solidFill>
                  <a:srgbClr val="F0F0F0"/>
                </a:solidFill>
              </a:rPr>
              <a:t>npm install aurochs</a:t>
            </a:r>
          </a:p>
          <a:p>
            <a:pPr algn="l"/>
            <a:r>
              <a:rPr sz="600"/>
              <a:t xml:space="preserve"> </a:t>
            </a:r>
          </a:p>
          <a:p>
            <a:pPr algn="l"/>
            <a:r>
              <a:rPr sz="1100">
                <a:solidFill>
                  <a:srgbClr val="505872"/>
                </a:solidFill>
              </a:rPr>
              <a:t xml:space="preserve">$ </a:t>
            </a:r>
            <a:r>
              <a:rPr sz="1100">
                <a:solidFill>
                  <a:srgbClr val="4ECDC4"/>
                </a:solidFill>
              </a:rPr>
              <a:t>npx aurochs pptx preview deck.pptx</a:t>
            </a:r>
          </a:p>
          <a:p>
            <a:pPr algn="l"/>
            <a:r>
              <a:rPr sz="1100">
                <a:solidFill>
                  <a:srgbClr val="505872"/>
                </a:solidFill>
              </a:rPr>
              <a:t xml:space="preserve">$ </a:t>
            </a:r>
            <a:r>
              <a:rPr sz="1100">
                <a:solidFill>
                  <a:srgbClr val="4ECDC4"/>
                </a:solidFill>
              </a:rPr>
              <a:t>npx aurochs pptx build spec.json</a:t>
            </a:r>
          </a:p>
          <a:p>
            <a:pPr algn="l"/>
            <a:r>
              <a:rPr sz="1100">
                <a:solidFill>
                  <a:srgbClr val="505872"/>
                </a:solidFill>
              </a:rPr>
              <a:t xml:space="preserve">$ </a:t>
            </a:r>
            <a:r>
              <a:rPr sz="1100">
                <a:solidFill>
                  <a:srgbClr val="4ECDC4"/>
                </a:solidFill>
              </a:rPr>
              <a:t>npx aurochs docx preview doc.docx</a:t>
            </a:r>
          </a:p>
          <a:p>
            <a:pPr algn="l"/>
            <a:r>
              <a:rPr sz="1100">
                <a:solidFill>
                  <a:srgbClr val="505872"/>
                </a:solidFill>
              </a:rPr>
              <a:t xml:space="preserve">$ </a:t>
            </a:r>
            <a:r>
              <a:rPr sz="1100">
                <a:solidFill>
                  <a:srgbClr val="4ECDC4"/>
                </a:solidFill>
              </a:rPr>
              <a:t>npx aurochs xlsx edit data.xlsx</a:t>
            </a:r>
          </a:p>
        </p:txBody>
      </p:sp>
      <p:sp>
        <p:nvSpPr>
          <p:cNvPr id="7" name="Shape 7"/>
          <p:cNvSpPr/>
          <p:nvPr/>
        </p:nvSpPr>
        <p:spPr>
          <a:xfrm>
            <a:off x="5715000" y="1143000"/>
            <a:ext cx="3238500" cy="762000"/>
          </a:xfrm>
          <a:prstGeom prst="rect">
            <a:avLst/>
          </a:prstGeom>
          <a:solidFill>
            <a:srgbClr val="161B2E"/>
          </a:solidFill>
          <a:ln w="9525" cap="flat" cmpd="sng" algn="ctr">
            <a:solidFill>
              <a:srgbClr val="1E2540"/>
            </a:solidFill>
            <a:prstDash val="solid"/>
            <a:round/>
          </a:ln>
        </p:spPr>
        <p:txBody>
          <a:bodyPr anchor="ctr" lIns="152400" tIns="0" rIns="152400" bIns="0"/>
          <a:lstStyle/>
          <a:p>
            <a:pPr algn="l"/>
            <a:r>
              <a:rPr sz="1300" b="1">
                <a:solidFill>
                  <a:srgbClr val="F0F0F0"/>
                </a:solidFill>
              </a:rPr>
              <a:t>MCP Server</a:t>
            </a:r>
          </a:p>
          <a:p>
            <a:pPr algn="l"/>
            <a:r>
              <a:rPr sz="900">
                <a:solidFill>
                  <a:srgbClr val="8890A0"/>
                </a:solidFill>
              </a:rPr>
              <a:t>AI-powered document editing</a:t>
            </a:r>
          </a:p>
        </p:txBody>
      </p:sp>
      <p:sp>
        <p:nvSpPr>
          <p:cNvPr id="8" name="Shape 8"/>
          <p:cNvSpPr/>
          <p:nvPr/>
        </p:nvSpPr>
        <p:spPr>
          <a:xfrm>
            <a:off x="5715000" y="2000250"/>
            <a:ext cx="3238500" cy="762000"/>
          </a:xfrm>
          <a:prstGeom prst="rect">
            <a:avLst/>
          </a:prstGeom>
          <a:solidFill>
            <a:srgbClr val="161B2E"/>
          </a:solidFill>
          <a:ln w="9525" cap="flat" cmpd="sng" algn="ctr">
            <a:solidFill>
              <a:srgbClr val="1E2540"/>
            </a:solidFill>
            <a:prstDash val="solid"/>
            <a:round/>
          </a:ln>
        </p:spPr>
        <p:txBody>
          <a:bodyPr anchor="ctr" lIns="152400" tIns="0" rIns="152400" bIns="0"/>
          <a:lstStyle/>
          <a:p>
            <a:pPr algn="l"/>
            <a:r>
              <a:rPr sz="1300" b="1">
                <a:solidFill>
                  <a:srgbClr val="F0F0F0"/>
                </a:solidFill>
              </a:rPr>
              <a:t>VS Code Extension</a:t>
            </a:r>
          </a:p>
          <a:p>
            <a:pPr algn="l"/>
            <a:r>
              <a:rPr sz="900">
                <a:solidFill>
                  <a:srgbClr val="8890A0"/>
                </a:solidFill>
              </a:rPr>
              <a:t>Preview Office files in editor</a:t>
            </a:r>
          </a:p>
        </p:txBody>
      </p:sp>
      <p:sp>
        <p:nvSpPr>
          <p:cNvPr id="9" name="Shape 9"/>
          <p:cNvSpPr/>
          <p:nvPr/>
        </p:nvSpPr>
        <p:spPr>
          <a:xfrm>
            <a:off x="5715000" y="2857500"/>
            <a:ext cx="3238500" cy="762000"/>
          </a:xfrm>
          <a:prstGeom prst="rect">
            <a:avLst/>
          </a:prstGeom>
          <a:solidFill>
            <a:srgbClr val="161B2E"/>
          </a:solidFill>
          <a:ln w="9525" cap="flat" cmpd="sng" algn="ctr">
            <a:solidFill>
              <a:srgbClr val="1E2540"/>
            </a:solidFill>
            <a:prstDash val="solid"/>
            <a:round/>
          </a:ln>
        </p:spPr>
        <p:txBody>
          <a:bodyPr anchor="ctr" lIns="152400" tIns="0" rIns="152400" bIns="0"/>
          <a:lstStyle/>
          <a:p>
            <a:pPr algn="l"/>
            <a:r>
              <a:rPr sz="1300" b="1">
                <a:solidFill>
                  <a:srgbClr val="F0F0F0"/>
                </a:solidFill>
              </a:rPr>
              <a:t>Web Components</a:t>
            </a:r>
          </a:p>
          <a:p>
            <a:pPr algn="l"/>
            <a:r>
              <a:rPr sz="900">
                <a:solidFill>
                  <a:srgbClr val="8890A0"/>
                </a:solidFill>
              </a:rPr>
              <a:t>Embed viewer in any web app</a:t>
            </a:r>
          </a:p>
        </p:txBody>
      </p:sp>
      <p:sp>
        <p:nvSpPr>
          <p:cNvPr id="10" name="Shape 10"/>
          <p:cNvSpPr/>
          <p:nvPr/>
        </p:nvSpPr>
        <p:spPr>
          <a:xfrm>
            <a:off x="381000" y="4000500"/>
            <a:ext cx="8572500" cy="571500"/>
          </a:xfrm>
          <a:prstGeom prst="rect">
            <a:avLst/>
          </a:prstGeom>
          <a:solidFill>
            <a:srgbClr val="161B2E"/>
          </a:solidFill>
        </p:spPr>
        <p:txBody>
          <a:bodyPr anchor="ctr"/>
          <a:lstStyle/>
          <a:p>
            <a:pPr algn="ctr"/>
            <a:r>
              <a:rPr sz="1400" b="1">
                <a:solidFill>
                  <a:srgbClr val="D4A853"/>
                </a:solidFill>
              </a:rPr>
              <a:t>npm install aurochs</a:t>
            </a:r>
            <a:r>
              <a:rPr sz="1400">
                <a:solidFill>
                  <a:srgbClr val="8890A0"/>
                </a:solidFill>
              </a:rPr>
              <a:t xml:space="preserve">     to get started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 standalone="yes"?><p:sld xmlns:a="http://schemas.openxmlformats.org/drawingml/2006/main" xmlns:r="http://schemas.openxmlformats.org/officeDocument/2006/relationships" xmlns:p="http://schemas.openxmlformats.org/presentationml/2006/main"><p:cSld><p:bg><p:bgPr><a:solidFill><a:srgbClr val="0B0E17"/></a:solidFill></p:bgPr></p:bg><p:spTree><p:nvGrpSpPr><p:cNvPr id="1" name=""/><p:cNvGrpSpPr/><p:nvPr/></p:nvGrpSpPr><p:grpSpPr><a:xfrm><a:off x="0" y="0"/><a:ext cx="0" cy="0"/><a:chOff x="0" y="0"/><a:chExt cx="0" cy="0"/></a:xfrm></p:grpSpPr><p:sp><p:nvSpPr><p:cNvPr id="1" name="Shape 1"/><p:cNvSpPr/><p:nvPr/></p:nvSpPr><p:spPr><a:xfrm><a:off x="571500" y="428625"/><a:ext cx="571500" cy="28575"/></a:xfrm><a:prstGeom prst="rect"><a:avLst/></a:prstGeom><a:solidFill><a:srgbClr val="D4A853"/></a:solidFill></p:spPr></p:sp><p:sp><p:nvSpPr><p:cNvPr id="2" name="Shape 2"/><p:cNvSpPr/><p:nvPr/></p:nvSpPr><p:spPr><a:xfrm><a:off x="571500" y="533400"/><a:ext cx="3810000" cy="381000"/></a:xfrm><a:prstGeom prst="rect"><a:avLst/></a:prstGeom><a:solidFill><a:srgbClr val="000000"/></a:solidFill></p:spPr><p:txBody><a:bodyPr/><a:lstStyle/><a:p><a:pPr algn="l"/><a:r><a:rPr sz="2800" b="1"><a:solidFill><a:srgbClr val="F0F0F0"/></a:solidFill></a:rPr><a:t>Performance</a:t></a:r></a:p></p:txBody></p:sp><p:graphicFrame><p:nvGraphicFramePr><p:cNvPr id="3" name="Table 3"/><p:cNvGraphicFramePr/><p:nvPr/></p:nvGraphicFramePr><p:xfrm><a:off x="381000" y="4286250"/><a:ext cx="8572500" cy="1238250"/></p:xfrm><a:graphic xmlns="http://schemas.openxmlformats.org/drawingml/2006/main"><a:graphicData uri="http://schemas.openxmlformats.org/drawingml/2006/table"><a:tbl><a:tblPr/><a:tblGrid><a:gridCol w="1714500"/><a:gridCol w="1714500"/><a:gridCol w="1714500"/><a:gridCol w="1714500"/><a:gridCol w="1714500"/></a:tblGrid><a:tr h="309563"><a:tc><a:txBody><a:bodyPr/><a:lstStyle/><a:p><a:pPr algn="ctr"/><a:r><a:rPr sz="900" b="1"><a:solidFill><a:srgbClr val="8890A0"/></a:solidFill></a:rPr><a:t>Format</a:t></a:r></a:p></a:txBody><a:tcPr><a:lnL w="9525" cap="flat" cmpd="sng" algn="ctr"><a:solidFill><a:srgbClr val="1E2540"/></a:solidFill><a:prstDash val="solid"/><a:round/></a:lnL><a:lnR w="9525" cap="flat" cmpd="sng" algn="ctr"><a:solidFill><a:srgbClr val="1E2540"/></a:solidFill><a:prstDash val="solid"/><a:round/></a:lnR><a:lnT w="9525" cap="flat" cmpd="sng" algn="ctr"><a:solidFill><a:srgbClr val="1E2540"/></a:solidFill><a:prstDash val="solid"/><a:round/></a:lnT><a:lnB w="9525" cap="flat" cmpd="sng" algn="ctr"><a:solidFill><a:srgbClr val="1E2540"/></a:solidFill><a:prstDash val="solid"/><a:round/></a:lnB><a:solidFill><a:srgbClr val="161B2E"/></a:solidFill></a:tcPr></a:tc><a:tc><a:txBody><a:bodyPr/><a:lstStyle/><a:p><a:pPr algn="ctr"/><a:r><a:rPr sz="900" b="1"><a:solidFill><a:srgbClr val="8890A0"/></a:solidFill></a:rPr><a:t>Parse</a:t></a:r></a:p></a:txBody><a:tcPr><a:lnL w="9525" cap="flat" cmpd="sng" algn="ctr"><a:solidFill><a:srgbClr val="1E2540"/></a:solidFill><a:prstDash val="solid"/><a:round/></a:lnL><a:lnR w="9525" cap="flat" cmpd="sng" algn="ctr"><a:solidFill><a:srgbClr val="1E2540"/></a:solidFill><a:prstDash val="solid"/><a:round/></a:lnR><a:lnT w="9525" cap="flat" cmpd="sng" algn="ctr"><a:solidFill><a:srgbClr val="1E2540"/></a:solidFill><a:prstDash val="solid"/><a:round/></a:lnT><a:lnB w="9525" cap="flat" cmpd="sng" algn="ctr"><a:solidFill><a:srgbClr val="1E2540"/></a:solidFill><a:prstDash val="solid"/><a:round/></a:lnB><a:solidFill><a:srgbClr val="161B2E"/></a:solidFill></a:tcPr></a:tc><a:tc><a:txBody><a:bodyPr/><a:lstStyle/><a:p><a:pPr algn="ctr"/><a:r><a:rPr sz="900" b="1"><a:solidFill><a:srgbClr val="8890A0"/></a:solidFill></a:rPr><a:t>Render</a:t></a:r></a:p></a:txBody><a:tcPr><a:lnL w="9525" cap="flat" cmpd="sng" algn="ctr"><a:solidFill><a:srgbClr val="1E2540"/></a:solidFill><a:prstDash val="solid"/><a:round/></a:lnL><a:lnR w="9525" cap="flat" cmpd="sng" algn="ctr"><a:solidFill><a:srgbClr val="1E2540"/></a:solidFill><a:prstDash val="solid"/><a:round/></a:lnR><a:lnT w="9525" cap="flat" cmpd="sng" algn="ctr"><a:solidFill><a:srgbClr val="1E2540"/></a:solidFill><a:prstDash val="solid"/><a:round/></a:lnT><a:lnB w="9525" cap="flat" cmpd="sng" algn="ctr"><a:solidFill><a:srgbClr val="1E2540"/></a:solidFill><a:prstDash val="solid"/><a:round/></a:lnB><a:solidFill><a:srgbClr val="161B2E"/></a:solidFill></a:tcPr></a:tc><a:tc><a:txBody><a:bodyPr/><a:lstStyle/><a:p><a:pPr algn="ctr"/><a:r><a:rPr sz="900" b="1"><a:solidFill><a:srgbClr val="8890A0"/></a:solidFill></a:rPr><a:t>Build</a:t></a:r></a:p></a:txBody><a:tcPr><a:lnL w="9525" cap="flat" cmpd="sng" algn="ctr"><a:solidFill><a:srgbClr val="1E2540"/></a:solidFill><a:prstDash val="solid"/><a:round/></a:lnL><a:lnR w="9525" cap="flat" cmpd="sng" algn="ctr"><a:solidFill><a:srgbClr val="1E2540"/></a:solidFill><a:prstDash val="solid"/><a:round/></a:lnR><a:lnT w="9525" cap="flat" cmpd="sng" algn="ctr"><a:solidFill><a:srgbClr val="1E2540"/></a:solidFill><a:prstDash val="solid"/><a:round/></a:lnT><a:lnB w="9525" cap="flat" cmpd="sng" algn="ctr"><a:solidFill><a:srgbClr val="1E2540"/></a:solidFill><a:prstDash val="solid"/><a:round/></a:lnB><a:solidFill><a:srgbClr val="161B2E"/></a:solidFill></a:tcPr></a:tc><a:tc><a:txBody><a:bodyPr/><a:lstStyle/><a:p><a:pPr algn="ctr"/><a:r><a:rPr sz="900" b="1"><a:solidFill><a:srgbClr val="8890A0"/></a:solidFill></a:rPr><a:t>Export</a:t></a:r></a:p></a:txBody><a:tcPr><a:lnL w="9525" cap="flat" cmpd="sng" algn="ctr"><a:solidFill><a:srgbClr val="1E2540"/></a:solidFill><a:prstDash val="solid"/><a:round/></a:lnL><a:lnR w="9525" cap="flat" cmpd="sng" algn="ctr"><a:solidFill><a:srgbClr val="1E2540"/></a:solidFill><a:prstDash val="solid"/><a:round/></a:lnR><a:lnT w="9525" cap="flat" cmpd="sng" algn="ctr"><a:solidFill><a:srgbClr val="1E2540"/></a:solidFill><a:prstDash val="solid"/><a:round/></a:lnT><a:lnB w="9525" cap="flat" cmpd="sng" algn="ctr"><a:solidFill><a:srgbClr val="1E2540"/></a:solidFill><a:prstDash val="solid"/><a:round/></a:lnB><a:solidFill><a:srgbClr val="161B2E"/></a:solidFill></a:tcPr></a:tc></a:tr><a:tr h="309563"><a:tc><a:txBody><a:bodyPr/><a:lstStyle/><a:p><a:pPr algn="ctr"/><a:r><a:rPr sz="900" b="1"><a:solidFill><a:srgbClr val="D4A853"/></a:solidFill></a:rPr><a:t>PPTX</a:t></a:r></a:p></a:txBody><a:tcPr><a:lnL w="9525" cap="flat" cmpd="sng" algn="ctr"><a:solidFill><a:srgbClr val="1E2540"/></a:solidFill><a:prstDash val="solid"/><a:round/></a:lnL><a:lnR w="9525" cap="flat" cmpd="sng" algn="ctr"><a:solidFill><a:srgbClr val="1E2540"/></a:solidFill><a:prstDash val="solid"/><a:round/></a:lnR><a:lnT w="9525" cap="flat" cmpd="sng" algn="ctr"><a:solidFill><a:srgbClr val="1E2540"/></a:solidFill><a:prstDash val="solid"/><a:round/></a:lnT><a:lnB w="9525" cap="flat" cmpd="sng" algn="ctr"><a:solidFill><a:srgbClr val="1E2540"/></a:solidFill><a:prstDash val="solid"/><a:round/></a:lnB><a:solidFill><a:srgbClr val="0F1320"/></a:solidFill></a:tcPr></a:tc><a:tc><a:txBody><a:bodyPr/><a:lstStyle/><a:p><a:pPr algn="ctr"/><a:r><a:rPr sz="900"><a:solidFill><a:srgbClr val="8890A0"/></a:solidFill></a:rPr><a:t>&lt; 50ms</a:t></a:r></a:p></a:txBody><a:tcPr><a:lnL w="9525" cap="flat" cmpd="sng" algn="ctr"><a:solidFill><a:srgbClr val="1E2540"/></a:solidFill><a:prstDash val="solid"/><a:round/></a:lnL><a:lnR w="9525" cap="flat" cmpd="sng" algn="ctr"><a:solidFill><a:srgbClr val="1E2540"/></a:solidFill><a:prstDash val="solid"/><a:round/></a:lnR><a:lnT w="9525" cap="flat" cmpd="sng" algn="ctr"><a:solidFill><a:srgbClr val="1E2540"/></a:solidFill><a:prstDash val="solid"/><a:round/></a:lnT><a:lnB w="9525" cap="flat" cmpd="sng" algn="ctr"><a:solidFill><a:srgbClr val="1E2540"/></a:solidFill><a:prstDash val="solid"/><a:round/></a:lnB><a:solidFill><a:srgbClr val="0F1320"/></a:solidFill></a:tcPr></a:tc><a:tc><a:txBody><a:bodyPr/><a:lstStyle/><a:p><a:pPr algn="ctr"/><a:r><a:rPr sz="900"><a:solidFill><a:srgbClr val="8890A0"/></a:solidFill></a:rPr><a:t>&lt; 100ms</a:t></a:r></a:p></a:txBody><a:tcPr><a:lnL w="9525" cap="flat" cmpd="sng" algn="ctr"><a:solidFill><a:srgbClr val="1E2540"/></a:solidFill><a:prstDash val="solid"/><a:round/></a:lnL><a:lnR w="9525" cap="flat" cmpd="sng" algn="ctr"><a:solidFill><a:srgbClr val="1E2540"/></a:solidFill><a:prstDash val="solid"/><a:round/></a:lnR><a:lnT w="9525" cap="flat" cmpd="sng" algn="ctr"><a:solidFill><a:srgbClr val="1E2540"/></a:solidFill><a:prstDash val="solid"/><a:round/></a:lnT><a:lnB w="9525" cap="flat" cmpd="sng" algn="ctr"><a:solidFill><a:srgbClr val="1E2540"/></a:solidFill><a:prstDash val="solid"/><a:round/></a:lnB><a:solidFill><a:srgbClr val="0F1320"/></a:solidFill></a:tcPr></a:tc><a:tc><a:txBody><a:bodyPr/><a:lstStyle/><a:p><a:pPr algn="ctr"/><a:r><a:rPr sz="900"><a:solidFill><a:srgbClr val="8890A0"/></a:solidFill></a:rPr><a:t>&lt; 200ms</a:t></a:r></a:p></a:txBody><a:tcPr><a:lnL w="9525" cap="flat" cmpd="sng" algn="ctr"><a:solidFill><a:srgbClr val="1E2540"/></a:solidFill><a:prstDash val="solid"/><a:round/></a:lnL><a:lnR w="9525" cap="flat" cmpd="sng" algn="ctr"><a:solidFill><a:srgbClr val="1E2540"/></a:solidFill><a:prstDash val="solid"/><a:round/></a:lnR><a:lnT w="9525" cap="flat" cmpd="sng" algn="ctr"><a:solidFill><a:srgbClr val="1E2540"/></a:solidFill><a:prstDash val="solid"/><a:round/></a:lnT><a:lnB w="9525" cap="flat" cmpd="sng" algn="ctr"><a:solidFill><a:srgbClr val="1E2540"/></a:solidFill><a:prstDash val="solid"/><a:round/></a:lnB><a:solidFill><a:srgbClr val="0F1320"/></a:solidFill></a:tcPr></a:tc><a:tc><a:txBody><a:bodyPr/><a:lstStyle/><a:p><a:pPr algn="ctr"/><a:r><a:rPr sz="900"><a:solidFill><a:srgbClr val="8890A0"/></a:solidFill></a:rPr><a:t>&lt; 500ms</a:t></a:r></a:p></a:txBody><a:tcPr><a:lnL w="9525" cap="flat" cmpd="sng" algn="ctr"><a:solidFill><a:srgbClr val="1E2540"/></a:solidFill><a:prstDash val="solid"/><a:round/></a:lnL><a:lnR w="9525" cap="flat" cmpd="sng" algn="ctr"><a:solidFill><a:srgbClr val="1E2540"/></a:solidFill><a:prstDash val="solid"/><a:round/></a:lnR><a:lnT w="9525" cap="flat" cmpd="sng" algn="ctr"><a:solidFill><a:srgbClr val="1E2540"/></a:solidFill><a:prstDash val="solid"/><a:round/></a:lnT><a:lnB w="9525" cap="flat" cmpd="sng" algn="ctr"><a:solidFill><a:srgbClr val="1E2540"/></a:solidFill><a:prstDash val="solid"/><a:round/></a:lnB><a:solidFill><a:srgbClr val="0F1320"/></a:solidFill></a:tcPr></a:tc></a:tr><a:tr h="309563"><a:tc><a:txBody><a:bodyPr/><a:lstStyle/><a:p><a:pPr algn="ctr"/><a:r><a:rPr sz="900" b="1"><a:solidFill><a:srgbClr val="D4A853"/></a:solidFill></a:rPr><a:t>DOCX</a:t></a:r></a:p></a:txBody><a:tcPr><a:lnL w="9525" cap="flat" cmpd="sng" algn="ctr"><a:solidFill><a:srgbClr val="1E2540"/></a:solidFill><a:prstDash val="solid"/><a:round/></a:lnL><a:lnR w="9525" cap="flat" cmpd="sng" algn="ctr"><a:solidFill><a:srgbClr val="1E2540"/></a:solidFill><a:prstDash val="solid"/><a:round/></a:lnR><a:lnT w="9525" cap="flat" cmpd="sng" algn="ctr"><a:solidFill><a:srgbClr val="1E2540"/></a:solidFill><a:prstDash val="solid"/><a:round/></a:lnT><a:lnB w="9525" cap="flat" cmpd="sng" algn="ctr"><a:solidFill><a:srgbClr val="1E2540"/></a:solidFill><a:prstDash val="solid"/><a:round/></a:lnB><a:solidFill><a:srgbClr val="0B0E17"/></a:solidFill></a:tcPr></a:tc><a:tc><a:txBody><a:bodyPr/><a:lstStyle/><a:p><a:pPr algn="ctr"/><a:r><a:rPr sz="900"><a:solidFill><a:srgbClr val="8890A0"/></a:solidFill></a:rPr><a:t>&lt; 30ms</a:t></a:r></a:p></a:txBody><a:tcPr><a:lnL w="9525" cap="flat" cmpd="sng" algn="ctr"><a:solidFill><a:srgbClr val="1E2540"/></a:solidFill><a:prstDash val="solid"/><a:round/></a:lnL><a:lnR w="9525" cap="flat" cmpd="sng" algn="ctr"><a:solidFill><a:srgbClr val="1E2540"/></a:solidFill><a:prstDash val="solid"/><a:round/></a:lnR><a:lnT w="9525" cap="flat" cmpd="sng" algn="ctr"><a:solidFill><a:srgbClr val="1E2540"/></a:solidFill><a:prstDash val="solid"/><a:round/></a:lnT><a:lnB w="9525" cap="flat" cmpd="sng" algn="ctr"><a:solidFill><a:srgbClr val="1E2540"/></a:solidFill><a:prstDash val="solid"/><a:round/></a:lnB><a:solidFill><a:srgbClr val="0B0E17"/></a:solidFill></a:tcPr></a:tc><a:tc><a:txBody><a:bodyPr/><a:lstStyle/><a:p><a:pPr algn="ctr"/><a:r><a:rPr sz="900"><a:solidFill><a:srgbClr val="8890A0"/></a:solidFill></a:rPr><a:t>&lt; 80ms</a:t></a:r></a:p></a:txBody><a:tcPr><a:lnL w="9525" cap="flat" cmpd="sng" algn="ctr"><a:solidFill><a:srgbClr val="1E2540"/></a:solidFill><a:prstDash val="solid"/><a:round/></a:lnL><a:lnR w="9525" cap="flat" cmpd="sng" algn="ctr"><a:solidFill><a:srgbClr val="1E2540"/></a:solidFill><a:prstDash val="solid"/><a:round/></a:lnR><a:lnT w="9525" cap="flat" cmpd="sng" algn="ctr"><a:solidFill><a:srgbClr val="1E2540"/></a:solidFill><a:prstDash val="solid"/><a:round/></a:lnT><a:lnB w="9525" cap="flat" cmpd="sng" algn="ctr"><a:solidFill><a:srgbClr val="1E2540"/></a:solidFill><a:prstDash val="solid"/><a:round/></a:lnB><a:solidFill><a:srgbClr val="0B0E17"/></a:solidFill></a:tcPr></a:tc><a:tc><a:txBody><a:bodyPr/><a:lstStyle/><a:p><a:pPr algn="ctr"/><a:r><a:rPr sz="900"><a:solidFill><a:srgbClr val="8890A0"/></a:solidFill></a:rPr><a:t>&lt; 150ms</a:t></a:r></a:p></a:txBody><a:tcPr><a:lnL w="9525" cap="flat" cmpd="sng" algn="ctr"><a:solidFill><a:srgbClr val="1E2540"/></a:solidFill><a:prstDash val="solid"/><a:round/></a:lnL><a:lnR w="9525" cap="flat" cmpd="sng" algn="ctr"><a:solidFill><a:srgbClr val="1E2540"/></a:solidFill><a:prstDash val="solid"/><a:round/></a:lnR><a:lnT w="9525" cap="flat" cmpd="sng" algn="ctr"><a:solidFill><a:srgbClr val="1E2540"/></a:solidFill><a:prstDash val="solid"/><a:round/></a:lnT><a:lnB w="9525" cap="flat" cmpd="sng" algn="ctr"><a:solidFill><a:srgbClr val="1E2540"/></a:solidFill><a:prstDash val="solid"/><a:round/></a:lnB><a:solidFill><a:srgbClr val="0B0E17"/></a:solidFill></a:tcPr></a:tc><a:tc><a:txBody><a:bodyPr/><a:lstStyle/><a:p><a:pPr algn="ctr"/><a:r><a:rPr sz="900"><a:solidFill><a:srgbClr val="8890A0"/></a:solidFill></a:rPr><a:t>&lt; 400ms</a:t></a:r></a:p></a:txBody><a:tcPr><a:lnL w="9525" cap="flat" cmpd="sng" algn="ctr"><a:solidFill><a:srgbClr val="1E2540"/></a:solidFill><a:prstDash val="solid"/><a:round/></a:lnL><a:lnR w="9525" cap="flat" cmpd="sng" algn="ctr"><a:solidFill><a:srgbClr val="1E2540"/></a:solidFill><a:prstDash val="solid"/><a:round/></a:lnR><a:lnT w="9525" cap="flat" cmpd="sng" algn="ctr"><a:solidFill><a:srgbClr val="1E2540"/></a:solidFill><a:prstDash val="solid"/><a:round/></a:lnT><a:lnB w="9525" cap="flat" cmpd="sng" algn="ctr"><a:solidFill><a:srgbClr val="1E2540"/></a:solidFill><a:prstDash val="solid"/><a:round/></a:lnB><a:solidFill><a:srgbClr val="0B0E17"/></a:solidFill></a:tcPr></a:tc></a:tr><a:tr h="309563"><a:tc><a:txBody><a:bodyPr/><a:lstStyle/><a:p><a:pPr algn="ctr"/><a:r><a:rPr sz="900" b="1"><a:solidFill><a:srgbClr val="D4A853"/></a:solidFill></a:rPr><a:t>XLSX</a:t></a:r></a:p></a:txBody><a:tcPr><a:lnL w="9525" cap="flat" cmpd="sng" algn="ctr"><a:solidFill><a:srgbClr val="1E2540"/></a:solidFill><a:prstDash val="solid"/><a:round/></a:lnL><a:lnR w="9525" cap="flat" cmpd="sng" algn="ctr"><a:solidFill><a:srgbClr val="1E2540"/></a:solidFill><a:prstDash val="solid"/><a:round/></a:lnR><a:lnT w="9525" cap="flat" cmpd="sng" algn="ctr"><a:solidFill><a:srgbClr val="1E2540"/></a:solidFill><a:prstDash val="solid"/><a:round/></a:lnT><a:lnB w="9525" cap="flat" cmpd="sng" algn="ctr"><a:solidFill><a:srgbClr val="1E2540"/></a:solidFill><a:prstDash val="solid"/><a:round/></a:lnB><a:solidFill><a:srgbClr val="0F1320"/></a:solidFill></a:tcPr></a:tc><a:tc><a:txBody><a:bodyPr/><a:lstStyle/><a:p><a:pPr algn="ctr"/><a:r><a:rPr sz="900"><a:solidFill><a:srgbClr val="8890A0"/></a:solidFill></a:rPr><a:t>&lt; 20ms</a:t></a:r></a:p></a:txBody><a:tcPr><a:lnL w="9525" cap="flat" cmpd="sng" algn="ctr"><a:solidFill><a:srgbClr val="1E2540"/></a:solidFill><a:prstDash val="solid"/><a:round/></a:lnL><a:lnR w="9525" cap="flat" cmpd="sng" algn="ctr"><a:solidFill><a:srgbClr val="1E2540"/></a:solidFill><a:prstDash val="solid"/><a:round/></a:lnR><a:lnT w="9525" cap="flat" cmpd="sng" algn="ctr"><a:solidFill><a:srgbClr val="1E2540"/></a:solidFill><a:prstDash val="solid"/><a:round/></a:lnT><a:lnB w="9525" cap="flat" cmpd="sng" algn="ctr"><a:solidFill><a:srgbClr val="1E2540"/></a:solidFill><a:prstDash val="solid"/><a:round/></a:lnB><a:solidFill><a:srgbClr val="0F1320"/></a:solidFill></a:tcPr></a:tc><a:tc><a:txBody><a:bodyPr/><a:lstStyle/><a:p><a:pPr algn="ctr"/><a:r><a:rPr sz="900"><a:solidFill><a:srgbClr val="8890A0"/></a:solidFill></a:rPr><a:t>&lt; 60ms</a:t></a:r></a:p></a:txBody><a:tcPr><a:lnL w="9525" cap="flat" cmpd="sng" algn="ctr"><a:solidFill><a:srgbClr val="1E2540"/></a:solidFill><a:prstDash val="solid"/><a:round/></a:lnL><a:lnR w="9525" cap="flat" cmpd="sng" algn="ctr"><a:solidFill><a:srgbClr val="1E2540"/></a:solidFill><a:prstDash val="solid"/><a:round/></a:lnR><a:lnT w="9525" cap="flat" cmpd="sng" algn="ctr"><a:solidFill><a:srgbClr val="1E2540"/></a:solidFill><a:prstDash val="solid"/><a:round/></a:lnT><a:lnB w="9525" cap="flat" cmpd="sng" algn="ctr"><a:solidFill><a:srgbClr val="1E2540"/></a:solidFill><a:prstDash val="solid"/><a:round/></a:lnB><a:solidFill><a:srgbClr val="0F1320"/></a:solidFill></a:tcPr></a:tc><a:tc><a:txBody><a:bodyPr/><a:lstStyle/><a:p><a:pPr algn="ctr"/><a:r><a:rPr sz="900"><a:solidFill><a:srgbClr val="8890A0"/></a:solidFill></a:rPr><a:t>&lt; 100ms</a:t></a:r></a:p></a:txBody><a:tcPr><a:lnL w="9525" cap="flat" cmpd="sng" algn="ctr"><a:solidFill><a:srgbClr val="1E2540"/></a:solidFill><a:prstDash val="solid"/><a:round/></a:lnL><a:lnR w="9525" cap="flat" cmpd="sng" algn="ctr"><a:solidFill><a:srgbClr val="1E2540"/></a:solidFill><a:prstDash val="solid"/><a:round/></a:lnR><a:lnT w="9525" cap="flat" cmpd="sng" algn="ctr"><a:solidFill><a:srgbClr val="1E2540"/></a:solidFill><a:prstDash val="solid"/><a:round/></a:lnT><a:lnB w="9525" cap="flat" cmpd="sng" algn="ctr"><a:solidFill><a:srgbClr val="1E2540"/></a:solidFill><a:prstDash val="solid"/><a:round/></a:lnB><a:solidFill><a:srgbClr val="0F1320"/></a:solidFill></a:tcPr></a:tc><a:tc><a:txBody><a:bodyPr/><a:lstStyle/><a:p><a:pPr algn="ctr"/><a:r><a:rPr sz="900"><a:solidFill><a:srgbClr val="8890A0"/></a:solidFill></a:rPr><a:t>&lt; 300ms</a:t></a:r></a:p></a:txBody><a:tcPr><a:lnL w="9525" cap="flat" cmpd="sng" algn="ctr"><a:solidFill><a:srgbClr val="1E2540"/></a:solidFill><a:prstDash val="solid"/><a:round/></a:lnL><a:lnR w="9525" cap="flat" cmpd="sng" algn="ctr"><a:solidFill><a:srgbClr val="1E2540"/></a:solidFill><a:prstDash val="solid"/><a:round/></a:lnR><a:lnT w="9525" cap="flat" cmpd="sng" algn="ctr"><a:solidFill><a:srgbClr val="1E2540"/></a:solidFill><a:prstDash val="solid"/><a:round/></a:lnT><a:lnB w="9525" cap="flat" cmpd="sng" algn="ctr"><a:solidFill><a:srgbClr val="1E2540"/></a:solidFill><a:prstDash val="solid"/><a:round/></a:lnB><a:solidFill><a:srgbClr val="0F1320"/></a:solidFill></a:tcPr></a:tc></a:tr></a:tbl></a:graphicData></a:graphic></p:graphicFrame><p:graphicFrame><p:nvGraphicFramePr><p:cNvPr id="4" name="Render Time (ms)"/><p:cNvGraphicFramePr/><p:nvPr/></p:nvGraphicFramePr><p:xfrm><a:off x="381000" y="1143000"/><a:ext cx="4191000" cy="2857500"/></p:xfrm><a:graphic><a:graphicData uri="http://schemas.openxmlformats.org/drawingml/2006/chart"><c:chart r:id="rId3"/></a:graphicData></a:graphic></p:graphicFrame><p:graphicFrame><p:nvGraphicFramePr><p:cNvPr id="5" name="Memory Usage (MB)"/><p:cNvGraphicFramePr/><p:nvPr/></p:nvGraphicFramePr><p:xfrm><a:off x="4762500" y="1143000"/><a:ext cx="4191000" cy="2857500"/></p:xfrm><a:graphic><a:graphicData uri="http://schemas.openxmlformats.org/drawingml/2006/chart"><c:chart r:id="rId4"/></a:graphicData></a:graphic></p:graphicFrame></p:spTree></p:cSld><p:clrMapOvr><a:masterClrMapping/></p:clrMapOvr><p:transition spd="fast"><p:fade/></p:transition>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Shape 1"/>
          <p:cNvSpPr/>
          <p:nvPr/>
        </p:nvSpPr>
        <p:spPr>
          <a:xfrm>
            <a:off x="571500" y="428625"/>
            <a:ext cx="571500" cy="28575"/>
          </a:xfrm>
          <a:prstGeom prst="rect">
            <a:avLst/>
          </a:prstGeom>
          <a:solidFill>
            <a:srgbClr val="D4A853"/>
          </a:solidFill>
        </p:spPr>
      </p:sp>
      <p:sp>
        <p:nvSpPr>
          <p:cNvPr id="2" name="Shape 2"/>
          <p:cNvSpPr/>
          <p:nvPr/>
        </p:nvSpPr>
        <p:spPr>
          <a:xfrm>
            <a:off x="571500" y="533400"/>
            <a:ext cx="3810000" cy="381000"/>
          </a:xfrm>
          <a:prstGeom prst="rect">
            <a:avLst/>
          </a:prstGeom>
          <a:solidFill>
            <a:srgbClr val="000000"/>
          </a:solidFill>
        </p:spPr>
        <p:txBody>
          <a:bodyPr/>
          <a:lstStyle/>
          <a:p>
            <a:pPr algn="l"/>
            <a:r>
              <a:rPr sz="2800" b="1">
                <a:solidFill>
                  <a:srgbClr val="F0F0F0"/>
                </a:solidFill>
              </a:rPr>
              <a:t>Architecture</a:t>
            </a:r>
          </a:p>
        </p:txBody>
      </p:sp>
      <p:sp>
        <p:nvSpPr>
          <p:cNvPr id="3" name="Shape 3"/>
          <p:cNvSpPr/>
          <p:nvPr/>
        </p:nvSpPr>
        <p:spPr>
          <a:xfrm>
            <a:off x="571500" y="1143000"/>
            <a:ext cx="762000" cy="228600"/>
          </a:xfrm>
          <a:prstGeom prst="rect">
            <a:avLst/>
          </a:prstGeom>
          <a:solidFill>
            <a:srgbClr val="000000"/>
          </a:solidFill>
        </p:spPr>
        <p:txBody>
          <a:bodyPr/>
          <a:lstStyle/>
          <a:p>
            <a:pPr algn="l"/>
            <a:r>
              <a:rPr sz="900" b="1" spc="150">
                <a:solidFill>
                  <a:srgbClr val="505872"/>
                </a:solidFill>
              </a:rPr>
              <a:t>CORE</a:t>
            </a:r>
          </a:p>
        </p:txBody>
      </p:sp>
      <p:sp>
        <p:nvSpPr>
          <p:cNvPr id="4" name="Shape 4"/>
          <p:cNvSpPr/>
          <p:nvPr/>
        </p:nvSpPr>
        <p:spPr>
          <a:xfrm>
            <a:off x="571500" y="1428750"/>
            <a:ext cx="2571750" cy="533400"/>
          </a:xfrm>
          <a:prstGeom prst="rect">
            <a:avLst/>
          </a:prstGeom>
          <a:solidFill>
            <a:srgbClr val="161B2E"/>
          </a:solidFill>
          <a:ln w="9525" cap="flat" cmpd="sng" algn="ctr">
            <a:solidFill>
              <a:srgbClr val="1E2540"/>
            </a:solidFill>
            <a:prstDash val="solid"/>
            <a:round/>
          </a:ln>
        </p:spPr>
        <p:txBody>
          <a:bodyPr anchor="ctr" lIns="152400" tIns="0" rIns="152400" bIns="0"/>
          <a:lstStyle/>
          <a:p>
            <a:pPr algn="l"/>
            <a:r>
              <a:rPr sz="1100" b="1">
                <a:solidFill>
                  <a:srgbClr val="F0F0F0"/>
                </a:solidFill>
              </a:rPr>
              <a:t>@aurochs-office/*</a:t>
            </a:r>
          </a:p>
          <a:p>
            <a:pPr algn="l"/>
            <a:r>
              <a:rPr sz="900">
                <a:solidFill>
                  <a:srgbClr val="8890A0"/>
                </a:solidFill>
              </a:rPr>
              <a:t>Domain types &amp; parsers</a:t>
            </a:r>
          </a:p>
        </p:txBody>
      </p:sp>
      <p:sp>
        <p:nvSpPr>
          <p:cNvPr id="5" name="Shape 5"/>
          <p:cNvSpPr/>
          <p:nvPr/>
        </p:nvSpPr>
        <p:spPr>
          <a:xfrm>
            <a:off x="3286125" y="1428750"/>
            <a:ext cx="2571750" cy="533400"/>
          </a:xfrm>
          <a:prstGeom prst="rect">
            <a:avLst/>
          </a:prstGeom>
          <a:solidFill>
            <a:srgbClr val="161B2E"/>
          </a:solidFill>
          <a:ln w="9525" cap="flat" cmpd="sng" algn="ctr">
            <a:solidFill>
              <a:srgbClr val="1E2540"/>
            </a:solidFill>
            <a:prstDash val="solid"/>
            <a:round/>
          </a:ln>
        </p:spPr>
        <p:txBody>
          <a:bodyPr anchor="ctr" lIns="152400" tIns="0" rIns="152400" bIns="0"/>
          <a:lstStyle/>
          <a:p>
            <a:pPr algn="l"/>
            <a:r>
              <a:rPr sz="1100" b="1">
                <a:solidFill>
                  <a:srgbClr val="F0F0F0"/>
                </a:solidFill>
              </a:rPr>
              <a:t>@aurochs-renderer/*</a:t>
            </a:r>
          </a:p>
          <a:p>
            <a:pPr algn="l"/>
            <a:r>
              <a:rPr sz="900">
                <a:solidFill>
                  <a:srgbClr val="8890A0"/>
                </a:solidFill>
              </a:rPr>
              <a:t>SVG / ASCII / WebGL</a:t>
            </a:r>
          </a:p>
        </p:txBody>
      </p:sp>
      <p:sp>
        <p:nvSpPr>
          <p:cNvPr id="6" name="Shape 6"/>
          <p:cNvSpPr/>
          <p:nvPr/>
        </p:nvSpPr>
        <p:spPr>
          <a:xfrm>
            <a:off x="6000750" y="1428750"/>
            <a:ext cx="2571750" cy="533400"/>
          </a:xfrm>
          <a:prstGeom prst="rect">
            <a:avLst/>
          </a:prstGeom>
          <a:solidFill>
            <a:srgbClr val="161B2E"/>
          </a:solidFill>
          <a:ln w="9525" cap="flat" cmpd="sng" algn="ctr">
            <a:solidFill>
              <a:srgbClr val="1E2540"/>
            </a:solidFill>
            <a:prstDash val="solid"/>
            <a:round/>
          </a:ln>
        </p:spPr>
        <p:txBody>
          <a:bodyPr anchor="ctr" lIns="152400" tIns="0" rIns="152400" bIns="0"/>
          <a:lstStyle/>
          <a:p>
            <a:pPr algn="l"/>
            <a:r>
              <a:rPr sz="1100" b="1">
                <a:solidFill>
                  <a:srgbClr val="F0F0F0"/>
                </a:solidFill>
              </a:rPr>
              <a:t>@aurochs-builder/*</a:t>
            </a:r>
          </a:p>
          <a:p>
            <a:pPr algn="l"/>
            <a:r>
              <a:rPr sz="900">
                <a:solidFill>
                  <a:srgbClr val="8890A0"/>
                </a:solidFill>
              </a:rPr>
              <a:t>Build &amp; patch</a:t>
            </a:r>
          </a:p>
        </p:txBody>
      </p:sp>
      <p:sp>
        <p:nvSpPr>
          <p:cNvPr id="7" name="Shape 7"/>
          <p:cNvSpPr/>
          <p:nvPr/>
        </p:nvSpPr>
        <p:spPr>
          <a:xfrm>
            <a:off x="571500" y="2190750"/>
            <a:ext cx="952500" cy="228600"/>
          </a:xfrm>
          <a:prstGeom prst="rect">
            <a:avLst/>
          </a:prstGeom>
          <a:solidFill>
            <a:srgbClr val="000000"/>
          </a:solidFill>
        </p:spPr>
        <p:txBody>
          <a:bodyPr/>
          <a:lstStyle/>
          <a:p>
            <a:pPr algn="l"/>
            <a:r>
              <a:rPr sz="900" b="1" spc="150">
                <a:solidFill>
                  <a:srgbClr val="505872"/>
                </a:solidFill>
              </a:rPr>
              <a:t>INTERFACE</a:t>
            </a:r>
          </a:p>
        </p:txBody>
      </p:sp>
      <p:sp>
        <p:nvSpPr>
          <p:cNvPr id="8" name="Shape 8"/>
          <p:cNvSpPr/>
          <p:nvPr/>
        </p:nvSpPr>
        <p:spPr>
          <a:xfrm>
            <a:off x="571500" y="2476500"/>
            <a:ext cx="4095750" cy="533400"/>
          </a:xfrm>
          <a:prstGeom prst="rect">
            <a:avLst/>
          </a:prstGeom>
          <a:solidFill>
            <a:srgbClr val="161B2E"/>
          </a:solidFill>
          <a:ln w="9525" cap="flat" cmpd="sng" algn="ctr">
            <a:solidFill>
              <a:srgbClr val="1E2540"/>
            </a:solidFill>
            <a:prstDash val="solid"/>
            <a:round/>
          </a:ln>
        </p:spPr>
        <p:txBody>
          <a:bodyPr anchor="ctr" lIns="152400" tIns="0" rIns="152400" bIns="0"/>
          <a:lstStyle/>
          <a:p>
            <a:pPr algn="l"/>
            <a:r>
              <a:rPr sz="1100" b="1">
                <a:solidFill>
                  <a:srgbClr val="F0F0F0"/>
                </a:solidFill>
              </a:rPr>
              <a:t>@aurochs-cli/*</a:t>
            </a:r>
          </a:p>
          <a:p>
            <a:pPr algn="l"/>
            <a:r>
              <a:rPr sz="900">
                <a:solidFill>
                  <a:srgbClr val="8890A0"/>
                </a:solidFill>
              </a:rPr>
              <a:t>CLI tools &amp; MCP server</a:t>
            </a:r>
          </a:p>
        </p:txBody>
      </p:sp>
      <p:sp>
        <p:nvSpPr>
          <p:cNvPr id="9" name="Shape 9"/>
          <p:cNvSpPr/>
          <p:nvPr/>
        </p:nvSpPr>
        <p:spPr>
          <a:xfrm>
            <a:off x="4810125" y="2476500"/>
            <a:ext cx="3762375" cy="533400"/>
          </a:xfrm>
          <a:prstGeom prst="rect">
            <a:avLst/>
          </a:prstGeom>
          <a:solidFill>
            <a:srgbClr val="161B2E"/>
          </a:solidFill>
          <a:ln w="9525" cap="flat" cmpd="sng" algn="ctr">
            <a:solidFill>
              <a:srgbClr val="1E2540"/>
            </a:solidFill>
            <a:prstDash val="solid"/>
            <a:round/>
          </a:ln>
        </p:spPr>
        <p:txBody>
          <a:bodyPr anchor="ctr" lIns="152400" tIns="0" rIns="152400" bIns="0"/>
          <a:lstStyle/>
          <a:p>
            <a:pPr algn="l"/>
            <a:r>
              <a:rPr sz="1100" b="1">
                <a:solidFill>
                  <a:srgbClr val="F0F0F0"/>
                </a:solidFill>
              </a:rPr>
              <a:t>@aurochs-ui/*</a:t>
            </a:r>
          </a:p>
          <a:p>
            <a:pPr algn="l"/>
            <a:r>
              <a:rPr sz="900">
                <a:solidFill>
                  <a:srgbClr val="8890A0"/>
                </a:solidFill>
              </a:rPr>
              <a:t>React editor components</a:t>
            </a:r>
          </a:p>
        </p:txBody>
      </p:sp>
      <p:sp>
        <p:nvSpPr>
          <p:cNvPr id="10" name="Shape 10"/>
          <p:cNvSpPr/>
          <p:nvPr/>
        </p:nvSpPr>
        <p:spPr>
          <a:xfrm>
            <a:off x="571500" y="3333750"/>
            <a:ext cx="8001000" cy="9525"/>
          </a:xfrm>
          <a:prstGeom prst="rect">
            <a:avLst/>
          </a:prstGeom>
          <a:solidFill>
            <a:srgbClr val="1E2540"/>
          </a:solidFill>
        </p:spPr>
      </p:sp>
      <p:sp>
        <p:nvSpPr>
          <p:cNvPr id="11" name="Shape 11"/>
          <p:cNvSpPr/>
          <p:nvPr/>
        </p:nvSpPr>
        <p:spPr>
          <a:xfrm>
            <a:off x="571500" y="3619500"/>
            <a:ext cx="1905000" cy="762000"/>
          </a:xfrm>
          <a:prstGeom prst="rect">
            <a:avLst/>
          </a:prstGeom>
          <a:solidFill>
            <a:srgbClr val="000000"/>
          </a:solidFill>
        </p:spPr>
        <p:txBody>
          <a:bodyPr anchor="t"/>
          <a:lstStyle/>
          <a:p>
            <a:pPr algn="l"/>
            <a:r>
              <a:rPr sz="3600" b="1">
                <a:solidFill>
                  <a:srgbClr val="D4A853"/>
                </a:solidFill>
              </a:rPr>
              <a:t>50+</a:t>
            </a:r>
          </a:p>
          <a:p>
            <a:pPr algn="l"/>
            <a:r>
              <a:rPr sz="1100">
                <a:solidFill>
                  <a:srgbClr val="8890A0"/>
                </a:solidFill>
              </a:rPr>
              <a:t>packages</a:t>
            </a:r>
          </a:p>
        </p:txBody>
      </p:sp>
      <p:sp>
        <p:nvSpPr>
          <p:cNvPr id="12" name="Shape 12"/>
          <p:cNvSpPr/>
          <p:nvPr/>
        </p:nvSpPr>
        <p:spPr>
          <a:xfrm>
            <a:off x="2714625" y="3619500"/>
            <a:ext cx="1905000" cy="762000"/>
          </a:xfrm>
          <a:prstGeom prst="rect">
            <a:avLst/>
          </a:prstGeom>
          <a:solidFill>
            <a:srgbClr val="000000"/>
          </a:solidFill>
        </p:spPr>
        <p:txBody>
          <a:bodyPr anchor="t"/>
          <a:lstStyle/>
          <a:p>
            <a:pPr algn="l"/>
            <a:r>
              <a:rPr sz="3600" b="1">
                <a:solidFill>
                  <a:srgbClr val="D4A853"/>
                </a:solidFill>
              </a:rPr>
              <a:t>4</a:t>
            </a:r>
          </a:p>
          <a:p>
            <a:pPr algn="l"/>
            <a:r>
              <a:rPr sz="1100">
                <a:solidFill>
                  <a:srgbClr val="8890A0"/>
                </a:solidFill>
              </a:rPr>
              <a:t>format parsers</a:t>
            </a:r>
          </a:p>
        </p:txBody>
      </p:sp>
      <p:sp>
        <p:nvSpPr>
          <p:cNvPr id="13" name="Shape 13"/>
          <p:cNvSpPr/>
          <p:nvPr/>
        </p:nvSpPr>
        <p:spPr>
          <a:xfrm>
            <a:off x="4857750" y="3619500"/>
            <a:ext cx="1905000" cy="762000"/>
          </a:xfrm>
          <a:prstGeom prst="rect">
            <a:avLst/>
          </a:prstGeom>
          <a:solidFill>
            <a:srgbClr val="000000"/>
          </a:solidFill>
        </p:spPr>
        <p:txBody>
          <a:bodyPr anchor="t"/>
          <a:lstStyle/>
          <a:p>
            <a:pPr algn="l"/>
            <a:r>
              <a:rPr sz="3600" b="1">
                <a:solidFill>
                  <a:srgbClr val="D4A853"/>
                </a:solidFill>
              </a:rPr>
              <a:t>3</a:t>
            </a:r>
          </a:p>
          <a:p>
            <a:pPr algn="l"/>
            <a:r>
              <a:rPr sz="1100">
                <a:solidFill>
                  <a:srgbClr val="8890A0"/>
                </a:solidFill>
              </a:rPr>
              <a:t>render targets</a:t>
            </a:r>
          </a:p>
        </p:txBody>
      </p:sp>
      <p:sp>
        <p:nvSpPr>
          <p:cNvPr id="14" name="Shape 14"/>
          <p:cNvSpPr/>
          <p:nvPr/>
        </p:nvSpPr>
        <p:spPr>
          <a:xfrm>
            <a:off x="7000875" y="3619500"/>
            <a:ext cx="1905000" cy="762000"/>
          </a:xfrm>
          <a:prstGeom prst="rect">
            <a:avLst/>
          </a:prstGeom>
          <a:solidFill>
            <a:srgbClr val="000000"/>
          </a:solidFill>
        </p:spPr>
        <p:txBody>
          <a:bodyPr anchor="t"/>
          <a:lstStyle/>
          <a:p>
            <a:pPr algn="l"/>
            <a:r>
              <a:rPr sz="3600" b="1">
                <a:solidFill>
                  <a:srgbClr val="D4A853"/>
                </a:solidFill>
              </a:rPr>
              <a:t>6</a:t>
            </a:r>
          </a:p>
          <a:p>
            <a:pPr algn="l"/>
            <a:r>
              <a:rPr sz="1100">
                <a:solidFill>
                  <a:srgbClr val="8890A0"/>
                </a:solidFill>
              </a:rPr>
              <a:t>CLI commands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Shape 1"/>
          <p:cNvSpPr/>
          <p:nvPr/>
        </p:nvSpPr>
        <p:spPr>
          <a:xfrm>
            <a:off x="571500" y="428625"/>
            <a:ext cx="571500" cy="28575"/>
          </a:xfrm>
          <a:prstGeom prst="rect">
            <a:avLst/>
          </a:prstGeom>
          <a:solidFill>
            <a:srgbClr val="D4A853"/>
          </a:solidFill>
        </p:spPr>
      </p:sp>
      <p:sp>
        <p:nvSpPr>
          <p:cNvPr id="2" name="Shape 2"/>
          <p:cNvSpPr/>
          <p:nvPr/>
        </p:nvSpPr>
        <p:spPr>
          <a:xfrm>
            <a:off x="571500" y="533400"/>
            <a:ext cx="3810000" cy="381000"/>
          </a:xfrm>
          <a:prstGeom prst="rect">
            <a:avLst/>
          </a:prstGeom>
          <a:solidFill>
            <a:srgbClr val="000000"/>
          </a:solidFill>
        </p:spPr>
        <p:txBody>
          <a:bodyPr/>
          <a:lstStyle/>
          <a:p>
            <a:pPr algn="l"/>
            <a:r>
              <a:rPr sz="2800" b="1">
                <a:solidFill>
                  <a:srgbClr val="F0F0F0"/>
                </a:solidFill>
              </a:rPr>
              <a:t>Supported Formats</a:t>
            </a:r>
          </a:p>
        </p:txBody>
      </p:sp>
      <p:sp>
        <p:nvSpPr>
          <p:cNvPr id="3" name="Shape 3"/>
          <p:cNvSpPr/>
          <p:nvPr/>
        </p:nvSpPr>
        <p:spPr>
          <a:xfrm>
            <a:off x="381000" y="1143000"/>
            <a:ext cx="2019300" cy="2857500"/>
          </a:xfrm>
          <a:prstGeom prst="rect">
            <a:avLst/>
          </a:prstGeom>
          <a:solidFill>
            <a:srgbClr val="161B2E"/>
          </a:solidFill>
          <a:ln w="9525" cap="flat" cmpd="sng" algn="ctr">
            <a:solidFill>
              <a:srgbClr val="1E2540"/>
            </a:solidFill>
            <a:prstDash val="solid"/>
            <a:round/>
          </a:ln>
        </p:spPr>
      </p:sp>
      <p:sp>
        <p:nvSpPr>
          <p:cNvPr id="4" name="Shape 4"/>
          <p:cNvSpPr/>
          <p:nvPr/>
        </p:nvSpPr>
        <p:spPr>
          <a:xfrm>
            <a:off x="381000" y="1143000"/>
            <a:ext cx="2019300" cy="28575"/>
          </a:xfrm>
          <a:prstGeom prst="rect">
            <a:avLst/>
          </a:prstGeom>
          <a:solidFill>
            <a:srgbClr val="D4A853"/>
          </a:solidFill>
        </p:spPr>
      </p:sp>
      <p:sp>
        <p:nvSpPr>
          <p:cNvPr id="5" name="Shape 5"/>
          <p:cNvSpPr/>
          <p:nvPr/>
        </p:nvSpPr>
        <p:spPr>
          <a:xfrm>
            <a:off x="533400" y="1409700"/>
            <a:ext cx="1714500" cy="381000"/>
          </a:xfrm>
          <a:prstGeom prst="rect">
            <a:avLst/>
          </a:prstGeom>
          <a:solidFill>
            <a:srgbClr val="000000"/>
          </a:solidFill>
        </p:spPr>
        <p:txBody>
          <a:bodyPr/>
          <a:lstStyle/>
          <a:p>
            <a:pPr algn="l"/>
            <a:r>
              <a:rPr sz="2400" b="1">
                <a:solidFill>
                  <a:srgbClr val="F0F0F0"/>
                </a:solidFill>
              </a:rPr>
              <a:t>PPTX</a:t>
            </a:r>
          </a:p>
        </p:txBody>
      </p:sp>
      <p:sp>
        <p:nvSpPr>
          <p:cNvPr id="6" name="Shape 6"/>
          <p:cNvSpPr/>
          <p:nvPr/>
        </p:nvSpPr>
        <p:spPr>
          <a:xfrm>
            <a:off x="533400" y="2000250"/>
            <a:ext cx="1714500" cy="1524000"/>
          </a:xfrm>
          <a:prstGeom prst="rect">
            <a:avLst/>
          </a:prstGeom>
          <a:solidFill>
            <a:srgbClr val="000000"/>
          </a:solidFill>
        </p:spPr>
        <p:txBody>
          <a:bodyPr anchor="t"/>
          <a:lstStyle/>
          <a:p>
            <a:pPr algn="l"/>
            <a:r>
              <a:rPr sz="1000">
                <a:solidFill>
                  <a:srgbClr val="8890A0"/>
                </a:solidFill>
              </a:rPr>
              <a:t>SVG rendering, slide editing,
animation, chart &amp; table building</a:t>
            </a:r>
          </a:p>
        </p:txBody>
      </p:sp>
      <p:sp>
        <p:nvSpPr>
          <p:cNvPr id="7" name="Shape 7"/>
          <p:cNvSpPr/>
          <p:nvPr/>
        </p:nvSpPr>
        <p:spPr>
          <a:xfrm>
            <a:off x="2552700" y="1143000"/>
            <a:ext cx="2019300" cy="2857500"/>
          </a:xfrm>
          <a:prstGeom prst="rect">
            <a:avLst/>
          </a:prstGeom>
          <a:solidFill>
            <a:srgbClr val="161B2E"/>
          </a:solidFill>
          <a:ln w="9525" cap="flat" cmpd="sng" algn="ctr">
            <a:solidFill>
              <a:srgbClr val="1E2540"/>
            </a:solidFill>
            <a:prstDash val="solid"/>
            <a:round/>
          </a:ln>
        </p:spPr>
      </p:sp>
      <p:sp>
        <p:nvSpPr>
          <p:cNvPr id="8" name="Shape 8"/>
          <p:cNvSpPr/>
          <p:nvPr/>
        </p:nvSpPr>
        <p:spPr>
          <a:xfrm>
            <a:off x="2552700" y="1143000"/>
            <a:ext cx="2019300" cy="28575"/>
          </a:xfrm>
          <a:prstGeom prst="rect">
            <a:avLst/>
          </a:prstGeom>
          <a:solidFill>
            <a:srgbClr val="5B8DEF"/>
          </a:solidFill>
        </p:spPr>
      </p:sp>
      <p:sp>
        <p:nvSpPr>
          <p:cNvPr id="9" name="Shape 9"/>
          <p:cNvSpPr/>
          <p:nvPr/>
        </p:nvSpPr>
        <p:spPr>
          <a:xfrm>
            <a:off x="2705100" y="1409700"/>
            <a:ext cx="1714500" cy="381000"/>
          </a:xfrm>
          <a:prstGeom prst="rect">
            <a:avLst/>
          </a:prstGeom>
          <a:solidFill>
            <a:srgbClr val="000000"/>
          </a:solidFill>
        </p:spPr>
        <p:txBody>
          <a:bodyPr/>
          <a:lstStyle/>
          <a:p>
            <a:pPr algn="l"/>
            <a:r>
              <a:rPr sz="2400" b="1">
                <a:solidFill>
                  <a:srgbClr val="F0F0F0"/>
                </a:solidFill>
              </a:rPr>
              <a:t>DOCX</a:t>
            </a:r>
          </a:p>
        </p:txBody>
      </p:sp>
      <p:sp>
        <p:nvSpPr>
          <p:cNvPr id="10" name="Shape 10"/>
          <p:cNvSpPr/>
          <p:nvPr/>
        </p:nvSpPr>
        <p:spPr>
          <a:xfrm>
            <a:off x="2705100" y="2000250"/>
            <a:ext cx="1714500" cy="1524000"/>
          </a:xfrm>
          <a:prstGeom prst="rect">
            <a:avLst/>
          </a:prstGeom>
          <a:solidFill>
            <a:srgbClr val="000000"/>
          </a:solidFill>
        </p:spPr>
        <p:txBody>
          <a:bodyPr anchor="t"/>
          <a:lstStyle/>
          <a:p>
            <a:pPr algn="l"/>
            <a:r>
              <a:rPr sz="1000">
                <a:solidFill>
                  <a:srgbClr val="8890A0"/>
                </a:solidFill>
              </a:rPr>
              <a:t>Document parsing, paragraph
&amp; table rendering, styles</a:t>
            </a:r>
          </a:p>
        </p:txBody>
      </p:sp>
      <p:sp>
        <p:nvSpPr>
          <p:cNvPr id="11" name="Shape 11"/>
          <p:cNvSpPr/>
          <p:nvPr/>
        </p:nvSpPr>
        <p:spPr>
          <a:xfrm>
            <a:off x="4724400" y="1143000"/>
            <a:ext cx="2019300" cy="2857500"/>
          </a:xfrm>
          <a:prstGeom prst="rect">
            <a:avLst/>
          </a:prstGeom>
          <a:solidFill>
            <a:srgbClr val="161B2E"/>
          </a:solidFill>
          <a:ln w="9525" cap="flat" cmpd="sng" algn="ctr">
            <a:solidFill>
              <a:srgbClr val="1E2540"/>
            </a:solidFill>
            <a:prstDash val="solid"/>
            <a:round/>
          </a:ln>
        </p:spPr>
      </p:sp>
      <p:sp>
        <p:nvSpPr>
          <p:cNvPr id="12" name="Shape 12"/>
          <p:cNvSpPr/>
          <p:nvPr/>
        </p:nvSpPr>
        <p:spPr>
          <a:xfrm>
            <a:off x="4724400" y="1143000"/>
            <a:ext cx="2019300" cy="28575"/>
          </a:xfrm>
          <a:prstGeom prst="rect">
            <a:avLst/>
          </a:prstGeom>
          <a:solidFill>
            <a:srgbClr val="4ECDC4"/>
          </a:solidFill>
        </p:spPr>
      </p:sp>
      <p:sp>
        <p:nvSpPr>
          <p:cNvPr id="13" name="Shape 13"/>
          <p:cNvSpPr/>
          <p:nvPr/>
        </p:nvSpPr>
        <p:spPr>
          <a:xfrm>
            <a:off x="4876800" y="1409700"/>
            <a:ext cx="1714500" cy="381000"/>
          </a:xfrm>
          <a:prstGeom prst="rect">
            <a:avLst/>
          </a:prstGeom>
          <a:solidFill>
            <a:srgbClr val="000000"/>
          </a:solidFill>
        </p:spPr>
        <p:txBody>
          <a:bodyPr/>
          <a:lstStyle/>
          <a:p>
            <a:pPr algn="l"/>
            <a:r>
              <a:rPr sz="2400" b="1">
                <a:solidFill>
                  <a:srgbClr val="F0F0F0"/>
                </a:solidFill>
              </a:rPr>
              <a:t>XLSX</a:t>
            </a:r>
          </a:p>
        </p:txBody>
      </p:sp>
      <p:sp>
        <p:nvSpPr>
          <p:cNvPr id="14" name="Shape 14"/>
          <p:cNvSpPr/>
          <p:nvPr/>
        </p:nvSpPr>
        <p:spPr>
          <a:xfrm>
            <a:off x="4876800" y="2000250"/>
            <a:ext cx="1714500" cy="1524000"/>
          </a:xfrm>
          <a:prstGeom prst="rect">
            <a:avLst/>
          </a:prstGeom>
          <a:solidFill>
            <a:srgbClr val="000000"/>
          </a:solidFill>
        </p:spPr>
        <p:txBody>
          <a:bodyPr anchor="t"/>
          <a:lstStyle/>
          <a:p>
            <a:pPr algn="l"/>
            <a:r>
              <a:rPr sz="1000">
                <a:solidFill>
                  <a:srgbClr val="8890A0"/>
                </a:solidFill>
              </a:rPr>
              <a:t>Spreadsheet editing, cell
formatting, formula support</a:t>
            </a:r>
          </a:p>
        </p:txBody>
      </p:sp>
      <p:sp>
        <p:nvSpPr>
          <p:cNvPr id="15" name="Shape 15"/>
          <p:cNvSpPr/>
          <p:nvPr/>
        </p:nvSpPr>
        <p:spPr>
          <a:xfrm>
            <a:off x="6896100" y="1143000"/>
            <a:ext cx="2019300" cy="2857500"/>
          </a:xfrm>
          <a:prstGeom prst="rect">
            <a:avLst/>
          </a:prstGeom>
          <a:solidFill>
            <a:srgbClr val="161B2E"/>
          </a:solidFill>
          <a:ln w="9525" cap="flat" cmpd="sng" algn="ctr">
            <a:solidFill>
              <a:srgbClr val="1E2540"/>
            </a:solidFill>
            <a:prstDash val="solid"/>
            <a:round/>
          </a:ln>
        </p:spPr>
      </p:sp>
      <p:sp>
        <p:nvSpPr>
          <p:cNvPr id="16" name="Shape 16"/>
          <p:cNvSpPr/>
          <p:nvPr/>
        </p:nvSpPr>
        <p:spPr>
          <a:xfrm>
            <a:off x="6896100" y="1143000"/>
            <a:ext cx="2019300" cy="28575"/>
          </a:xfrm>
          <a:prstGeom prst="rect">
            <a:avLst/>
          </a:prstGeom>
          <a:solidFill>
            <a:srgbClr val="FF6B6B"/>
          </a:solidFill>
        </p:spPr>
      </p:sp>
      <p:sp>
        <p:nvSpPr>
          <p:cNvPr id="17" name="Shape 17"/>
          <p:cNvSpPr/>
          <p:nvPr/>
        </p:nvSpPr>
        <p:spPr>
          <a:xfrm>
            <a:off x="7048500" y="1409700"/>
            <a:ext cx="1714500" cy="381000"/>
          </a:xfrm>
          <a:prstGeom prst="rect">
            <a:avLst/>
          </a:prstGeom>
          <a:solidFill>
            <a:srgbClr val="000000"/>
          </a:solidFill>
        </p:spPr>
        <p:txBody>
          <a:bodyPr/>
          <a:lstStyle/>
          <a:p>
            <a:pPr algn="l"/>
            <a:r>
              <a:rPr sz="2400" b="1">
                <a:solidFill>
                  <a:srgbClr val="F0F0F0"/>
                </a:solidFill>
              </a:rPr>
              <a:t>PDF</a:t>
            </a:r>
          </a:p>
        </p:txBody>
      </p:sp>
      <p:sp>
        <p:nvSpPr>
          <p:cNvPr id="18" name="Shape 18"/>
          <p:cNvSpPr/>
          <p:nvPr/>
        </p:nvSpPr>
        <p:spPr>
          <a:xfrm>
            <a:off x="7048500" y="2000250"/>
            <a:ext cx="1714500" cy="1524000"/>
          </a:xfrm>
          <a:prstGeom prst="rect">
            <a:avLst/>
          </a:prstGeom>
          <a:solidFill>
            <a:srgbClr val="000000"/>
          </a:solidFill>
        </p:spPr>
        <p:txBody>
          <a:bodyPr anchor="t"/>
          <a:lstStyle/>
          <a:p>
            <a:pPr algn="l"/>
            <a:r>
              <a:rPr sz="1000">
                <a:solidFill>
                  <a:srgbClr val="8890A0"/>
                </a:solidFill>
              </a:rPr>
              <a:t>PDF to PPTX conversion,
layout preservation</a:t>
            </a:r>
          </a:p>
        </p:txBody>
      </p:sp>
      <p:sp>
        <p:nvSpPr>
          <p:cNvPr id="19" name="Shape 19"/>
          <p:cNvSpPr/>
          <p:nvPr/>
        </p:nvSpPr>
        <p:spPr>
          <a:xfrm>
            <a:off x="381000" y="4381500"/>
            <a:ext cx="8572500" cy="476250"/>
          </a:xfrm>
          <a:prstGeom prst="rect">
            <a:avLst/>
          </a:prstGeom>
          <a:solidFill>
            <a:srgbClr val="161B2E"/>
          </a:solidFill>
        </p:spPr>
        <p:txBody>
          <a:bodyPr anchor="ctr"/>
          <a:lstStyle/>
          <a:p>
            <a:pPr algn="ctr"/>
            <a:r>
              <a:rPr sz="1100">
                <a:solidFill>
                  <a:srgbClr val="8890A0"/>
                </a:solidFill>
              </a:rPr>
              <a:t>Zero server dependency</a:t>
            </a:r>
            <a:r>
              <a:rPr sz="1100">
                <a:solidFill>
                  <a:srgbClr val="505872"/>
                </a:solidFill>
              </a:rPr>
              <a:t xml:space="preserve">   •   </a:t>
            </a:r>
            <a:r>
              <a:rPr sz="1100">
                <a:solidFill>
                  <a:srgbClr val="8890A0"/>
                </a:solidFill>
              </a:rPr>
              <a:t>Browser &amp; Node.js</a:t>
            </a:r>
            <a:r>
              <a:rPr sz="1100">
                <a:solidFill>
                  <a:srgbClr val="505872"/>
                </a:solidFill>
              </a:rPr>
              <a:t xml:space="preserve">   •   </a:t>
            </a:r>
            <a:r>
              <a:rPr sz="1100">
                <a:solidFill>
                  <a:srgbClr val="8890A0"/>
                </a:solidFill>
              </a:rPr>
              <a:t>CLI, API &amp; MCP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B0E17"/>
      </a:dk1>
      <a:lt1>
        <a:srgbClr val="F0F0F0"/>
      </a:lt1>
      <a:dk2>
        <a:srgbClr val="0F1320"/>
      </a:dk2>
      <a:lt2>
        <a:srgbClr val="E0E0E0"/>
      </a:lt2>
      <a:accent1>
        <a:srgbClr val="D4A853"/>
      </a:accent1>
      <a:accent2>
        <a:srgbClr val="5B8DEF"/>
      </a:accent2>
      <a:accent3>
        <a:srgbClr val="4ECDC4"/>
      </a:accent3>
      <a:accent4>
        <a:srgbClr val="FF6B6B"/>
      </a:accent4>
      <a:accent5>
        <a:srgbClr val="161B2E"/>
      </a:accent5>
      <a:accent6>
        <a:srgbClr val="8890A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</a:majorFont>
      <a:min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98000"/>
                <a:satMod val="300000"/>
              </a:schemeClr>
            </a:gs>
            <a:gs pos="25000">
              <a:schemeClr val="phClr">
                <a:tint val="37000"/>
                <a:shade val="98000"/>
                <a:satMod val="300000"/>
              </a:schemeClr>
            </a:gs>
            <a:gs pos="100000">
              <a:schemeClr val="phClr">
                <a:tint val="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5000"/>
                <a:satMod val="160000"/>
              </a:schemeClr>
            </a:gs>
            <a:gs pos="62000">
              <a:schemeClr val="phClr">
                <a:satMod val="125000"/>
              </a:schemeClr>
            </a:gs>
            <a:gs pos="100000">
              <a:schemeClr val="phClr">
                <a:tint val="80000"/>
                <a:satMod val="140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>
              <a:srgbClr val="000000">
                <a:alpha val="45882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contourW="12700" prstMaterial="powder">
            <a:bevelT h="50800"/>
            <a:contourClr>
              <a:schemeClr val="phClr"/>
            </a:contourClr>
          </a:sp3d>
        </a:effectStyle>
        <a:effectStyle>
          <a:effectLst>
            <a:reflection blurRad="12700" stA="25000" endPos="28000" dist="38100" dir="5400000" sy="-100000"/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>
            <a:bevelT w="139700" h="381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5000"/>
                <a:satMod val="250000"/>
              </a:schemeClr>
            </a:gs>
            <a:gs pos="20000">
              <a:schemeClr val="phClr">
                <a:shade val="85000"/>
                <a:satMod val="17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0000"/>
                <a:satMod val="145000"/>
              </a:schemeClr>
            </a:gs>
            <a:gs pos="30000">
              <a:schemeClr val="phClr">
                <a:shade val="65000"/>
                <a:satMod val="155000"/>
              </a:schemeClr>
            </a:gs>
            <a:gs pos="100000">
              <a:schemeClr val="phClr">
                <a:tint val="60000"/>
                <a:satMod val="170000"/>
              </a:schemeClr>
            </a:gs>
          </a:gsLst>
          <a:lin ang="16200000" scaled="1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</Words>
  <Application>Microsoft Office PowerPoint</Application>
  <PresentationFormat>On-screen Show (4:3)</PresentationFormat>
  <Paragraphs>10</Paragraphs>
  <Slides>2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Lorem ipsum dolor sit amet</vt:lpstr>
      <vt:lpstr>Lorem ipsum dolor sit amet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2007-08-15T06:51:09Z</dcterms:created>
  <dcterms:modified xsi:type="dcterms:W3CDTF">2007-08-15T06:51:14Z</dcterms:modified>
</cp:coreProperties>
</file>